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6858000" cy="9144000"/>
  <p:embeddedFontLst>
    <p:embeddedFont>
      <p:font typeface="Poppins" panose="00000500000000000000" pitchFamily="2" charset="0"/>
      <p:bold r:id="rId20"/>
      <p:boldItalic r:id="rId21"/>
    </p:embeddedFont>
    <p:embeddedFont>
      <p:font typeface="Poppins ExtraBold" panose="00000900000000000000" pitchFamily="2" charset="0"/>
      <p:bold r:id="rId22"/>
      <p:boldItalic r:id="rId23"/>
    </p:embeddedFont>
    <p:embeddedFont>
      <p:font typeface="Poppins Light" panose="00000400000000000000" pitchFamily="2" charset="0"/>
      <p:regular r:id="rId24"/>
      <p:bold r:id="rId25"/>
      <p:italic r:id="rId26"/>
      <p:boldItalic r:id="rId27"/>
    </p:embeddedFont>
    <p:embeddedFont>
      <p:font typeface="Poppins Medium" panose="00000600000000000000" pitchFamily="2" charset="0"/>
      <p:regular r:id="rId28"/>
      <p:bold r:id="rId29"/>
      <p:italic r:id="rId30"/>
      <p:boldItalic r:id="rId31"/>
    </p:embeddedFont>
    <p:embeddedFont>
      <p:font typeface="Poppins SemiBold" panose="000007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15" autoAdjust="0"/>
    <p:restoredTop sz="94660"/>
  </p:normalViewPr>
  <p:slideViewPr>
    <p:cSldViewPr snapToGrid="0">
      <p:cViewPr varScale="1">
        <p:scale>
          <a:sx n="103" d="100"/>
          <a:sy n="103" d="100"/>
        </p:scale>
        <p:origin x="1003"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9" Type="http://schemas.openxmlformats.org/officeDocument/2006/relationships/tableStyles" Target="tableStyles.xml"/><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3f60c81187b_0_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3f60c81187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3f60c81187b_0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3f60c81187b_0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f60c81187b_0_5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f60c81187b_0_5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f60c81187b_0_8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f60c81187b_0_8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f60c81187b_0_10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f60c81187b_0_10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g3f60c81187b_0_13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7" name="Google Shape;367;g3f60c81187b_0_13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3f60c81187b_0_15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3f60c81187b_0_15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3f60c81187b_0_17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3f60c81187b_0_17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f60c81187b_0_20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4" name="Google Shape;544;g3f60c81187b_0_2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3f60c81187b_0_23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2" name="Google Shape;682;g3f60c81187b_0_23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3f60c81187b_0_25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5" name="Google Shape;735;g3f60c81187b_0_2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9"/>
        <p:cNvGrpSpPr/>
        <p:nvPr/>
      </p:nvGrpSpPr>
      <p:grpSpPr>
        <a:xfrm>
          <a:off x="0" y="0"/>
          <a:ext cx="0" cy="0"/>
          <a:chOff x="0" y="0"/>
          <a:chExt cx="0" cy="0"/>
        </a:xfrm>
      </p:grpSpPr>
      <p:sp>
        <p:nvSpPr>
          <p:cNvPr id="800" name="Google Shape;800;g3f60c81187b_0_27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1" name="Google Shape;801;g3f60c81187b_0_2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g3f60c81187b_0_31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2" name="Google Shape;842;g3f60c81187b_0_3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3f60c81187b_0_33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9" name="Google Shape;899;g3f60c81187b_0_3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3"/>
        <p:cNvGrpSpPr/>
        <p:nvPr/>
      </p:nvGrpSpPr>
      <p:grpSpPr>
        <a:xfrm>
          <a:off x="0" y="0"/>
          <a:ext cx="0" cy="0"/>
          <a:chOff x="0" y="0"/>
          <a:chExt cx="0" cy="0"/>
        </a:xfrm>
      </p:grpSpPr>
      <p:sp>
        <p:nvSpPr>
          <p:cNvPr id="944" name="Google Shape;944;g3f60c81187b_0_35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5" name="Google Shape;945;g3f60c81187b_0_35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3f60c81187b_0_37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8" name="Google Shape;988;g3f60c81187b_0_37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3f60c81187b_0_38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3f60c81187b_0_38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Generated (g3f60c81187b_9_0)">
  <p:cSld name="Generated (g3f60c81187b_9_0)">
    <p:spTree>
      <p:nvGrpSpPr>
        <p:cNvPr id="1"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jpg"/><Relationship Id="rId18" Type="http://schemas.openxmlformats.org/officeDocument/2006/relationships/image" Target="../media/image35.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3.xml"/><Relationship Id="rId16" Type="http://schemas.openxmlformats.org/officeDocument/2006/relationships/image" Target="../media/image33.jpg"/><Relationship Id="rId20"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jpg"/><Relationship Id="rId10" Type="http://schemas.openxmlformats.org/officeDocument/2006/relationships/image" Target="../media/image27.jp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4.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png"/><Relationship Id="rId3" Type="http://schemas.openxmlformats.org/officeDocument/2006/relationships/image" Target="../media/image38.png"/><Relationship Id="rId21" Type="http://schemas.openxmlformats.org/officeDocument/2006/relationships/image" Target="../media/image56.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notesSlide" Target="../notesSlides/notesSlide4.xml"/><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12.xml"/><Relationship Id="rId6" Type="http://schemas.openxmlformats.org/officeDocument/2006/relationships/image" Target="../media/image41.png"/><Relationship Id="rId11" Type="http://schemas.openxmlformats.org/officeDocument/2006/relationships/image" Target="../media/image46.png"/><Relationship Id="rId24" Type="http://schemas.openxmlformats.org/officeDocument/2006/relationships/image" Target="../media/image59.png"/><Relationship Id="rId5" Type="http://schemas.openxmlformats.org/officeDocument/2006/relationships/image" Target="../media/image40.png"/><Relationship Id="rId15" Type="http://schemas.openxmlformats.org/officeDocument/2006/relationships/image" Target="../media/image50.png"/><Relationship Id="rId23" Type="http://schemas.openxmlformats.org/officeDocument/2006/relationships/image" Target="../media/image58.png"/><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39.png"/><Relationship Id="rId9" Type="http://schemas.openxmlformats.org/officeDocument/2006/relationships/image" Target="../media/image44.png"/><Relationship Id="rId14" Type="http://schemas.openxmlformats.org/officeDocument/2006/relationships/image" Target="../media/image49.png"/><Relationship Id="rId22" Type="http://schemas.openxmlformats.org/officeDocument/2006/relationships/image" Target="../media/image57.png"/></Relationships>
</file>

<file path=ppt/slides/_rels/slide5.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18" Type="http://schemas.openxmlformats.org/officeDocument/2006/relationships/image" Target="../media/image75.png"/><Relationship Id="rId3" Type="http://schemas.openxmlformats.org/officeDocument/2006/relationships/image" Target="../media/image60.png"/><Relationship Id="rId21" Type="http://schemas.openxmlformats.org/officeDocument/2006/relationships/image" Target="../media/image78.png"/><Relationship Id="rId7" Type="http://schemas.openxmlformats.org/officeDocument/2006/relationships/image" Target="../media/image64.png"/><Relationship Id="rId12" Type="http://schemas.openxmlformats.org/officeDocument/2006/relationships/image" Target="../media/image69.png"/><Relationship Id="rId17" Type="http://schemas.openxmlformats.org/officeDocument/2006/relationships/image" Target="../media/image74.png"/><Relationship Id="rId2" Type="http://schemas.openxmlformats.org/officeDocument/2006/relationships/notesSlide" Target="../notesSlides/notesSlide5.xml"/><Relationship Id="rId16" Type="http://schemas.openxmlformats.org/officeDocument/2006/relationships/image" Target="../media/image73.png"/><Relationship Id="rId20" Type="http://schemas.openxmlformats.org/officeDocument/2006/relationships/image" Target="../media/image77.png"/><Relationship Id="rId1" Type="http://schemas.openxmlformats.org/officeDocument/2006/relationships/slideLayout" Target="../slideLayouts/slideLayout12.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jpg"/><Relationship Id="rId19" Type="http://schemas.openxmlformats.org/officeDocument/2006/relationships/image" Target="../media/image76.png"/><Relationship Id="rId4" Type="http://schemas.openxmlformats.org/officeDocument/2006/relationships/image" Target="../media/image61.png"/><Relationship Id="rId9" Type="http://schemas.openxmlformats.org/officeDocument/2006/relationships/image" Target="../media/image66.png"/><Relationship Id="rId14" Type="http://schemas.openxmlformats.org/officeDocument/2006/relationships/image" Target="../media/image71.png"/></Relationships>
</file>

<file path=ppt/slides/_rels/slide6.xml.rels><?xml version="1.0" encoding="UTF-8" standalone="yes"?>
<Relationships xmlns="http://schemas.openxmlformats.org/package/2006/relationships"><Relationship Id="rId8" Type="http://schemas.openxmlformats.org/officeDocument/2006/relationships/image" Target="../media/image84.png"/><Relationship Id="rId13" Type="http://schemas.openxmlformats.org/officeDocument/2006/relationships/image" Target="../media/image89.png"/><Relationship Id="rId18" Type="http://schemas.openxmlformats.org/officeDocument/2006/relationships/image" Target="../media/image94.png"/><Relationship Id="rId3" Type="http://schemas.openxmlformats.org/officeDocument/2006/relationships/image" Target="../media/image79.png"/><Relationship Id="rId21" Type="http://schemas.openxmlformats.org/officeDocument/2006/relationships/image" Target="../media/image97.png"/><Relationship Id="rId7" Type="http://schemas.openxmlformats.org/officeDocument/2006/relationships/image" Target="../media/image83.png"/><Relationship Id="rId12" Type="http://schemas.openxmlformats.org/officeDocument/2006/relationships/image" Target="../media/image88.png"/><Relationship Id="rId17" Type="http://schemas.openxmlformats.org/officeDocument/2006/relationships/image" Target="../media/image93.png"/><Relationship Id="rId2" Type="http://schemas.openxmlformats.org/officeDocument/2006/relationships/notesSlide" Target="../notesSlides/notesSlide6.xml"/><Relationship Id="rId16" Type="http://schemas.openxmlformats.org/officeDocument/2006/relationships/image" Target="../media/image92.png"/><Relationship Id="rId20" Type="http://schemas.openxmlformats.org/officeDocument/2006/relationships/image" Target="../media/image96.png"/><Relationship Id="rId1" Type="http://schemas.openxmlformats.org/officeDocument/2006/relationships/slideLayout" Target="../slideLayouts/slideLayout12.xml"/><Relationship Id="rId6" Type="http://schemas.openxmlformats.org/officeDocument/2006/relationships/image" Target="../media/image82.png"/><Relationship Id="rId11" Type="http://schemas.openxmlformats.org/officeDocument/2006/relationships/image" Target="../media/image87.png"/><Relationship Id="rId5" Type="http://schemas.openxmlformats.org/officeDocument/2006/relationships/image" Target="../media/image81.png"/><Relationship Id="rId15" Type="http://schemas.openxmlformats.org/officeDocument/2006/relationships/image" Target="../media/image91.png"/><Relationship Id="rId10" Type="http://schemas.openxmlformats.org/officeDocument/2006/relationships/image" Target="../media/image86.png"/><Relationship Id="rId19" Type="http://schemas.openxmlformats.org/officeDocument/2006/relationships/image" Target="../media/image95.png"/><Relationship Id="rId4" Type="http://schemas.openxmlformats.org/officeDocument/2006/relationships/image" Target="../media/image80.png"/><Relationship Id="rId9" Type="http://schemas.openxmlformats.org/officeDocument/2006/relationships/image" Target="../media/image85.png"/><Relationship Id="rId14" Type="http://schemas.openxmlformats.org/officeDocument/2006/relationships/image" Target="../media/image90.png"/><Relationship Id="rId22" Type="http://schemas.openxmlformats.org/officeDocument/2006/relationships/image" Target="../media/image98.png"/></Relationships>
</file>

<file path=ppt/slides/_rels/slide7.xml.rels><?xml version="1.0" encoding="UTF-8" standalone="yes"?>
<Relationships xmlns="http://schemas.openxmlformats.org/package/2006/relationships"><Relationship Id="rId8" Type="http://schemas.openxmlformats.org/officeDocument/2006/relationships/image" Target="../media/image104.png"/><Relationship Id="rId3" Type="http://schemas.openxmlformats.org/officeDocument/2006/relationships/image" Target="../media/image99.png"/><Relationship Id="rId7" Type="http://schemas.openxmlformats.org/officeDocument/2006/relationships/image" Target="../media/image103.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02.png"/><Relationship Id="rId5" Type="http://schemas.openxmlformats.org/officeDocument/2006/relationships/image" Target="../media/image101.png"/><Relationship Id="rId10" Type="http://schemas.openxmlformats.org/officeDocument/2006/relationships/image" Target="../media/image106.png"/><Relationship Id="rId4" Type="http://schemas.openxmlformats.org/officeDocument/2006/relationships/image" Target="../media/image100.png"/><Relationship Id="rId9" Type="http://schemas.openxmlformats.org/officeDocument/2006/relationships/image" Target="../media/image105.png"/></Relationships>
</file>

<file path=ppt/slides/_rels/slide8.xml.rels><?xml version="1.0" encoding="UTF-8" standalone="yes"?>
<Relationships xmlns="http://schemas.openxmlformats.org/package/2006/relationships"><Relationship Id="rId3" Type="http://schemas.openxmlformats.org/officeDocument/2006/relationships/image" Target="../media/image107.png"/><Relationship Id="rId7" Type="http://schemas.openxmlformats.org/officeDocument/2006/relationships/image" Target="../media/image111.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108.png"/></Relationships>
</file>

<file path=ppt/slides/_rels/slide9.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115.png"/><Relationship Id="rId5" Type="http://schemas.openxmlformats.org/officeDocument/2006/relationships/image" Target="../media/image114.png"/><Relationship Id="rId10" Type="http://schemas.openxmlformats.org/officeDocument/2006/relationships/image" Target="../media/image119.png"/><Relationship Id="rId4" Type="http://schemas.openxmlformats.org/officeDocument/2006/relationships/image" Target="../media/image113.png"/><Relationship Id="rId9" Type="http://schemas.openxmlformats.org/officeDocument/2006/relationships/image" Target="../media/image118.png"/></Relationships>
</file>

<file path=ppt/slides/_rels/slide10.xml.rels><?xml version="1.0" encoding="UTF-8" standalone="yes"?>
<Relationships xmlns="http://schemas.openxmlformats.org/package/2006/relationships"><Relationship Id="rId3" Type="http://schemas.openxmlformats.org/officeDocument/2006/relationships/image" Target="../media/image120.png"/><Relationship Id="rId7" Type="http://schemas.openxmlformats.org/officeDocument/2006/relationships/image" Target="../media/image124.jp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jpg"/></Relationships>
</file>

<file path=ppt/slides/_rels/slide11.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125.png"/><Relationship Id="rId7" Type="http://schemas.openxmlformats.org/officeDocument/2006/relationships/image" Target="../media/image128.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127.png"/><Relationship Id="rId5" Type="http://schemas.openxmlformats.org/officeDocument/2006/relationships/image" Target="../media/image23.png"/><Relationship Id="rId4" Type="http://schemas.openxmlformats.org/officeDocument/2006/relationships/image" Target="../media/image126.png"/><Relationship Id="rId9" Type="http://schemas.openxmlformats.org/officeDocument/2006/relationships/image" Target="../media/image130.png"/></Relationships>
</file>

<file path=ppt/slides/_rels/slide12.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99.png"/><Relationship Id="rId7" Type="http://schemas.openxmlformats.org/officeDocument/2006/relationships/image" Target="../media/image134.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 Id="rId9" Type="http://schemas.openxmlformats.org/officeDocument/2006/relationships/image" Target="../media/image136.png"/></Relationships>
</file>

<file path=ppt/slides/_rels/slide13.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40.png"/><Relationship Id="rId11" Type="http://schemas.openxmlformats.org/officeDocument/2006/relationships/image" Target="../media/image145.jpg"/><Relationship Id="rId5" Type="http://schemas.openxmlformats.org/officeDocument/2006/relationships/image" Target="../media/image139.png"/><Relationship Id="rId10" Type="http://schemas.openxmlformats.org/officeDocument/2006/relationships/image" Target="../media/image144.png"/><Relationship Id="rId4" Type="http://schemas.openxmlformats.org/officeDocument/2006/relationships/image" Target="../media/image138.png"/><Relationship Id="rId9" Type="http://schemas.openxmlformats.org/officeDocument/2006/relationships/image" Target="../media/image143.png"/></Relationships>
</file>

<file path=ppt/slides/_rels/slide14.xml.rels><?xml version="1.0" encoding="UTF-8" standalone="yes"?>
<Relationships xmlns="http://schemas.openxmlformats.org/package/2006/relationships"><Relationship Id="rId8" Type="http://schemas.openxmlformats.org/officeDocument/2006/relationships/image" Target="../media/image150.png"/><Relationship Id="rId3" Type="http://schemas.openxmlformats.org/officeDocument/2006/relationships/image" Target="../media/image107.png"/><Relationship Id="rId7" Type="http://schemas.openxmlformats.org/officeDocument/2006/relationships/image" Target="../media/image149.pn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148.png"/><Relationship Id="rId5" Type="http://schemas.openxmlformats.org/officeDocument/2006/relationships/image" Target="../media/image147.png"/><Relationship Id="rId10" Type="http://schemas.openxmlformats.org/officeDocument/2006/relationships/image" Target="../media/image152.png"/><Relationship Id="rId4" Type="http://schemas.openxmlformats.org/officeDocument/2006/relationships/image" Target="../media/image146.png"/><Relationship Id="rId9" Type="http://schemas.openxmlformats.org/officeDocument/2006/relationships/image" Target="../media/image151.png"/></Relationships>
</file>

<file path=ppt/slides/_rels/slide15.xml.rels><?xml version="1.0" encoding="UTF-8" standalone="yes"?>
<Relationships xmlns="http://schemas.openxmlformats.org/package/2006/relationships"><Relationship Id="rId3" Type="http://schemas.openxmlformats.org/officeDocument/2006/relationships/image" Target="../media/image153.png"/><Relationship Id="rId7" Type="http://schemas.openxmlformats.org/officeDocument/2006/relationships/image" Target="../media/image157.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54.png"/></Relationships>
</file>

<file path=ppt/slides/_rels/slide16.xml.rels><?xml version="1.0" encoding="UTF-8" standalone="yes"?>
<Relationships xmlns="http://schemas.openxmlformats.org/package/2006/relationships"><Relationship Id="rId3" Type="http://schemas.openxmlformats.org/officeDocument/2006/relationships/image" Target="../media/image158.png"/><Relationship Id="rId7" Type="http://schemas.openxmlformats.org/officeDocument/2006/relationships/image" Target="../media/image162.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17.xml.rels><?xml version="1.0" encoding="UTF-8" standalone="yes"?>
<Relationships xmlns="http://schemas.openxmlformats.org/package/2006/relationships"><Relationship Id="rId3" Type="http://schemas.openxmlformats.org/officeDocument/2006/relationships/image" Target="../media/image163.png"/><Relationship Id="rId7" Type="http://schemas.openxmlformats.org/officeDocument/2006/relationships/image" Target="../media/image167.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66.png"/><Relationship Id="rId5" Type="http://schemas.openxmlformats.org/officeDocument/2006/relationships/image" Target="../media/image165.png"/><Relationship Id="rId4" Type="http://schemas.openxmlformats.org/officeDocument/2006/relationships/image" Target="../media/image164.jp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
        <p:cNvGrpSpPr/>
        <p:nvPr/>
      </p:nvGrpSpPr>
      <p:grpSpPr>
        <a:xfrm>
          <a:off x="0" y="0"/>
          <a:ext cx="0" cy="0"/>
          <a:chOff x="0" y="0"/>
          <a:chExt cx="0" cy="0"/>
        </a:xfrm>
      </p:grpSpPr>
      <p:grpSp>
        <p:nvGrpSpPr>
          <p:cNvPr id="55" name="Google Shape;55;p14"/>
          <p:cNvGrpSpPr/>
          <p:nvPr/>
        </p:nvGrpSpPr>
        <p:grpSpPr>
          <a:xfrm>
            <a:off x="0" y="0"/>
            <a:ext cx="9105900" cy="5143500"/>
            <a:chOff x="0" y="0"/>
            <a:chExt cx="9105900" cy="5143500"/>
          </a:xfrm>
        </p:grpSpPr>
        <p:pic>
          <p:nvPicPr>
            <p:cNvPr id="56" name="Google Shape;56;p14"/>
            <p:cNvPicPr preferRelativeResize="0"/>
            <p:nvPr/>
          </p:nvPicPr>
          <p:blipFill rotWithShape="1">
            <a:blip r:embed="rId4">
              <a:alphaModFix/>
            </a:blip>
            <a:srcRect/>
            <a:stretch/>
          </p:blipFill>
          <p:spPr>
            <a:xfrm>
              <a:off x="471488" y="0"/>
              <a:ext cx="8201100" cy="5143500"/>
            </a:xfrm>
            <a:prstGeom prst="rect">
              <a:avLst/>
            </a:prstGeom>
            <a:noFill/>
            <a:ln>
              <a:noFill/>
            </a:ln>
          </p:spPr>
        </p:pic>
        <p:pic>
          <p:nvPicPr>
            <p:cNvPr id="57" name="Google Shape;57;p14"/>
            <p:cNvPicPr preferRelativeResize="0"/>
            <p:nvPr/>
          </p:nvPicPr>
          <p:blipFill rotWithShape="1">
            <a:blip r:embed="rId5">
              <a:alphaModFix/>
            </a:blip>
            <a:srcRect/>
            <a:stretch/>
          </p:blipFill>
          <p:spPr>
            <a:xfrm>
              <a:off x="0" y="757238"/>
              <a:ext cx="9105900" cy="3629100"/>
            </a:xfrm>
            <a:prstGeom prst="rect">
              <a:avLst/>
            </a:prstGeom>
            <a:noFill/>
            <a:ln>
              <a:noFill/>
            </a:ln>
          </p:spPr>
        </p:pic>
      </p:grpSp>
      <p:pic>
        <p:nvPicPr>
          <p:cNvPr id="58" name="Google Shape;58;p14"/>
          <p:cNvPicPr preferRelativeResize="0"/>
          <p:nvPr/>
        </p:nvPicPr>
        <p:blipFill rotWithShape="1">
          <a:blip r:embed="rId6">
            <a:alphaModFix/>
          </a:blip>
          <a:srcRect/>
          <a:stretch/>
        </p:blipFill>
        <p:spPr>
          <a:xfrm>
            <a:off x="4019550" y="-176212"/>
            <a:ext cx="4762500" cy="4772100"/>
          </a:xfrm>
          <a:prstGeom prst="rect">
            <a:avLst/>
          </a:prstGeom>
          <a:noFill/>
          <a:ln>
            <a:noFill/>
          </a:ln>
        </p:spPr>
      </p:pic>
      <p:grpSp>
        <p:nvGrpSpPr>
          <p:cNvPr id="59" name="Google Shape;59;p14"/>
          <p:cNvGrpSpPr/>
          <p:nvPr/>
        </p:nvGrpSpPr>
        <p:grpSpPr>
          <a:xfrm>
            <a:off x="4943475" y="657225"/>
            <a:ext cx="3448200" cy="3829200"/>
            <a:chOff x="-9525" y="-9525"/>
            <a:chExt cx="3448200" cy="3829200"/>
          </a:xfrm>
        </p:grpSpPr>
        <p:pic>
          <p:nvPicPr>
            <p:cNvPr id="60" name="Google Shape;60;p14" descr="A glowing digital human brain made of neural network connections with a semi-transparent brain MRI scan blended in, blue AI circuit lines and subtle glowing particles, futuristic medical AI technology interface, clean modern premium dark healthcare aesthetic"/>
            <p:cNvPicPr preferRelativeResize="0"/>
            <p:nvPr/>
          </p:nvPicPr>
          <p:blipFill rotWithShape="1">
            <a:blip r:embed="rId7">
              <a:alphaModFix/>
            </a:blip>
            <a:srcRect t="18750" b="18750"/>
            <a:stretch/>
          </p:blipFill>
          <p:spPr>
            <a:xfrm>
              <a:off x="0" y="0"/>
              <a:ext cx="3429000" cy="3810000"/>
            </a:xfrm>
            <a:prstGeom prst="roundRect">
              <a:avLst>
                <a:gd name="adj" fmla="val 6666"/>
              </a:avLst>
            </a:prstGeom>
            <a:noFill/>
            <a:ln>
              <a:noFill/>
            </a:ln>
          </p:spPr>
        </p:pic>
        <p:pic>
          <p:nvPicPr>
            <p:cNvPr id="61" name="Google Shape;61;p14"/>
            <p:cNvPicPr preferRelativeResize="0"/>
            <p:nvPr/>
          </p:nvPicPr>
          <p:blipFill rotWithShape="1">
            <a:blip r:embed="rId8">
              <a:alphaModFix/>
            </a:blip>
            <a:srcRect/>
            <a:stretch/>
          </p:blipFill>
          <p:spPr>
            <a:xfrm>
              <a:off x="-9525" y="-9525"/>
              <a:ext cx="3448200" cy="3829200"/>
            </a:xfrm>
            <a:prstGeom prst="rect">
              <a:avLst/>
            </a:prstGeom>
            <a:noFill/>
            <a:ln>
              <a:noFill/>
            </a:ln>
          </p:spPr>
        </p:pic>
      </p:grpSp>
      <p:grpSp>
        <p:nvGrpSpPr>
          <p:cNvPr id="62" name="Google Shape;62;p14"/>
          <p:cNvGrpSpPr/>
          <p:nvPr/>
        </p:nvGrpSpPr>
        <p:grpSpPr>
          <a:xfrm>
            <a:off x="571500" y="762000"/>
            <a:ext cx="4000500" cy="3286275"/>
            <a:chOff x="0" y="0"/>
            <a:chExt cx="4000500" cy="3286275"/>
          </a:xfrm>
        </p:grpSpPr>
        <p:sp>
          <p:nvSpPr>
            <p:cNvPr id="63" name="Google Shape;63;p14"/>
            <p:cNvSpPr txBox="1"/>
            <p:nvPr/>
          </p:nvSpPr>
          <p:spPr>
            <a:xfrm>
              <a:off x="0" y="0"/>
              <a:ext cx="4000500" cy="285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0">
                  <a:solidFill>
                    <a:srgbClr val="00F2FE"/>
                  </a:solidFill>
                  <a:latin typeface="Poppins SemiBold"/>
                  <a:ea typeface="Poppins SemiBold"/>
                  <a:cs typeface="Poppins SemiBold"/>
                  <a:sym typeface="Poppins SemiBold"/>
                </a:rPr>
                <a:t>Deep Learning Project</a:t>
              </a:r>
              <a:endParaRPr sz="1000" b="0">
                <a:solidFill>
                  <a:srgbClr val="00F2FE"/>
                </a:solidFill>
                <a:latin typeface="Poppins SemiBold"/>
                <a:ea typeface="Poppins SemiBold"/>
                <a:cs typeface="Poppins SemiBold"/>
                <a:sym typeface="Poppins SemiBold"/>
              </a:endParaRPr>
            </a:p>
          </p:txBody>
        </p:sp>
        <p:sp>
          <p:nvSpPr>
            <p:cNvPr id="64" name="Google Shape;64;p14"/>
            <p:cNvSpPr txBox="1"/>
            <p:nvPr/>
          </p:nvSpPr>
          <p:spPr>
            <a:xfrm>
              <a:off x="0" y="428625"/>
              <a:ext cx="4000500" cy="1714500"/>
            </a:xfrm>
            <a:prstGeom prst="rect">
              <a:avLst/>
            </a:prstGeom>
            <a:noFill/>
            <a:ln>
              <a:noFill/>
            </a:ln>
          </p:spPr>
          <p:txBody>
            <a:bodyPr spcFirstLastPara="1" wrap="square" lIns="0" tIns="0" rIns="0" bIns="0" anchor="t" anchorCtr="0">
              <a:noAutofit/>
            </a:bodyPr>
            <a:lstStyle/>
            <a:p>
              <a:pPr marL="0" lvl="0" indent="0" algn="l" rtl="0">
                <a:spcBef>
                  <a:spcPts val="0"/>
                </a:spcBef>
                <a:spcAft>
                  <a:spcPts val="900"/>
                </a:spcAft>
                <a:buNone/>
              </a:pPr>
              <a:r>
                <a:rPr lang="en-GB" sz="3200" b="1">
                  <a:solidFill>
                    <a:srgbClr val="FFFFFF"/>
                  </a:solidFill>
                  <a:latin typeface="Poppins"/>
                  <a:ea typeface="Poppins"/>
                  <a:cs typeface="Poppins"/>
                  <a:sym typeface="Poppins"/>
                </a:rPr>
                <a:t>Brain Tumor Detection Using Deep Learning</a:t>
              </a:r>
              <a:endParaRPr sz="3200" b="1">
                <a:solidFill>
                  <a:srgbClr val="FFFFFF"/>
                </a:solidFill>
                <a:latin typeface="Poppins"/>
                <a:ea typeface="Poppins"/>
                <a:cs typeface="Poppins"/>
                <a:sym typeface="Poppins"/>
              </a:endParaRPr>
            </a:p>
          </p:txBody>
        </p:sp>
        <p:sp>
          <p:nvSpPr>
            <p:cNvPr id="65" name="Google Shape;65;p14"/>
            <p:cNvSpPr txBox="1"/>
            <p:nvPr/>
          </p:nvSpPr>
          <p:spPr>
            <a:xfrm>
              <a:off x="0" y="2238375"/>
              <a:ext cx="40005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300" b="0">
                  <a:solidFill>
                    <a:srgbClr val="A5F3FC"/>
                  </a:solidFill>
                  <a:latin typeface="Poppins"/>
                  <a:ea typeface="Poppins"/>
                  <a:cs typeface="Poppins"/>
                  <a:sym typeface="Poppins"/>
                </a:rPr>
                <a:t>An End-to-End Convolutional Neural Network (CNN) for Brain MRI Image Classification</a:t>
              </a:r>
              <a:endParaRPr sz="1300" b="0">
                <a:solidFill>
                  <a:srgbClr val="A5F3FC"/>
                </a:solidFill>
                <a:latin typeface="Poppins"/>
                <a:ea typeface="Poppins"/>
                <a:cs typeface="Poppins"/>
                <a:sym typeface="Poppins"/>
              </a:endParaRPr>
            </a:p>
          </p:txBody>
        </p:sp>
      </p:grpSp>
      <p:sp>
        <p:nvSpPr>
          <p:cNvPr id="66" name="Google Shape;66;p14"/>
          <p:cNvSpPr txBox="1"/>
          <p:nvPr/>
        </p:nvSpPr>
        <p:spPr>
          <a:xfrm>
            <a:off x="571500" y="3762375"/>
            <a:ext cx="19050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00" b="0">
                <a:solidFill>
                  <a:srgbClr val="64748B"/>
                </a:solidFill>
                <a:latin typeface="Poppins Medium"/>
                <a:ea typeface="Poppins Medium"/>
                <a:cs typeface="Poppins Medium"/>
                <a:sym typeface="Poppins Medium"/>
              </a:rPr>
              <a:t>Presented By</a:t>
            </a:r>
            <a:endParaRPr sz="900" b="0">
              <a:solidFill>
                <a:srgbClr val="64748B"/>
              </a:solidFill>
              <a:latin typeface="Poppins Medium"/>
              <a:ea typeface="Poppins Medium"/>
              <a:cs typeface="Poppins Medium"/>
              <a:sym typeface="Poppins Medium"/>
            </a:endParaRPr>
          </a:p>
          <a:p>
            <a:pPr marL="0" lvl="0" indent="0" algn="l" rtl="0">
              <a:spcBef>
                <a:spcPts val="300"/>
              </a:spcBef>
              <a:spcAft>
                <a:spcPts val="0"/>
              </a:spcAft>
              <a:buNone/>
            </a:pPr>
            <a:r>
              <a:rPr lang="en-GB" sz="1200" b="0">
                <a:solidFill>
                  <a:srgbClr val="FFFFFF"/>
                </a:solidFill>
                <a:latin typeface="Poppins SemiBold"/>
                <a:ea typeface="Poppins SemiBold"/>
                <a:cs typeface="Poppins SemiBold"/>
                <a:sym typeface="Poppins SemiBold"/>
              </a:rPr>
              <a:t>Steve Emmanuel</a:t>
            </a:r>
            <a:endParaRPr sz="1200" b="0">
              <a:solidFill>
                <a:srgbClr val="FFFFFF"/>
              </a:solidFill>
              <a:latin typeface="Poppins SemiBold"/>
              <a:ea typeface="Poppins SemiBold"/>
              <a:cs typeface="Poppins SemiBold"/>
              <a:sym typeface="Poppins SemiBold"/>
            </a:endParaRPr>
          </a:p>
        </p:txBody>
      </p:sp>
      <p:cxnSp>
        <p:nvCxnSpPr>
          <p:cNvPr id="67" name="Google Shape;67;p14"/>
          <p:cNvCxnSpPr/>
          <p:nvPr/>
        </p:nvCxnSpPr>
        <p:spPr>
          <a:xfrm>
            <a:off x="571500" y="4381500"/>
            <a:ext cx="80010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68" name="Google Shape;68;p14"/>
          <p:cNvSpPr txBox="1"/>
          <p:nvPr/>
        </p:nvSpPr>
        <p:spPr>
          <a:xfrm>
            <a:off x="571500" y="4524375"/>
            <a:ext cx="80010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900" b="0">
                <a:solidFill>
                  <a:srgbClr val="475569"/>
                </a:solidFill>
                <a:latin typeface="Poppins Medium"/>
                <a:ea typeface="Poppins Medium"/>
                <a:cs typeface="Poppins Medium"/>
                <a:sym typeface="Poppins Medium"/>
              </a:rPr>
              <a:t>Department of Data Science &amp; Artificial Intelligence</a:t>
            </a:r>
            <a:endParaRPr sz="900" b="0">
              <a:solidFill>
                <a:srgbClr val="475569"/>
              </a:solidFill>
              <a:latin typeface="Poppins Medium"/>
              <a:ea typeface="Poppins Medium"/>
              <a:cs typeface="Poppins Medium"/>
              <a:sym typeface="Poppi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72"/>
        <p:cNvGrpSpPr/>
        <p:nvPr/>
      </p:nvGrpSpPr>
      <p:grpSpPr>
        <a:xfrm>
          <a:off x="0" y="0"/>
          <a:ext cx="0" cy="0"/>
          <a:chOff x="0" y="0"/>
          <a:chExt cx="0" cy="0"/>
        </a:xfrm>
      </p:grpSpPr>
      <p:grpSp>
        <p:nvGrpSpPr>
          <p:cNvPr id="73" name="Google Shape;73;p15"/>
          <p:cNvGrpSpPr/>
          <p:nvPr/>
        </p:nvGrpSpPr>
        <p:grpSpPr>
          <a:xfrm>
            <a:off x="476250" y="757238"/>
            <a:ext cx="8191500" cy="3057600"/>
            <a:chOff x="476250" y="757238"/>
            <a:chExt cx="8191500" cy="3057600"/>
          </a:xfrm>
        </p:grpSpPr>
        <p:pic>
          <p:nvPicPr>
            <p:cNvPr id="74" name="Google Shape;74;p15"/>
            <p:cNvPicPr preferRelativeResize="0"/>
            <p:nvPr/>
          </p:nvPicPr>
          <p:blipFill rotWithShape="1">
            <a:blip r:embed="rId4">
              <a:alphaModFix/>
            </a:blip>
            <a:srcRect/>
            <a:stretch/>
          </p:blipFill>
          <p:spPr>
            <a:xfrm>
              <a:off x="476250" y="757238"/>
              <a:ext cx="8191500" cy="3057600"/>
            </a:xfrm>
            <a:prstGeom prst="rect">
              <a:avLst/>
            </a:prstGeom>
            <a:noFill/>
            <a:ln>
              <a:noFill/>
            </a:ln>
          </p:spPr>
        </p:pic>
        <p:pic>
          <p:nvPicPr>
            <p:cNvPr id="75" name="Google Shape;75;p15"/>
            <p:cNvPicPr preferRelativeResize="0"/>
            <p:nvPr/>
          </p:nvPicPr>
          <p:blipFill rotWithShape="1">
            <a:blip r:embed="rId5">
              <a:alphaModFix/>
            </a:blip>
            <a:srcRect/>
            <a:stretch/>
          </p:blipFill>
          <p:spPr>
            <a:xfrm>
              <a:off x="1419225" y="1133475"/>
              <a:ext cx="19200" cy="19200"/>
            </a:xfrm>
            <a:prstGeom prst="rect">
              <a:avLst/>
            </a:prstGeom>
            <a:noFill/>
            <a:ln>
              <a:noFill/>
            </a:ln>
          </p:spPr>
        </p:pic>
        <p:pic>
          <p:nvPicPr>
            <p:cNvPr id="76" name="Google Shape;76;p15"/>
            <p:cNvPicPr preferRelativeResize="0"/>
            <p:nvPr/>
          </p:nvPicPr>
          <p:blipFill rotWithShape="1">
            <a:blip r:embed="rId6">
              <a:alphaModFix/>
            </a:blip>
            <a:srcRect/>
            <a:stretch/>
          </p:blipFill>
          <p:spPr>
            <a:xfrm>
              <a:off x="3319463" y="2652713"/>
              <a:ext cx="28500" cy="28500"/>
            </a:xfrm>
            <a:prstGeom prst="rect">
              <a:avLst/>
            </a:prstGeom>
            <a:noFill/>
            <a:ln>
              <a:noFill/>
            </a:ln>
          </p:spPr>
        </p:pic>
        <p:pic>
          <p:nvPicPr>
            <p:cNvPr id="77" name="Google Shape;77;p15"/>
            <p:cNvPicPr preferRelativeResize="0"/>
            <p:nvPr/>
          </p:nvPicPr>
          <p:blipFill rotWithShape="1">
            <a:blip r:embed="rId5">
              <a:alphaModFix/>
            </a:blip>
            <a:srcRect/>
            <a:stretch/>
          </p:blipFill>
          <p:spPr>
            <a:xfrm>
              <a:off x="7419975" y="1704975"/>
              <a:ext cx="19200" cy="19200"/>
            </a:xfrm>
            <a:prstGeom prst="rect">
              <a:avLst/>
            </a:prstGeom>
            <a:noFill/>
            <a:ln>
              <a:noFill/>
            </a:ln>
          </p:spPr>
        </p:pic>
        <p:pic>
          <p:nvPicPr>
            <p:cNvPr id="78" name="Google Shape;78;p15"/>
            <p:cNvPicPr preferRelativeResize="0"/>
            <p:nvPr/>
          </p:nvPicPr>
          <p:blipFill rotWithShape="1">
            <a:blip r:embed="rId7">
              <a:alphaModFix/>
            </a:blip>
            <a:srcRect/>
            <a:stretch/>
          </p:blipFill>
          <p:spPr>
            <a:xfrm>
              <a:off x="5886450" y="3314700"/>
              <a:ext cx="38100" cy="38100"/>
            </a:xfrm>
            <a:prstGeom prst="rect">
              <a:avLst/>
            </a:prstGeom>
            <a:noFill/>
            <a:ln>
              <a:noFill/>
            </a:ln>
          </p:spPr>
        </p:pic>
        <p:pic>
          <p:nvPicPr>
            <p:cNvPr id="79" name="Google Shape;79;p15"/>
            <p:cNvPicPr preferRelativeResize="0"/>
            <p:nvPr/>
          </p:nvPicPr>
          <p:blipFill rotWithShape="1">
            <a:blip r:embed="rId8">
              <a:alphaModFix/>
            </a:blip>
            <a:srcRect/>
            <a:stretch/>
          </p:blipFill>
          <p:spPr>
            <a:xfrm>
              <a:off x="1428750" y="1138238"/>
              <a:ext cx="6005400" cy="2195400"/>
            </a:xfrm>
            <a:prstGeom prst="rect">
              <a:avLst/>
            </a:prstGeom>
            <a:noFill/>
            <a:ln>
              <a:noFill/>
            </a:ln>
          </p:spPr>
        </p:pic>
      </p:grpSp>
      <p:grpSp>
        <p:nvGrpSpPr>
          <p:cNvPr id="80" name="Google Shape;80;p15"/>
          <p:cNvGrpSpPr/>
          <p:nvPr/>
        </p:nvGrpSpPr>
        <p:grpSpPr>
          <a:xfrm>
            <a:off x="423863" y="333375"/>
            <a:ext cx="4291163" cy="3157613"/>
            <a:chOff x="-4762" y="0"/>
            <a:chExt cx="4291163" cy="3157613"/>
          </a:xfrm>
        </p:grpSpPr>
        <p:sp>
          <p:nvSpPr>
            <p:cNvPr id="81" name="Google Shape;81;p15"/>
            <p:cNvSpPr txBox="1"/>
            <p:nvPr/>
          </p:nvSpPr>
          <p:spPr>
            <a:xfrm>
              <a:off x="0" y="0"/>
              <a:ext cx="4286400" cy="1047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65" b="0">
                  <a:solidFill>
                    <a:srgbClr val="00F2FE"/>
                  </a:solidFill>
                  <a:latin typeface="Poppins SemiBold"/>
                  <a:ea typeface="Poppins SemiBold"/>
                  <a:cs typeface="Poppins SemiBold"/>
                  <a:sym typeface="Poppins SemiBold"/>
                </a:rPr>
                <a:t>Why It Matters</a:t>
              </a:r>
              <a:endParaRPr sz="765" b="0">
                <a:solidFill>
                  <a:srgbClr val="00F2FE"/>
                </a:solidFill>
                <a:latin typeface="Poppins SemiBold"/>
                <a:ea typeface="Poppins SemiBold"/>
                <a:cs typeface="Poppins SemiBold"/>
                <a:sym typeface="Poppins SemiBold"/>
              </a:endParaRPr>
            </a:p>
            <a:p>
              <a:pPr marL="0" lvl="0" indent="0" algn="l" rtl="0">
                <a:spcBef>
                  <a:spcPts val="450"/>
                </a:spcBef>
                <a:spcAft>
                  <a:spcPts val="0"/>
                </a:spcAft>
                <a:buNone/>
              </a:pPr>
              <a:r>
                <a:rPr lang="en-GB" sz="1700" b="1">
                  <a:solidFill>
                    <a:srgbClr val="FFFFFF"/>
                  </a:solidFill>
                  <a:latin typeface="Poppins"/>
                  <a:ea typeface="Poppins"/>
                  <a:cs typeface="Poppins"/>
                  <a:sym typeface="Poppins"/>
                </a:rPr>
                <a:t>Why Brain Tumor Detection Matters</a:t>
              </a:r>
              <a:endParaRPr sz="1700" b="1">
                <a:solidFill>
                  <a:srgbClr val="FFFFFF"/>
                </a:solidFill>
                <a:latin typeface="Poppins"/>
                <a:ea typeface="Poppins"/>
                <a:cs typeface="Poppins"/>
                <a:sym typeface="Poppins"/>
              </a:endParaRPr>
            </a:p>
            <a:p>
              <a:pPr marL="0" lvl="0" indent="0" algn="l" rtl="0">
                <a:spcBef>
                  <a:spcPts val="750"/>
                </a:spcBef>
                <a:spcAft>
                  <a:spcPts val="1350"/>
                </a:spcAft>
                <a:buNone/>
              </a:pPr>
              <a:r>
                <a:rPr lang="en-GB" sz="850" b="0">
                  <a:solidFill>
                    <a:srgbClr val="A5F3FC"/>
                  </a:solidFill>
                  <a:latin typeface="Poppins"/>
                  <a:ea typeface="Poppins"/>
                  <a:cs typeface="Poppins"/>
                  <a:sym typeface="Poppins"/>
                </a:rPr>
                <a:t>Brain tumors are among the most critical neurological conditions, where early and accurate diagnosis can significantly improve treatment outcomes.</a:t>
              </a:r>
              <a:endParaRPr sz="850" b="0">
                <a:solidFill>
                  <a:srgbClr val="A5F3FC"/>
                </a:solidFill>
                <a:latin typeface="Poppins"/>
                <a:ea typeface="Poppins"/>
                <a:cs typeface="Poppins"/>
                <a:sym typeface="Poppins"/>
              </a:endParaRPr>
            </a:p>
          </p:txBody>
        </p:sp>
        <p:grpSp>
          <p:nvGrpSpPr>
            <p:cNvPr id="82" name="Google Shape;82;p15"/>
            <p:cNvGrpSpPr/>
            <p:nvPr/>
          </p:nvGrpSpPr>
          <p:grpSpPr>
            <a:xfrm>
              <a:off x="-4762" y="1090613"/>
              <a:ext cx="4200600" cy="619200"/>
              <a:chOff x="-4762" y="-4762"/>
              <a:chExt cx="4200600" cy="619200"/>
            </a:xfrm>
          </p:grpSpPr>
          <p:pic>
            <p:nvPicPr>
              <p:cNvPr id="83" name="Google Shape;83;p15"/>
              <p:cNvPicPr preferRelativeResize="0"/>
              <p:nvPr/>
            </p:nvPicPr>
            <p:blipFill rotWithShape="1">
              <a:blip r:embed="rId9">
                <a:alphaModFix/>
              </a:blip>
              <a:srcRect/>
              <a:stretch/>
            </p:blipFill>
            <p:spPr>
              <a:xfrm>
                <a:off x="-4762" y="-4762"/>
                <a:ext cx="4200600" cy="619200"/>
              </a:xfrm>
              <a:prstGeom prst="rect">
                <a:avLst/>
              </a:prstGeom>
              <a:noFill/>
              <a:ln>
                <a:noFill/>
              </a:ln>
            </p:spPr>
          </p:pic>
          <p:sp>
            <p:nvSpPr>
              <p:cNvPr id="85" name="Google Shape;85;p15"/>
              <p:cNvSpPr txBox="1"/>
              <p:nvPr/>
            </p:nvSpPr>
            <p:spPr>
              <a:xfrm>
                <a:off x="523875" y="95250"/>
                <a:ext cx="3524400" cy="438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71" b="0">
                    <a:solidFill>
                      <a:srgbClr val="FFFFFF"/>
                    </a:solidFill>
                    <a:latin typeface="Poppins SemiBold"/>
                    <a:ea typeface="Poppins SemiBold"/>
                    <a:cs typeface="Poppins SemiBold"/>
                    <a:sym typeface="Poppins SemiBold"/>
                  </a:rPr>
                  <a:t>Early Detection</a:t>
                </a:r>
                <a:endParaRPr sz="971" b="0">
                  <a:solidFill>
                    <a:srgbClr val="FFFFFF"/>
                  </a:solidFill>
                  <a:latin typeface="Poppins SemiBold"/>
                  <a:ea typeface="Poppins SemiBold"/>
                  <a:cs typeface="Poppins SemiBold"/>
                  <a:sym typeface="Poppins SemiBold"/>
                </a:endParaRPr>
              </a:p>
              <a:p>
                <a:pPr marL="0" lvl="0" indent="0" algn="l" rtl="0">
                  <a:spcBef>
                    <a:spcPts val="225"/>
                  </a:spcBef>
                  <a:spcAft>
                    <a:spcPts val="0"/>
                  </a:spcAft>
                  <a:buNone/>
                </a:pPr>
                <a:r>
                  <a:rPr lang="en-GB" sz="765" b="0">
                    <a:solidFill>
                      <a:srgbClr val="94A3B8"/>
                    </a:solidFill>
                    <a:latin typeface="Poppins"/>
                    <a:ea typeface="Poppins"/>
                    <a:cs typeface="Poppins"/>
                    <a:sym typeface="Poppins"/>
                  </a:rPr>
                  <a:t>Early diagnosis increases the chances of effective treatment and better patient outcomes.</a:t>
                </a:r>
                <a:endParaRPr sz="765" b="0">
                  <a:solidFill>
                    <a:srgbClr val="94A3B8"/>
                  </a:solidFill>
                  <a:latin typeface="Poppins"/>
                  <a:ea typeface="Poppins"/>
                  <a:cs typeface="Poppins"/>
                  <a:sym typeface="Poppins"/>
                </a:endParaRPr>
              </a:p>
            </p:txBody>
          </p:sp>
        </p:grpSp>
        <p:grpSp>
          <p:nvGrpSpPr>
            <p:cNvPr id="86" name="Google Shape;86;p15"/>
            <p:cNvGrpSpPr/>
            <p:nvPr/>
          </p:nvGrpSpPr>
          <p:grpSpPr>
            <a:xfrm>
              <a:off x="-4762" y="1814513"/>
              <a:ext cx="4200600" cy="619200"/>
              <a:chOff x="-4762" y="-4762"/>
              <a:chExt cx="4200600" cy="619200"/>
            </a:xfrm>
          </p:grpSpPr>
          <p:pic>
            <p:nvPicPr>
              <p:cNvPr id="87" name="Google Shape;87;p15"/>
              <p:cNvPicPr preferRelativeResize="0"/>
              <p:nvPr/>
            </p:nvPicPr>
            <p:blipFill rotWithShape="1">
              <a:blip r:embed="rId9">
                <a:alphaModFix/>
              </a:blip>
              <a:srcRect/>
              <a:stretch/>
            </p:blipFill>
            <p:spPr>
              <a:xfrm>
                <a:off x="-4762" y="-4762"/>
                <a:ext cx="4200600" cy="619200"/>
              </a:xfrm>
              <a:prstGeom prst="rect">
                <a:avLst/>
              </a:prstGeom>
              <a:noFill/>
              <a:ln>
                <a:noFill/>
              </a:ln>
            </p:spPr>
          </p:pic>
          <p:sp>
            <p:nvSpPr>
              <p:cNvPr id="89" name="Google Shape;89;p15"/>
              <p:cNvSpPr txBox="1"/>
              <p:nvPr/>
            </p:nvSpPr>
            <p:spPr>
              <a:xfrm>
                <a:off x="523875" y="95250"/>
                <a:ext cx="3524400" cy="438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71" b="0">
                    <a:solidFill>
                      <a:srgbClr val="FFFFFF"/>
                    </a:solidFill>
                    <a:latin typeface="Poppins SemiBold"/>
                    <a:ea typeface="Poppins SemiBold"/>
                    <a:cs typeface="Poppins SemiBold"/>
                    <a:sym typeface="Poppins SemiBold"/>
                  </a:rPr>
                  <a:t>Time Critical</a:t>
                </a:r>
                <a:endParaRPr sz="971" b="0">
                  <a:solidFill>
                    <a:srgbClr val="FFFFFF"/>
                  </a:solidFill>
                  <a:latin typeface="Poppins SemiBold"/>
                  <a:ea typeface="Poppins SemiBold"/>
                  <a:cs typeface="Poppins SemiBold"/>
                  <a:sym typeface="Poppins SemiBold"/>
                </a:endParaRPr>
              </a:p>
              <a:p>
                <a:pPr marL="0" lvl="0" indent="0" algn="l" rtl="0">
                  <a:spcBef>
                    <a:spcPts val="225"/>
                  </a:spcBef>
                  <a:spcAft>
                    <a:spcPts val="0"/>
                  </a:spcAft>
                  <a:buNone/>
                </a:pPr>
                <a:r>
                  <a:rPr lang="en-GB" sz="765" b="0">
                    <a:solidFill>
                      <a:srgbClr val="94A3B8"/>
                    </a:solidFill>
                    <a:latin typeface="Poppins"/>
                    <a:ea typeface="Poppins"/>
                    <a:cs typeface="Poppins"/>
                    <a:sym typeface="Poppins"/>
                  </a:rPr>
                  <a:t>Delayed diagnosis may allow tumors to grow, making treatment more difficult.</a:t>
                </a:r>
                <a:endParaRPr sz="765" b="0">
                  <a:solidFill>
                    <a:srgbClr val="94A3B8"/>
                  </a:solidFill>
                  <a:latin typeface="Poppins"/>
                  <a:ea typeface="Poppins"/>
                  <a:cs typeface="Poppins"/>
                  <a:sym typeface="Poppins"/>
                </a:endParaRPr>
              </a:p>
            </p:txBody>
          </p:sp>
        </p:grpSp>
        <p:grpSp>
          <p:nvGrpSpPr>
            <p:cNvPr id="90" name="Google Shape;90;p15"/>
            <p:cNvGrpSpPr/>
            <p:nvPr/>
          </p:nvGrpSpPr>
          <p:grpSpPr>
            <a:xfrm>
              <a:off x="-4762" y="2538413"/>
              <a:ext cx="4200600" cy="619200"/>
              <a:chOff x="-4762" y="-4762"/>
              <a:chExt cx="4200600" cy="619200"/>
            </a:xfrm>
          </p:grpSpPr>
          <p:pic>
            <p:nvPicPr>
              <p:cNvPr id="91" name="Google Shape;91;p15"/>
              <p:cNvPicPr preferRelativeResize="0"/>
              <p:nvPr/>
            </p:nvPicPr>
            <p:blipFill rotWithShape="1">
              <a:blip r:embed="rId9">
                <a:alphaModFix/>
              </a:blip>
              <a:srcRect/>
              <a:stretch/>
            </p:blipFill>
            <p:spPr>
              <a:xfrm>
                <a:off x="-4762" y="-4762"/>
                <a:ext cx="4200600" cy="619200"/>
              </a:xfrm>
              <a:prstGeom prst="rect">
                <a:avLst/>
              </a:prstGeom>
              <a:noFill/>
              <a:ln>
                <a:noFill/>
              </a:ln>
            </p:spPr>
          </p:pic>
          <p:sp>
            <p:nvSpPr>
              <p:cNvPr id="93" name="Google Shape;93;p15"/>
              <p:cNvSpPr txBox="1"/>
              <p:nvPr/>
            </p:nvSpPr>
            <p:spPr>
              <a:xfrm>
                <a:off x="523875" y="95250"/>
                <a:ext cx="3524400" cy="438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71" b="0">
                    <a:solidFill>
                      <a:srgbClr val="FFFFFF"/>
                    </a:solidFill>
                    <a:latin typeface="Poppins SemiBold"/>
                    <a:ea typeface="Poppins SemiBold"/>
                    <a:cs typeface="Poppins SemiBold"/>
                    <a:sym typeface="Poppins SemiBold"/>
                  </a:rPr>
                  <a:t>Expert Dependency</a:t>
                </a:r>
                <a:endParaRPr sz="971" b="0">
                  <a:solidFill>
                    <a:srgbClr val="FFFFFF"/>
                  </a:solidFill>
                  <a:latin typeface="Poppins SemiBold"/>
                  <a:ea typeface="Poppins SemiBold"/>
                  <a:cs typeface="Poppins SemiBold"/>
                  <a:sym typeface="Poppins SemiBold"/>
                </a:endParaRPr>
              </a:p>
              <a:p>
                <a:pPr marL="0" lvl="0" indent="0" algn="l" rtl="0">
                  <a:spcBef>
                    <a:spcPts val="225"/>
                  </a:spcBef>
                  <a:spcAft>
                    <a:spcPts val="0"/>
                  </a:spcAft>
                  <a:buNone/>
                </a:pPr>
                <a:r>
                  <a:rPr lang="en-GB" sz="765" b="0">
                    <a:solidFill>
                      <a:srgbClr val="94A3B8"/>
                    </a:solidFill>
                    <a:latin typeface="Poppins"/>
                    <a:ea typeface="Poppins"/>
                    <a:cs typeface="Poppins"/>
                    <a:sym typeface="Poppins"/>
                  </a:rPr>
                  <a:t>MRI interpretation requires experienced radiologists and can be time-consuming.</a:t>
                </a:r>
                <a:endParaRPr sz="765" b="0">
                  <a:solidFill>
                    <a:srgbClr val="94A3B8"/>
                  </a:solidFill>
                  <a:latin typeface="Poppins"/>
                  <a:ea typeface="Poppins"/>
                  <a:cs typeface="Poppins"/>
                  <a:sym typeface="Poppins"/>
                </a:endParaRPr>
              </a:p>
            </p:txBody>
          </p:sp>
        </p:grpSp>
      </p:grpSp>
      <p:grpSp>
        <p:nvGrpSpPr>
          <p:cNvPr id="94" name="Google Shape;94;p15"/>
          <p:cNvGrpSpPr/>
          <p:nvPr/>
        </p:nvGrpSpPr>
        <p:grpSpPr>
          <a:xfrm>
            <a:off x="4995863" y="328613"/>
            <a:ext cx="3724200" cy="3476700"/>
            <a:chOff x="-4762" y="-4762"/>
            <a:chExt cx="3724200" cy="3476700"/>
          </a:xfrm>
        </p:grpSpPr>
        <p:pic>
          <p:nvPicPr>
            <p:cNvPr id="95" name="Google Shape;95;p15"/>
            <p:cNvPicPr preferRelativeResize="0"/>
            <p:nvPr/>
          </p:nvPicPr>
          <p:blipFill rotWithShape="1">
            <a:blip r:embed="rId10">
              <a:alphaModFix/>
            </a:blip>
            <a:srcRect/>
            <a:stretch/>
          </p:blipFill>
          <p:spPr>
            <a:xfrm>
              <a:off x="-4762" y="-4762"/>
              <a:ext cx="3724200" cy="3476700"/>
            </a:xfrm>
            <a:prstGeom prst="rect">
              <a:avLst/>
            </a:prstGeom>
            <a:noFill/>
            <a:ln>
              <a:noFill/>
            </a:ln>
          </p:spPr>
        </p:pic>
        <p:pic>
          <p:nvPicPr>
            <p:cNvPr id="96" name="Google Shape;96;p15"/>
            <p:cNvPicPr preferRelativeResize="0"/>
            <p:nvPr/>
          </p:nvPicPr>
          <p:blipFill rotWithShape="1">
            <a:blip r:embed="rId11">
              <a:alphaModFix/>
            </a:blip>
            <a:srcRect/>
            <a:stretch/>
          </p:blipFill>
          <p:spPr>
            <a:xfrm>
              <a:off x="514350" y="428625"/>
              <a:ext cx="19200" cy="2705100"/>
            </a:xfrm>
            <a:prstGeom prst="rect">
              <a:avLst/>
            </a:prstGeom>
            <a:noFill/>
            <a:ln>
              <a:noFill/>
            </a:ln>
          </p:spPr>
        </p:pic>
        <p:grpSp>
          <p:nvGrpSpPr>
            <p:cNvPr id="97" name="Google Shape;97;p15"/>
            <p:cNvGrpSpPr/>
            <p:nvPr/>
          </p:nvGrpSpPr>
          <p:grpSpPr>
            <a:xfrm>
              <a:off x="390525" y="200025"/>
              <a:ext cx="3086100" cy="342900"/>
              <a:chOff x="57150" y="28575"/>
              <a:chExt cx="3086100" cy="342900"/>
            </a:xfrm>
          </p:grpSpPr>
          <p:sp>
            <p:nvSpPr>
              <p:cNvPr id="98" name="Google Shape;98;p15"/>
              <p:cNvSpPr/>
              <p:nvPr/>
            </p:nvSpPr>
            <p:spPr>
              <a:xfrm>
                <a:off x="57150" y="57150"/>
                <a:ext cx="266700" cy="266700"/>
              </a:xfrm>
              <a:prstGeom prst="ellipse">
                <a:avLst/>
              </a:prstGeom>
              <a:solidFill>
                <a:srgbClr val="070F2B"/>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 name="Google Shape;99;p15"/>
              <p:cNvSpPr txBox="1"/>
              <p:nvPr/>
            </p:nvSpPr>
            <p:spPr>
              <a:xfrm>
                <a:off x="57150" y="5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18" b="1">
                    <a:solidFill>
                      <a:srgbClr val="00F2FE"/>
                    </a:solidFill>
                    <a:latin typeface="Poppins"/>
                    <a:ea typeface="Poppins"/>
                    <a:cs typeface="Poppins"/>
                    <a:sym typeface="Poppins"/>
                  </a:rPr>
                  <a:t>1</a:t>
                </a:r>
                <a:endParaRPr sz="1018" b="1">
                  <a:solidFill>
                    <a:srgbClr val="00F2FE"/>
                  </a:solidFill>
                  <a:latin typeface="Poppins"/>
                  <a:ea typeface="Poppins"/>
                  <a:cs typeface="Poppins"/>
                  <a:sym typeface="Poppins"/>
                </a:endParaRPr>
              </a:p>
            </p:txBody>
          </p:sp>
          <p:sp>
            <p:nvSpPr>
              <p:cNvPr id="100" name="Google Shape;100;p15"/>
              <p:cNvSpPr txBox="1"/>
              <p:nvPr/>
            </p:nvSpPr>
            <p:spPr>
              <a:xfrm>
                <a:off x="476250" y="28575"/>
                <a:ext cx="2667000" cy="34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79" b="0">
                    <a:solidFill>
                      <a:srgbClr val="FFFFFF"/>
                    </a:solidFill>
                    <a:latin typeface="Poppins SemiBold"/>
                    <a:ea typeface="Poppins SemiBold"/>
                    <a:cs typeface="Poppins SemiBold"/>
                    <a:sym typeface="Poppins SemiBold"/>
                  </a:rPr>
                  <a:t>Patient with Symptoms</a:t>
                </a:r>
                <a:endParaRPr sz="879" b="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86" b="0">
                    <a:solidFill>
                      <a:srgbClr val="94A3B8"/>
                    </a:solidFill>
                    <a:latin typeface="Poppins"/>
                    <a:ea typeface="Poppins"/>
                    <a:cs typeface="Poppins"/>
                    <a:sym typeface="Poppins"/>
                  </a:rPr>
                  <a:t>Initial clinical presentation of neurological signs</a:t>
                </a:r>
                <a:endParaRPr sz="786" b="0">
                  <a:solidFill>
                    <a:srgbClr val="94A3B8"/>
                  </a:solidFill>
                  <a:latin typeface="Poppins"/>
                  <a:ea typeface="Poppins"/>
                  <a:cs typeface="Poppins"/>
                  <a:sym typeface="Poppins"/>
                </a:endParaRPr>
              </a:p>
            </p:txBody>
          </p:sp>
        </p:grpSp>
        <p:grpSp>
          <p:nvGrpSpPr>
            <p:cNvPr id="101" name="Google Shape;101;p15"/>
            <p:cNvGrpSpPr/>
            <p:nvPr/>
          </p:nvGrpSpPr>
          <p:grpSpPr>
            <a:xfrm>
              <a:off x="390525" y="733425"/>
              <a:ext cx="3086100" cy="342900"/>
              <a:chOff x="57150" y="28575"/>
              <a:chExt cx="3086100" cy="342900"/>
            </a:xfrm>
          </p:grpSpPr>
          <p:sp>
            <p:nvSpPr>
              <p:cNvPr id="102" name="Google Shape;102;p15"/>
              <p:cNvSpPr/>
              <p:nvPr/>
            </p:nvSpPr>
            <p:spPr>
              <a:xfrm>
                <a:off x="57150" y="57150"/>
                <a:ext cx="266700" cy="266700"/>
              </a:xfrm>
              <a:prstGeom prst="ellipse">
                <a:avLst/>
              </a:prstGeom>
              <a:solidFill>
                <a:srgbClr val="070F2B"/>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3" name="Google Shape;103;p15"/>
              <p:cNvSpPr txBox="1"/>
              <p:nvPr/>
            </p:nvSpPr>
            <p:spPr>
              <a:xfrm>
                <a:off x="57150" y="5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18" b="1">
                    <a:solidFill>
                      <a:srgbClr val="00F2FE"/>
                    </a:solidFill>
                    <a:latin typeface="Poppins"/>
                    <a:ea typeface="Poppins"/>
                    <a:cs typeface="Poppins"/>
                    <a:sym typeface="Poppins"/>
                  </a:rPr>
                  <a:t>2</a:t>
                </a:r>
                <a:endParaRPr sz="1018" b="1">
                  <a:solidFill>
                    <a:srgbClr val="00F2FE"/>
                  </a:solidFill>
                  <a:latin typeface="Poppins"/>
                  <a:ea typeface="Poppins"/>
                  <a:cs typeface="Poppins"/>
                  <a:sym typeface="Poppins"/>
                </a:endParaRPr>
              </a:p>
            </p:txBody>
          </p:sp>
          <p:sp>
            <p:nvSpPr>
              <p:cNvPr id="104" name="Google Shape;104;p15"/>
              <p:cNvSpPr txBox="1"/>
              <p:nvPr/>
            </p:nvSpPr>
            <p:spPr>
              <a:xfrm>
                <a:off x="476250" y="28575"/>
                <a:ext cx="2667000" cy="34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79" b="0">
                    <a:solidFill>
                      <a:srgbClr val="FFFFFF"/>
                    </a:solidFill>
                    <a:latin typeface="Poppins SemiBold"/>
                    <a:ea typeface="Poppins SemiBold"/>
                    <a:cs typeface="Poppins SemiBold"/>
                    <a:sym typeface="Poppins SemiBold"/>
                  </a:rPr>
                  <a:t>MRI Brain Scan</a:t>
                </a:r>
                <a:endParaRPr sz="879" b="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86" b="0">
                    <a:solidFill>
                      <a:srgbClr val="94A3B8"/>
                    </a:solidFill>
                    <a:latin typeface="Poppins"/>
                    <a:ea typeface="Poppins"/>
                    <a:cs typeface="Poppins"/>
                    <a:sym typeface="Poppins"/>
                  </a:rPr>
                  <a:t>Multi-sequence magnetic resonance imaging</a:t>
                </a:r>
                <a:endParaRPr sz="786" b="0">
                  <a:solidFill>
                    <a:srgbClr val="94A3B8"/>
                  </a:solidFill>
                  <a:latin typeface="Poppins"/>
                  <a:ea typeface="Poppins"/>
                  <a:cs typeface="Poppins"/>
                  <a:sym typeface="Poppins"/>
                </a:endParaRPr>
              </a:p>
            </p:txBody>
          </p:sp>
        </p:grpSp>
        <p:grpSp>
          <p:nvGrpSpPr>
            <p:cNvPr id="105" name="Google Shape;105;p15"/>
            <p:cNvGrpSpPr/>
            <p:nvPr/>
          </p:nvGrpSpPr>
          <p:grpSpPr>
            <a:xfrm>
              <a:off x="390525" y="1266825"/>
              <a:ext cx="3086100" cy="342900"/>
              <a:chOff x="57150" y="28575"/>
              <a:chExt cx="3086100" cy="342900"/>
            </a:xfrm>
          </p:grpSpPr>
          <p:sp>
            <p:nvSpPr>
              <p:cNvPr id="106" name="Google Shape;106;p15"/>
              <p:cNvSpPr/>
              <p:nvPr/>
            </p:nvSpPr>
            <p:spPr>
              <a:xfrm>
                <a:off x="57150" y="57150"/>
                <a:ext cx="266700" cy="266700"/>
              </a:xfrm>
              <a:prstGeom prst="ellipse">
                <a:avLst/>
              </a:prstGeom>
              <a:solidFill>
                <a:srgbClr val="070F2B"/>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7" name="Google Shape;107;p15"/>
              <p:cNvSpPr txBox="1"/>
              <p:nvPr/>
            </p:nvSpPr>
            <p:spPr>
              <a:xfrm>
                <a:off x="57150" y="5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18" b="1">
                    <a:solidFill>
                      <a:srgbClr val="00F2FE"/>
                    </a:solidFill>
                    <a:latin typeface="Poppins"/>
                    <a:ea typeface="Poppins"/>
                    <a:cs typeface="Poppins"/>
                    <a:sym typeface="Poppins"/>
                  </a:rPr>
                  <a:t>3</a:t>
                </a:r>
                <a:endParaRPr sz="1018" b="1">
                  <a:solidFill>
                    <a:srgbClr val="00F2FE"/>
                  </a:solidFill>
                  <a:latin typeface="Poppins"/>
                  <a:ea typeface="Poppins"/>
                  <a:cs typeface="Poppins"/>
                  <a:sym typeface="Poppins"/>
                </a:endParaRPr>
              </a:p>
            </p:txBody>
          </p:sp>
          <p:sp>
            <p:nvSpPr>
              <p:cNvPr id="108" name="Google Shape;108;p15"/>
              <p:cNvSpPr txBox="1"/>
              <p:nvPr/>
            </p:nvSpPr>
            <p:spPr>
              <a:xfrm>
                <a:off x="476250" y="28575"/>
                <a:ext cx="2667000" cy="34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79" b="0">
                    <a:solidFill>
                      <a:srgbClr val="FFFFFF"/>
                    </a:solidFill>
                    <a:latin typeface="Poppins SemiBold"/>
                    <a:ea typeface="Poppins SemiBold"/>
                    <a:cs typeface="Poppins SemiBold"/>
                    <a:sym typeface="Poppins SemiBold"/>
                  </a:rPr>
                  <a:t>Radiologist Analysis</a:t>
                </a:r>
                <a:endParaRPr sz="879" b="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86" b="0">
                    <a:solidFill>
                      <a:srgbClr val="94A3B8"/>
                    </a:solidFill>
                    <a:latin typeface="Poppins"/>
                    <a:ea typeface="Poppins"/>
                    <a:cs typeface="Poppins"/>
                    <a:sym typeface="Poppins"/>
                  </a:rPr>
                  <a:t>Manual expert visual inspection and evaluation</a:t>
                </a:r>
                <a:endParaRPr sz="786" b="0">
                  <a:solidFill>
                    <a:srgbClr val="94A3B8"/>
                  </a:solidFill>
                  <a:latin typeface="Poppins"/>
                  <a:ea typeface="Poppins"/>
                  <a:cs typeface="Poppins"/>
                  <a:sym typeface="Poppins"/>
                </a:endParaRPr>
              </a:p>
            </p:txBody>
          </p:sp>
        </p:grpSp>
        <p:grpSp>
          <p:nvGrpSpPr>
            <p:cNvPr id="109" name="Google Shape;109;p15"/>
            <p:cNvGrpSpPr/>
            <p:nvPr/>
          </p:nvGrpSpPr>
          <p:grpSpPr>
            <a:xfrm>
              <a:off x="390525" y="1800225"/>
              <a:ext cx="3086100" cy="342900"/>
              <a:chOff x="57150" y="28575"/>
              <a:chExt cx="3086100" cy="342900"/>
            </a:xfrm>
          </p:grpSpPr>
          <p:sp>
            <p:nvSpPr>
              <p:cNvPr id="110" name="Google Shape;110;p15"/>
              <p:cNvSpPr/>
              <p:nvPr/>
            </p:nvSpPr>
            <p:spPr>
              <a:xfrm>
                <a:off x="57150" y="57150"/>
                <a:ext cx="266700" cy="266700"/>
              </a:xfrm>
              <a:prstGeom prst="ellipse">
                <a:avLst/>
              </a:prstGeom>
              <a:solidFill>
                <a:srgbClr val="00F2FE"/>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1" name="Google Shape;111;p15"/>
              <p:cNvSpPr txBox="1"/>
              <p:nvPr/>
            </p:nvSpPr>
            <p:spPr>
              <a:xfrm>
                <a:off x="57150" y="5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18" b="1">
                    <a:solidFill>
                      <a:srgbClr val="020617"/>
                    </a:solidFill>
                    <a:latin typeface="Poppins"/>
                    <a:ea typeface="Poppins"/>
                    <a:cs typeface="Poppins"/>
                    <a:sym typeface="Poppins"/>
                  </a:rPr>
                  <a:t>4</a:t>
                </a:r>
                <a:endParaRPr sz="1018" b="1">
                  <a:solidFill>
                    <a:srgbClr val="020617"/>
                  </a:solidFill>
                  <a:latin typeface="Poppins"/>
                  <a:ea typeface="Poppins"/>
                  <a:cs typeface="Poppins"/>
                  <a:sym typeface="Poppins"/>
                </a:endParaRPr>
              </a:p>
            </p:txBody>
          </p:sp>
          <p:sp>
            <p:nvSpPr>
              <p:cNvPr id="112" name="Google Shape;112;p15"/>
              <p:cNvSpPr txBox="1"/>
              <p:nvPr/>
            </p:nvSpPr>
            <p:spPr>
              <a:xfrm>
                <a:off x="476250" y="28575"/>
                <a:ext cx="2667000" cy="34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79" b="0">
                    <a:solidFill>
                      <a:srgbClr val="00F2FE"/>
                    </a:solidFill>
                    <a:latin typeface="Poppins SemiBold"/>
                    <a:ea typeface="Poppins SemiBold"/>
                    <a:cs typeface="Poppins SemiBold"/>
                    <a:sym typeface="Poppins SemiBold"/>
                  </a:rPr>
                  <a:t>Deep Learning (CNN)</a:t>
                </a:r>
                <a:endParaRPr sz="879" b="0">
                  <a:solidFill>
                    <a:srgbClr val="00F2FE"/>
                  </a:solidFill>
                  <a:latin typeface="Poppins SemiBold"/>
                  <a:ea typeface="Poppins SemiBold"/>
                  <a:cs typeface="Poppins SemiBold"/>
                  <a:sym typeface="Poppins SemiBold"/>
                </a:endParaRPr>
              </a:p>
              <a:p>
                <a:pPr marL="0" lvl="0" indent="0" algn="l" rtl="0">
                  <a:spcBef>
                    <a:spcPts val="150"/>
                  </a:spcBef>
                  <a:spcAft>
                    <a:spcPts val="0"/>
                  </a:spcAft>
                  <a:buNone/>
                </a:pPr>
                <a:r>
                  <a:rPr lang="en-GB" sz="786" b="0">
                    <a:solidFill>
                      <a:srgbClr val="94A3B8"/>
                    </a:solidFill>
                    <a:latin typeface="Poppins"/>
                    <a:ea typeface="Poppins"/>
                    <a:cs typeface="Poppins"/>
                    <a:sym typeface="Poppins"/>
                  </a:rPr>
                  <a:t>Automated AI image analysis and feature extraction</a:t>
                </a:r>
                <a:endParaRPr sz="786" b="0">
                  <a:solidFill>
                    <a:srgbClr val="94A3B8"/>
                  </a:solidFill>
                  <a:latin typeface="Poppins"/>
                  <a:ea typeface="Poppins"/>
                  <a:cs typeface="Poppins"/>
                  <a:sym typeface="Poppins"/>
                </a:endParaRPr>
              </a:p>
            </p:txBody>
          </p:sp>
        </p:grpSp>
        <p:grpSp>
          <p:nvGrpSpPr>
            <p:cNvPr id="113" name="Google Shape;113;p15"/>
            <p:cNvGrpSpPr/>
            <p:nvPr/>
          </p:nvGrpSpPr>
          <p:grpSpPr>
            <a:xfrm>
              <a:off x="390525" y="2333625"/>
              <a:ext cx="3086100" cy="342900"/>
              <a:chOff x="57150" y="28575"/>
              <a:chExt cx="3086100" cy="342900"/>
            </a:xfrm>
          </p:grpSpPr>
          <p:sp>
            <p:nvSpPr>
              <p:cNvPr id="114" name="Google Shape;114;p15"/>
              <p:cNvSpPr/>
              <p:nvPr/>
            </p:nvSpPr>
            <p:spPr>
              <a:xfrm>
                <a:off x="57150" y="57150"/>
                <a:ext cx="266700" cy="266700"/>
              </a:xfrm>
              <a:prstGeom prst="ellipse">
                <a:avLst/>
              </a:prstGeom>
              <a:solidFill>
                <a:srgbClr val="070F2B"/>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5" name="Google Shape;115;p15"/>
              <p:cNvSpPr txBox="1"/>
              <p:nvPr/>
            </p:nvSpPr>
            <p:spPr>
              <a:xfrm>
                <a:off x="57150" y="5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18" b="1">
                    <a:solidFill>
                      <a:srgbClr val="00F2FE"/>
                    </a:solidFill>
                    <a:latin typeface="Poppins"/>
                    <a:ea typeface="Poppins"/>
                    <a:cs typeface="Poppins"/>
                    <a:sym typeface="Poppins"/>
                  </a:rPr>
                  <a:t>5</a:t>
                </a:r>
                <a:endParaRPr sz="1018" b="1">
                  <a:solidFill>
                    <a:srgbClr val="00F2FE"/>
                  </a:solidFill>
                  <a:latin typeface="Poppins"/>
                  <a:ea typeface="Poppins"/>
                  <a:cs typeface="Poppins"/>
                  <a:sym typeface="Poppins"/>
                </a:endParaRPr>
              </a:p>
            </p:txBody>
          </p:sp>
          <p:sp>
            <p:nvSpPr>
              <p:cNvPr id="116" name="Google Shape;116;p15"/>
              <p:cNvSpPr txBox="1"/>
              <p:nvPr/>
            </p:nvSpPr>
            <p:spPr>
              <a:xfrm>
                <a:off x="476250" y="28575"/>
                <a:ext cx="2667000" cy="34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79" b="0">
                    <a:solidFill>
                      <a:srgbClr val="FFFFFF"/>
                    </a:solidFill>
                    <a:latin typeface="Poppins SemiBold"/>
                    <a:ea typeface="Poppins SemiBold"/>
                    <a:cs typeface="Poppins SemiBold"/>
                    <a:sym typeface="Poppins SemiBold"/>
                  </a:rPr>
                  <a:t>Tumor Classification</a:t>
                </a:r>
                <a:endParaRPr sz="879" b="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86" b="0">
                    <a:solidFill>
                      <a:srgbClr val="94A3B8"/>
                    </a:solidFill>
                    <a:latin typeface="Poppins"/>
                    <a:ea typeface="Poppins"/>
                    <a:cs typeface="Poppins"/>
                    <a:sym typeface="Poppins"/>
                  </a:rPr>
                  <a:t>Categorization into specific pathological types</a:t>
                </a:r>
                <a:endParaRPr sz="786" b="0">
                  <a:solidFill>
                    <a:srgbClr val="94A3B8"/>
                  </a:solidFill>
                  <a:latin typeface="Poppins"/>
                  <a:ea typeface="Poppins"/>
                  <a:cs typeface="Poppins"/>
                  <a:sym typeface="Poppins"/>
                </a:endParaRPr>
              </a:p>
            </p:txBody>
          </p:sp>
        </p:grpSp>
        <p:grpSp>
          <p:nvGrpSpPr>
            <p:cNvPr id="117" name="Google Shape;117;p15"/>
            <p:cNvGrpSpPr/>
            <p:nvPr/>
          </p:nvGrpSpPr>
          <p:grpSpPr>
            <a:xfrm>
              <a:off x="390525" y="2867025"/>
              <a:ext cx="3086100" cy="342900"/>
              <a:chOff x="57150" y="28575"/>
              <a:chExt cx="3086100" cy="342900"/>
            </a:xfrm>
          </p:grpSpPr>
          <p:sp>
            <p:nvSpPr>
              <p:cNvPr id="118" name="Google Shape;118;p15"/>
              <p:cNvSpPr/>
              <p:nvPr/>
            </p:nvSpPr>
            <p:spPr>
              <a:xfrm>
                <a:off x="57150" y="57150"/>
                <a:ext cx="266700" cy="266700"/>
              </a:xfrm>
              <a:prstGeom prst="ellipse">
                <a:avLst/>
              </a:prstGeom>
              <a:solidFill>
                <a:srgbClr val="070F2B"/>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19" name="Google Shape;119;p15"/>
              <p:cNvSpPr txBox="1"/>
              <p:nvPr/>
            </p:nvSpPr>
            <p:spPr>
              <a:xfrm>
                <a:off x="57150" y="57150"/>
                <a:ext cx="2667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18" b="1">
                    <a:solidFill>
                      <a:srgbClr val="00F2FE"/>
                    </a:solidFill>
                    <a:latin typeface="Poppins"/>
                    <a:ea typeface="Poppins"/>
                    <a:cs typeface="Poppins"/>
                    <a:sym typeface="Poppins"/>
                  </a:rPr>
                  <a:t>6</a:t>
                </a:r>
                <a:endParaRPr sz="1018" b="1">
                  <a:solidFill>
                    <a:srgbClr val="00F2FE"/>
                  </a:solidFill>
                  <a:latin typeface="Poppins"/>
                  <a:ea typeface="Poppins"/>
                  <a:cs typeface="Poppins"/>
                  <a:sym typeface="Poppins"/>
                </a:endParaRPr>
              </a:p>
            </p:txBody>
          </p:sp>
          <p:sp>
            <p:nvSpPr>
              <p:cNvPr id="120" name="Google Shape;120;p15"/>
              <p:cNvSpPr txBox="1"/>
              <p:nvPr/>
            </p:nvSpPr>
            <p:spPr>
              <a:xfrm>
                <a:off x="476250" y="28575"/>
                <a:ext cx="2667000" cy="34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79" b="0">
                    <a:solidFill>
                      <a:srgbClr val="FFFFFF"/>
                    </a:solidFill>
                    <a:latin typeface="Poppins SemiBold"/>
                    <a:ea typeface="Poppins SemiBold"/>
                    <a:cs typeface="Poppins SemiBold"/>
                    <a:sym typeface="Poppins SemiBold"/>
                  </a:rPr>
                  <a:t>Faster Clinical Decision</a:t>
                </a:r>
                <a:endParaRPr sz="879" b="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86" b="0">
                    <a:solidFill>
                      <a:srgbClr val="94A3B8"/>
                    </a:solidFill>
                    <a:latin typeface="Poppins"/>
                    <a:ea typeface="Poppins"/>
                    <a:cs typeface="Poppins"/>
                    <a:sym typeface="Poppins"/>
                  </a:rPr>
                  <a:t>Rapid triage and customized treatment planning</a:t>
                </a:r>
                <a:endParaRPr sz="786" b="0">
                  <a:solidFill>
                    <a:srgbClr val="94A3B8"/>
                  </a:solidFill>
                  <a:latin typeface="Poppins"/>
                  <a:ea typeface="Poppins"/>
                  <a:cs typeface="Poppins"/>
                  <a:sym typeface="Poppins"/>
                </a:endParaRPr>
              </a:p>
            </p:txBody>
          </p:sp>
        </p:grpSp>
      </p:grpSp>
      <p:grpSp>
        <p:nvGrpSpPr>
          <p:cNvPr id="121" name="Google Shape;121;p15"/>
          <p:cNvGrpSpPr/>
          <p:nvPr/>
        </p:nvGrpSpPr>
        <p:grpSpPr>
          <a:xfrm>
            <a:off x="423863" y="3948113"/>
            <a:ext cx="8296200" cy="866700"/>
            <a:chOff x="-4762" y="-4762"/>
            <a:chExt cx="8296200" cy="866700"/>
          </a:xfrm>
        </p:grpSpPr>
        <p:pic>
          <p:nvPicPr>
            <p:cNvPr id="122" name="Google Shape;122;p15"/>
            <p:cNvPicPr preferRelativeResize="0"/>
            <p:nvPr/>
          </p:nvPicPr>
          <p:blipFill rotWithShape="1">
            <a:blip r:embed="rId12">
              <a:alphaModFix/>
            </a:blip>
            <a:srcRect/>
            <a:stretch/>
          </p:blipFill>
          <p:spPr>
            <a:xfrm>
              <a:off x="-4762" y="-4762"/>
              <a:ext cx="8296200" cy="866700"/>
            </a:xfrm>
            <a:prstGeom prst="rect">
              <a:avLst/>
            </a:prstGeom>
            <a:noFill/>
            <a:ln>
              <a:noFill/>
            </a:ln>
          </p:spPr>
        </p:pic>
        <p:sp>
          <p:nvSpPr>
            <p:cNvPr id="123" name="Google Shape;123;p15"/>
            <p:cNvSpPr txBox="1"/>
            <p:nvPr/>
          </p:nvSpPr>
          <p:spPr>
            <a:xfrm>
              <a:off x="190500" y="142875"/>
              <a:ext cx="46674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18" b="1">
                  <a:solidFill>
                    <a:srgbClr val="00F2FE"/>
                  </a:solidFill>
                  <a:latin typeface="Poppins"/>
                  <a:ea typeface="Poppins"/>
                  <a:cs typeface="Poppins"/>
                  <a:sym typeface="Poppins"/>
                </a:rPr>
                <a:t>PROJECT OBJECTIVE</a:t>
              </a:r>
              <a:endParaRPr sz="1018" b="1">
                <a:solidFill>
                  <a:srgbClr val="00F2FE"/>
                </a:solidFill>
                <a:latin typeface="Poppins"/>
                <a:ea typeface="Poppins"/>
                <a:cs typeface="Poppins"/>
                <a:sym typeface="Poppins"/>
              </a:endParaRPr>
            </a:p>
            <a:p>
              <a:pPr marL="0" lvl="0" indent="0" algn="l" rtl="0">
                <a:spcBef>
                  <a:spcPts val="300"/>
                </a:spcBef>
                <a:spcAft>
                  <a:spcPts val="0"/>
                </a:spcAft>
                <a:buNone/>
              </a:pPr>
              <a:r>
                <a:rPr lang="en-GB" sz="879" b="0">
                  <a:solidFill>
                    <a:srgbClr val="E2E8F0"/>
                  </a:solidFill>
                  <a:latin typeface="Poppins"/>
                  <a:ea typeface="Poppins"/>
                  <a:cs typeface="Poppins"/>
                  <a:sym typeface="Poppins"/>
                </a:rPr>
                <a:t>Develop an AI-powered Convolutional Neural Network (CNN) that automatically classifies brain MRI images into four distinct categories with clinical precision.</a:t>
              </a:r>
              <a:endParaRPr sz="879" b="0">
                <a:solidFill>
                  <a:srgbClr val="E2E8F0"/>
                </a:solidFill>
                <a:latin typeface="Poppins"/>
                <a:ea typeface="Poppins"/>
                <a:cs typeface="Poppins"/>
                <a:sym typeface="Poppins"/>
              </a:endParaRPr>
            </a:p>
          </p:txBody>
        </p:sp>
        <p:grpSp>
          <p:nvGrpSpPr>
            <p:cNvPr id="124" name="Google Shape;124;p15"/>
            <p:cNvGrpSpPr/>
            <p:nvPr/>
          </p:nvGrpSpPr>
          <p:grpSpPr>
            <a:xfrm>
              <a:off x="5095875" y="171450"/>
              <a:ext cx="714300" cy="209700"/>
              <a:chOff x="0" y="0"/>
              <a:chExt cx="714300" cy="209700"/>
            </a:xfrm>
          </p:grpSpPr>
          <p:pic>
            <p:nvPicPr>
              <p:cNvPr id="125" name="Google Shape;125;p15"/>
              <p:cNvPicPr preferRelativeResize="0"/>
              <p:nvPr/>
            </p:nvPicPr>
            <p:blipFill rotWithShape="1">
              <a:blip r:embed="rId13">
                <a:alphaModFix/>
              </a:blip>
              <a:srcRect/>
              <a:stretch/>
            </p:blipFill>
            <p:spPr>
              <a:xfrm>
                <a:off x="0" y="0"/>
                <a:ext cx="714300" cy="209700"/>
              </a:xfrm>
              <a:prstGeom prst="rect">
                <a:avLst/>
              </a:prstGeom>
              <a:noFill/>
              <a:ln>
                <a:noFill/>
              </a:ln>
            </p:spPr>
          </p:pic>
          <p:sp>
            <p:nvSpPr>
              <p:cNvPr id="126" name="Google Shape;126;p15"/>
              <p:cNvSpPr txBox="1"/>
              <p:nvPr/>
            </p:nvSpPr>
            <p:spPr>
              <a:xfrm>
                <a:off x="0" y="0"/>
                <a:ext cx="7143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86" b="0">
                    <a:solidFill>
                      <a:srgbClr val="FFFFFF"/>
                    </a:solidFill>
                    <a:latin typeface="Poppins SemiBold"/>
                    <a:ea typeface="Poppins SemiBold"/>
                    <a:cs typeface="Poppins SemiBold"/>
                    <a:sym typeface="Poppins SemiBold"/>
                  </a:rPr>
                  <a:t>Glioma</a:t>
                </a:r>
                <a:endParaRPr sz="786" b="0">
                  <a:solidFill>
                    <a:srgbClr val="FFFFFF"/>
                  </a:solidFill>
                  <a:latin typeface="Poppins SemiBold"/>
                  <a:ea typeface="Poppins SemiBold"/>
                  <a:cs typeface="Poppins SemiBold"/>
                  <a:sym typeface="Poppins SemiBold"/>
                </a:endParaRPr>
              </a:p>
            </p:txBody>
          </p:sp>
        </p:grpSp>
        <p:grpSp>
          <p:nvGrpSpPr>
            <p:cNvPr id="127" name="Google Shape;127;p15"/>
            <p:cNvGrpSpPr/>
            <p:nvPr/>
          </p:nvGrpSpPr>
          <p:grpSpPr>
            <a:xfrm>
              <a:off x="5857875" y="171450"/>
              <a:ext cx="857400" cy="209700"/>
              <a:chOff x="0" y="0"/>
              <a:chExt cx="857400" cy="209700"/>
            </a:xfrm>
          </p:grpSpPr>
          <p:pic>
            <p:nvPicPr>
              <p:cNvPr id="128" name="Google Shape;128;p15"/>
              <p:cNvPicPr preferRelativeResize="0"/>
              <p:nvPr/>
            </p:nvPicPr>
            <p:blipFill rotWithShape="1">
              <a:blip r:embed="rId14">
                <a:alphaModFix/>
              </a:blip>
              <a:srcRect/>
              <a:stretch/>
            </p:blipFill>
            <p:spPr>
              <a:xfrm>
                <a:off x="0" y="0"/>
                <a:ext cx="857400" cy="209700"/>
              </a:xfrm>
              <a:prstGeom prst="rect">
                <a:avLst/>
              </a:prstGeom>
              <a:noFill/>
              <a:ln>
                <a:noFill/>
              </a:ln>
            </p:spPr>
          </p:pic>
          <p:sp>
            <p:nvSpPr>
              <p:cNvPr id="129" name="Google Shape;129;p15"/>
              <p:cNvSpPr txBox="1"/>
              <p:nvPr/>
            </p:nvSpPr>
            <p:spPr>
              <a:xfrm>
                <a:off x="0" y="0"/>
                <a:ext cx="8574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86" b="0">
                    <a:solidFill>
                      <a:srgbClr val="FFFFFF"/>
                    </a:solidFill>
                    <a:latin typeface="Poppins SemiBold"/>
                    <a:ea typeface="Poppins SemiBold"/>
                    <a:cs typeface="Poppins SemiBold"/>
                    <a:sym typeface="Poppins SemiBold"/>
                  </a:rPr>
                  <a:t>Meningioma</a:t>
                </a:r>
                <a:endParaRPr sz="786" b="0">
                  <a:solidFill>
                    <a:srgbClr val="FFFFFF"/>
                  </a:solidFill>
                  <a:latin typeface="Poppins SemiBold"/>
                  <a:ea typeface="Poppins SemiBold"/>
                  <a:cs typeface="Poppins SemiBold"/>
                  <a:sym typeface="Poppins SemiBold"/>
                </a:endParaRPr>
              </a:p>
            </p:txBody>
          </p:sp>
        </p:grpSp>
        <p:grpSp>
          <p:nvGrpSpPr>
            <p:cNvPr id="130" name="Google Shape;130;p15"/>
            <p:cNvGrpSpPr/>
            <p:nvPr/>
          </p:nvGrpSpPr>
          <p:grpSpPr>
            <a:xfrm>
              <a:off x="6762750" y="171450"/>
              <a:ext cx="1047900" cy="209700"/>
              <a:chOff x="0" y="0"/>
              <a:chExt cx="1047900" cy="209700"/>
            </a:xfrm>
          </p:grpSpPr>
          <p:pic>
            <p:nvPicPr>
              <p:cNvPr id="131" name="Google Shape;131;p15"/>
              <p:cNvPicPr preferRelativeResize="0"/>
              <p:nvPr/>
            </p:nvPicPr>
            <p:blipFill rotWithShape="1">
              <a:blip r:embed="rId15">
                <a:alphaModFix/>
              </a:blip>
              <a:srcRect/>
              <a:stretch/>
            </p:blipFill>
            <p:spPr>
              <a:xfrm>
                <a:off x="0" y="0"/>
                <a:ext cx="1047900" cy="209700"/>
              </a:xfrm>
              <a:prstGeom prst="rect">
                <a:avLst/>
              </a:prstGeom>
              <a:noFill/>
              <a:ln>
                <a:noFill/>
              </a:ln>
            </p:spPr>
          </p:pic>
          <p:sp>
            <p:nvSpPr>
              <p:cNvPr id="132" name="Google Shape;132;p15"/>
              <p:cNvSpPr txBox="1"/>
              <p:nvPr/>
            </p:nvSpPr>
            <p:spPr>
              <a:xfrm>
                <a:off x="0" y="0"/>
                <a:ext cx="10479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86" b="0">
                    <a:solidFill>
                      <a:srgbClr val="FFFFFF"/>
                    </a:solidFill>
                    <a:latin typeface="Poppins SemiBold"/>
                    <a:ea typeface="Poppins SemiBold"/>
                    <a:cs typeface="Poppins SemiBold"/>
                    <a:sym typeface="Poppins SemiBold"/>
                  </a:rPr>
                  <a:t>Pituitary Tumor</a:t>
                </a:r>
                <a:endParaRPr sz="786" b="0">
                  <a:solidFill>
                    <a:srgbClr val="FFFFFF"/>
                  </a:solidFill>
                  <a:latin typeface="Poppins SemiBold"/>
                  <a:ea typeface="Poppins SemiBold"/>
                  <a:cs typeface="Poppins SemiBold"/>
                  <a:sym typeface="Poppins SemiBold"/>
                </a:endParaRPr>
              </a:p>
            </p:txBody>
          </p:sp>
        </p:grpSp>
        <p:grpSp>
          <p:nvGrpSpPr>
            <p:cNvPr id="133" name="Google Shape;133;p15"/>
            <p:cNvGrpSpPr/>
            <p:nvPr/>
          </p:nvGrpSpPr>
          <p:grpSpPr>
            <a:xfrm>
              <a:off x="7858125" y="171450"/>
              <a:ext cx="285900" cy="209700"/>
              <a:chOff x="0" y="0"/>
              <a:chExt cx="285900" cy="209700"/>
            </a:xfrm>
          </p:grpSpPr>
          <p:sp>
            <p:nvSpPr>
              <p:cNvPr id="134" name="Google Shape;134;p15"/>
              <p:cNvSpPr/>
              <p:nvPr/>
            </p:nvSpPr>
            <p:spPr>
              <a:xfrm>
                <a:off x="0" y="0"/>
                <a:ext cx="285900" cy="209700"/>
              </a:xfrm>
              <a:prstGeom prst="roundRect">
                <a:avLst>
                  <a:gd name="adj" fmla="val 18181"/>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35" name="Google Shape;135;p15"/>
              <p:cNvSpPr txBox="1"/>
              <p:nvPr/>
            </p:nvSpPr>
            <p:spPr>
              <a:xfrm>
                <a:off x="0" y="0"/>
                <a:ext cx="2859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86" b="0">
                    <a:solidFill>
                      <a:srgbClr val="FFFFFF"/>
                    </a:solidFill>
                    <a:latin typeface="Poppins SemiBold"/>
                    <a:ea typeface="Poppins SemiBold"/>
                    <a:cs typeface="Poppins SemiBold"/>
                    <a:sym typeface="Poppins SemiBold"/>
                  </a:rPr>
                  <a:t>No</a:t>
                </a:r>
                <a:endParaRPr sz="786" b="0">
                  <a:solidFill>
                    <a:srgbClr val="FFFFFF"/>
                  </a:solidFill>
                  <a:latin typeface="Poppins SemiBold"/>
                  <a:ea typeface="Poppins SemiBold"/>
                  <a:cs typeface="Poppins SemiBold"/>
                  <a:sym typeface="Poppins SemiBold"/>
                </a:endParaR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9"/>
        <p:cNvGrpSpPr/>
        <p:nvPr/>
      </p:nvGrpSpPr>
      <p:grpSpPr>
        <a:xfrm>
          <a:off x="0" y="0"/>
          <a:ext cx="0" cy="0"/>
          <a:chOff x="0" y="0"/>
          <a:chExt cx="0" cy="0"/>
        </a:xfrm>
      </p:grpSpPr>
      <p:grpSp>
        <p:nvGrpSpPr>
          <p:cNvPr id="140" name="Google Shape;140;p16"/>
          <p:cNvGrpSpPr/>
          <p:nvPr/>
        </p:nvGrpSpPr>
        <p:grpSpPr>
          <a:xfrm>
            <a:off x="471488" y="1028700"/>
            <a:ext cx="8105850" cy="3919500"/>
            <a:chOff x="471488" y="1028700"/>
            <a:chExt cx="8105850" cy="3919500"/>
          </a:xfrm>
        </p:grpSpPr>
        <p:pic>
          <p:nvPicPr>
            <p:cNvPr id="141" name="Google Shape;141;p16"/>
            <p:cNvPicPr preferRelativeResize="0"/>
            <p:nvPr/>
          </p:nvPicPr>
          <p:blipFill rotWithShape="1">
            <a:blip r:embed="rId4">
              <a:alphaModFix/>
            </a:blip>
            <a:srcRect/>
            <a:stretch/>
          </p:blipFill>
          <p:spPr>
            <a:xfrm>
              <a:off x="471488" y="1028700"/>
              <a:ext cx="7634400" cy="2967000"/>
            </a:xfrm>
            <a:prstGeom prst="rect">
              <a:avLst/>
            </a:prstGeom>
            <a:noFill/>
            <a:ln>
              <a:noFill/>
            </a:ln>
          </p:spPr>
        </p:pic>
        <p:pic>
          <p:nvPicPr>
            <p:cNvPr id="142" name="Google Shape;142;p16"/>
            <p:cNvPicPr preferRelativeResize="0"/>
            <p:nvPr/>
          </p:nvPicPr>
          <p:blipFill rotWithShape="1">
            <a:blip r:embed="rId5">
              <a:alphaModFix/>
            </a:blip>
            <a:srcRect/>
            <a:stretch/>
          </p:blipFill>
          <p:spPr>
            <a:xfrm>
              <a:off x="947738" y="1981200"/>
              <a:ext cx="7629600" cy="2967000"/>
            </a:xfrm>
            <a:prstGeom prst="rect">
              <a:avLst/>
            </a:prstGeom>
            <a:noFill/>
            <a:ln>
              <a:noFill/>
            </a:ln>
          </p:spPr>
        </p:pic>
        <p:pic>
          <p:nvPicPr>
            <p:cNvPr id="143" name="Google Shape;143;p16"/>
            <p:cNvPicPr preferRelativeResize="0"/>
            <p:nvPr/>
          </p:nvPicPr>
          <p:blipFill rotWithShape="1">
            <a:blip r:embed="rId6">
              <a:alphaModFix/>
            </a:blip>
            <a:srcRect/>
            <a:stretch/>
          </p:blipFill>
          <p:spPr>
            <a:xfrm>
              <a:off x="2343150" y="1866900"/>
              <a:ext cx="76200" cy="76200"/>
            </a:xfrm>
            <a:prstGeom prst="rect">
              <a:avLst/>
            </a:prstGeom>
            <a:noFill/>
            <a:ln>
              <a:noFill/>
            </a:ln>
          </p:spPr>
        </p:pic>
        <p:pic>
          <p:nvPicPr>
            <p:cNvPr id="144" name="Google Shape;144;p16"/>
            <p:cNvPicPr preferRelativeResize="0"/>
            <p:nvPr/>
          </p:nvPicPr>
          <p:blipFill rotWithShape="1">
            <a:blip r:embed="rId7">
              <a:alphaModFix/>
            </a:blip>
            <a:srcRect/>
            <a:stretch/>
          </p:blipFill>
          <p:spPr>
            <a:xfrm>
              <a:off x="4257675" y="1400175"/>
              <a:ext cx="57300" cy="57300"/>
            </a:xfrm>
            <a:prstGeom prst="rect">
              <a:avLst/>
            </a:prstGeom>
            <a:noFill/>
            <a:ln>
              <a:noFill/>
            </a:ln>
          </p:spPr>
        </p:pic>
        <p:pic>
          <p:nvPicPr>
            <p:cNvPr id="145" name="Google Shape;145;p16"/>
            <p:cNvPicPr preferRelativeResize="0"/>
            <p:nvPr/>
          </p:nvPicPr>
          <p:blipFill rotWithShape="1">
            <a:blip r:embed="rId6">
              <a:alphaModFix/>
            </a:blip>
            <a:srcRect/>
            <a:stretch/>
          </p:blipFill>
          <p:spPr>
            <a:xfrm>
              <a:off x="6153150" y="2819400"/>
              <a:ext cx="76200" cy="76200"/>
            </a:xfrm>
            <a:prstGeom prst="rect">
              <a:avLst/>
            </a:prstGeom>
            <a:noFill/>
            <a:ln>
              <a:noFill/>
            </a:ln>
          </p:spPr>
        </p:pic>
        <p:pic>
          <p:nvPicPr>
            <p:cNvPr id="146" name="Google Shape;146;p16"/>
            <p:cNvPicPr preferRelativeResize="0"/>
            <p:nvPr/>
          </p:nvPicPr>
          <p:blipFill rotWithShape="1">
            <a:blip r:embed="rId7">
              <a:alphaModFix/>
            </a:blip>
            <a:srcRect/>
            <a:stretch/>
          </p:blipFill>
          <p:spPr>
            <a:xfrm>
              <a:off x="2828925" y="2828925"/>
              <a:ext cx="57300" cy="57300"/>
            </a:xfrm>
            <a:prstGeom prst="rect">
              <a:avLst/>
            </a:prstGeom>
            <a:noFill/>
            <a:ln>
              <a:noFill/>
            </a:ln>
          </p:spPr>
        </p:pic>
        <p:pic>
          <p:nvPicPr>
            <p:cNvPr id="147" name="Google Shape;147;p16"/>
            <p:cNvPicPr preferRelativeResize="0"/>
            <p:nvPr/>
          </p:nvPicPr>
          <p:blipFill rotWithShape="1">
            <a:blip r:embed="rId6">
              <a:alphaModFix/>
            </a:blip>
            <a:srcRect/>
            <a:stretch/>
          </p:blipFill>
          <p:spPr>
            <a:xfrm>
              <a:off x="4724400" y="2343150"/>
              <a:ext cx="76200" cy="76200"/>
            </a:xfrm>
            <a:prstGeom prst="rect">
              <a:avLst/>
            </a:prstGeom>
            <a:noFill/>
            <a:ln>
              <a:noFill/>
            </a:ln>
          </p:spPr>
        </p:pic>
      </p:grpSp>
      <p:sp>
        <p:nvSpPr>
          <p:cNvPr id="148" name="Google Shape;148;p16"/>
          <p:cNvSpPr txBox="1"/>
          <p:nvPr/>
        </p:nvSpPr>
        <p:spPr>
          <a:xfrm>
            <a:off x="428625" y="285750"/>
            <a:ext cx="8286900" cy="571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Dataset Overview</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1000" b="0">
                <a:solidFill>
                  <a:srgbClr val="A5F3FC"/>
                </a:solidFill>
                <a:latin typeface="Poppins"/>
                <a:ea typeface="Poppins"/>
                <a:cs typeface="Poppins"/>
                <a:sym typeface="Poppins"/>
              </a:rPr>
              <a:t>The foundation of every successful Deep Learning model is a high-quality dataset.</a:t>
            </a:r>
            <a:endParaRPr sz="1000" b="0">
              <a:solidFill>
                <a:srgbClr val="A5F3FC"/>
              </a:solidFill>
              <a:latin typeface="Poppins"/>
              <a:ea typeface="Poppins"/>
              <a:cs typeface="Poppins"/>
              <a:sym typeface="Poppins"/>
            </a:endParaRPr>
          </a:p>
        </p:txBody>
      </p:sp>
      <p:grpSp>
        <p:nvGrpSpPr>
          <p:cNvPr id="149" name="Google Shape;149;p16"/>
          <p:cNvGrpSpPr/>
          <p:nvPr/>
        </p:nvGrpSpPr>
        <p:grpSpPr>
          <a:xfrm>
            <a:off x="423863" y="995363"/>
            <a:ext cx="2247900" cy="3009900"/>
            <a:chOff x="423863" y="995363"/>
            <a:chExt cx="2247900" cy="3009900"/>
          </a:xfrm>
        </p:grpSpPr>
        <p:pic>
          <p:nvPicPr>
            <p:cNvPr id="150" name="Google Shape;150;p16"/>
            <p:cNvPicPr preferRelativeResize="0"/>
            <p:nvPr/>
          </p:nvPicPr>
          <p:blipFill rotWithShape="1">
            <a:blip r:embed="rId8">
              <a:alphaModFix/>
            </a:blip>
            <a:srcRect/>
            <a:stretch/>
          </p:blipFill>
          <p:spPr>
            <a:xfrm>
              <a:off x="423863" y="995363"/>
              <a:ext cx="2247900" cy="3009900"/>
            </a:xfrm>
            <a:prstGeom prst="rect">
              <a:avLst/>
            </a:prstGeom>
            <a:noFill/>
            <a:ln>
              <a:noFill/>
            </a:ln>
          </p:spPr>
        </p:pic>
        <p:sp>
          <p:nvSpPr>
            <p:cNvPr id="151" name="Google Shape;151;p16"/>
            <p:cNvSpPr txBox="1"/>
            <p:nvPr/>
          </p:nvSpPr>
          <p:spPr>
            <a:xfrm>
              <a:off x="619125" y="1190625"/>
              <a:ext cx="18573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50" b="1">
                  <a:solidFill>
                    <a:srgbClr val="00F2FE"/>
                  </a:solidFill>
                  <a:latin typeface="Poppins"/>
                  <a:ea typeface="Poppins"/>
                  <a:cs typeface="Poppins"/>
                  <a:sym typeface="Poppins"/>
                </a:rPr>
                <a:t>Dataset Information</a:t>
              </a:r>
              <a:endParaRPr sz="1050" b="1">
                <a:solidFill>
                  <a:srgbClr val="00F2FE"/>
                </a:solidFill>
                <a:latin typeface="Poppins"/>
                <a:ea typeface="Poppins"/>
                <a:cs typeface="Poppins"/>
                <a:sym typeface="Poppins"/>
              </a:endParaRPr>
            </a:p>
            <a:p>
              <a:pPr marL="0" lvl="0" indent="0" algn="l" rtl="0">
                <a:spcBef>
                  <a:spcPts val="0"/>
                </a:spcBef>
                <a:spcAft>
                  <a:spcPts val="0"/>
                </a:spcAft>
                <a:buNone/>
              </a:pPr>
              <a:r>
                <a:rPr lang="en-GB" sz="850" b="0">
                  <a:solidFill>
                    <a:srgbClr val="94A3B8"/>
                  </a:solidFill>
                  <a:latin typeface="Poppins"/>
                  <a:ea typeface="Poppins"/>
                  <a:cs typeface="Poppins"/>
                  <a:sym typeface="Poppins"/>
                </a:rPr>
                <a:t>General metadata summary</a:t>
              </a:r>
              <a:endParaRPr sz="850" b="0">
                <a:solidFill>
                  <a:srgbClr val="94A3B8"/>
                </a:solidFill>
                <a:latin typeface="Poppins"/>
                <a:ea typeface="Poppins"/>
                <a:cs typeface="Poppins"/>
                <a:sym typeface="Poppins"/>
              </a:endParaRPr>
            </a:p>
          </p:txBody>
        </p:sp>
        <p:grpSp>
          <p:nvGrpSpPr>
            <p:cNvPr id="152" name="Google Shape;152;p16"/>
            <p:cNvGrpSpPr/>
            <p:nvPr/>
          </p:nvGrpSpPr>
          <p:grpSpPr>
            <a:xfrm>
              <a:off x="619125" y="1762125"/>
              <a:ext cx="1857300" cy="1952700"/>
              <a:chOff x="619125" y="1762125"/>
              <a:chExt cx="1857300" cy="1952700"/>
            </a:xfrm>
          </p:grpSpPr>
          <p:sp>
            <p:nvSpPr>
              <p:cNvPr id="153" name="Google Shape;153;p16"/>
              <p:cNvSpPr/>
              <p:nvPr/>
            </p:nvSpPr>
            <p:spPr>
              <a:xfrm>
                <a:off x="619125" y="1762125"/>
                <a:ext cx="1857300" cy="1952700"/>
              </a:xfrm>
              <a:prstGeom prst="rect">
                <a:avLst/>
              </a:prstGeom>
              <a:solidFill>
                <a:srgbClr val="000000">
                  <a:alpha val="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54" name="Google Shape;154;p16"/>
              <p:cNvSpPr txBox="1"/>
              <p:nvPr/>
            </p:nvSpPr>
            <p:spPr>
              <a:xfrm>
                <a:off x="619125" y="1762125"/>
                <a:ext cx="1857300" cy="1952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0">
                    <a:solidFill>
                      <a:srgbClr val="00F2FE"/>
                    </a:solidFill>
                    <a:latin typeface="Poppins SemiBold"/>
                    <a:ea typeface="Poppins SemiBold"/>
                    <a:cs typeface="Poppins SemiBold"/>
                    <a:sym typeface="Poppins SemiBold"/>
                  </a:rPr>
                  <a:t>Source:</a:t>
                </a:r>
                <a:br>
                  <a:rPr lang="en-GB"/>
                </a:br>
                <a:r>
                  <a:rPr lang="en-GB" sz="850" b="0">
                    <a:solidFill>
                      <a:srgbClr val="E2E8F0"/>
                    </a:solidFill>
                    <a:latin typeface="Poppins"/>
                    <a:ea typeface="Poppins"/>
                    <a:cs typeface="Poppins"/>
                    <a:sym typeface="Poppins"/>
                  </a:rPr>
                  <a:t>Kaggle - Brain Tumor MRI</a:t>
                </a:r>
                <a:endParaRPr/>
              </a:p>
              <a:p>
                <a:pPr marL="0" lvl="0" indent="0" algn="l" rtl="0">
                  <a:spcBef>
                    <a:spcPts val="0"/>
                  </a:spcBef>
                  <a:spcAft>
                    <a:spcPts val="0"/>
                  </a:spcAft>
                  <a:buNone/>
                </a:pPr>
                <a:r>
                  <a:rPr lang="en-GB" sz="850" b="0">
                    <a:solidFill>
                      <a:srgbClr val="00F2FE"/>
                    </a:solidFill>
                    <a:latin typeface="Poppins SemiBold"/>
                    <a:ea typeface="Poppins SemiBold"/>
                    <a:cs typeface="Poppins SemiBold"/>
                    <a:sym typeface="Poppins SemiBold"/>
                  </a:rPr>
                  <a:t>Image Type:</a:t>
                </a:r>
                <a:br>
                  <a:rPr lang="en-GB"/>
                </a:br>
                <a:r>
                  <a:rPr lang="en-GB" sz="850" b="0">
                    <a:solidFill>
                      <a:srgbClr val="E2E8F0"/>
                    </a:solidFill>
                    <a:latin typeface="Poppins"/>
                    <a:ea typeface="Poppins"/>
                    <a:cs typeface="Poppins"/>
                    <a:sym typeface="Poppins"/>
                  </a:rPr>
                  <a:t>Brain MRI Images (2D)</a:t>
                </a:r>
                <a:endParaRPr/>
              </a:p>
              <a:p>
                <a:pPr marL="0" lvl="0" indent="0" algn="l" rtl="0">
                  <a:spcBef>
                    <a:spcPts val="0"/>
                  </a:spcBef>
                  <a:spcAft>
                    <a:spcPts val="0"/>
                  </a:spcAft>
                  <a:buNone/>
                </a:pPr>
                <a:r>
                  <a:rPr lang="en-GB" sz="850" b="0">
                    <a:solidFill>
                      <a:srgbClr val="00F2FE"/>
                    </a:solidFill>
                    <a:latin typeface="Poppins SemiBold"/>
                    <a:ea typeface="Poppins SemiBold"/>
                    <a:cs typeface="Poppins SemiBold"/>
                    <a:sym typeface="Poppins SemiBold"/>
                  </a:rPr>
                  <a:t>Classification Task:</a:t>
                </a:r>
                <a:br>
                  <a:rPr lang="en-GB"/>
                </a:br>
                <a:r>
                  <a:rPr lang="en-GB" sz="850" b="0">
                    <a:solidFill>
                      <a:srgbClr val="E2E8F0"/>
                    </a:solidFill>
                    <a:latin typeface="Poppins"/>
                    <a:ea typeface="Poppins"/>
                    <a:cs typeface="Poppins"/>
                    <a:sym typeface="Poppins"/>
                  </a:rPr>
                  <a:t>Multi-Class Classification</a:t>
                </a:r>
                <a:endParaRPr/>
              </a:p>
              <a:p>
                <a:pPr marL="0" lvl="0" indent="0" algn="l" rtl="0">
                  <a:spcBef>
                    <a:spcPts val="0"/>
                  </a:spcBef>
                  <a:spcAft>
                    <a:spcPts val="0"/>
                  </a:spcAft>
                  <a:buNone/>
                </a:pPr>
                <a:r>
                  <a:rPr lang="en-GB" sz="850" b="0">
                    <a:solidFill>
                      <a:srgbClr val="00F2FE"/>
                    </a:solidFill>
                    <a:latin typeface="Poppins SemiBold"/>
                    <a:ea typeface="Poppins SemiBold"/>
                    <a:cs typeface="Poppins SemiBold"/>
                    <a:sym typeface="Poppins SemiBold"/>
                  </a:rPr>
                  <a:t>Number of Classes:</a:t>
                </a:r>
                <a:br>
                  <a:rPr lang="en-GB"/>
                </a:br>
                <a:r>
                  <a:rPr lang="en-GB" sz="850" b="0">
                    <a:solidFill>
                      <a:srgbClr val="E2E8F0"/>
                    </a:solidFill>
                    <a:latin typeface="Poppins"/>
                    <a:ea typeface="Poppins"/>
                    <a:cs typeface="Poppins"/>
                    <a:sym typeface="Poppins"/>
                  </a:rPr>
                  <a:t>4 Pathological Categories</a:t>
                </a:r>
                <a:endParaRPr/>
              </a:p>
            </p:txBody>
          </p:sp>
        </p:grpSp>
      </p:grpSp>
      <p:grpSp>
        <p:nvGrpSpPr>
          <p:cNvPr id="155" name="Google Shape;155;p16"/>
          <p:cNvGrpSpPr/>
          <p:nvPr/>
        </p:nvGrpSpPr>
        <p:grpSpPr>
          <a:xfrm>
            <a:off x="2805113" y="995363"/>
            <a:ext cx="1838400" cy="1438200"/>
            <a:chOff x="2805113" y="995363"/>
            <a:chExt cx="1838400" cy="1438200"/>
          </a:xfrm>
        </p:grpSpPr>
        <p:pic>
          <p:nvPicPr>
            <p:cNvPr id="156" name="Google Shape;156;p16"/>
            <p:cNvPicPr preferRelativeResize="0"/>
            <p:nvPr/>
          </p:nvPicPr>
          <p:blipFill rotWithShape="1">
            <a:blip r:embed="rId9">
              <a:alphaModFix/>
            </a:blip>
            <a:srcRect/>
            <a:stretch/>
          </p:blipFill>
          <p:spPr>
            <a:xfrm>
              <a:off x="2805113" y="995363"/>
              <a:ext cx="1838400" cy="1438200"/>
            </a:xfrm>
            <a:prstGeom prst="rect">
              <a:avLst/>
            </a:prstGeom>
            <a:noFill/>
            <a:ln>
              <a:noFill/>
            </a:ln>
          </p:spPr>
        </p:pic>
        <p:pic>
          <p:nvPicPr>
            <p:cNvPr id="157" name="Google Shape;157;p16" descr="A realistic dark clinical brain MRI slice showing a clear glioma tumor region, clinical imaging aesthetic, medical diagnostic scan"/>
            <p:cNvPicPr preferRelativeResize="0"/>
            <p:nvPr/>
          </p:nvPicPr>
          <p:blipFill rotWithShape="1">
            <a:blip r:embed="rId10">
              <a:alphaModFix/>
            </a:blip>
            <a:srcRect t="3746" b="3755"/>
            <a:stretch/>
          </p:blipFill>
          <p:spPr>
            <a:xfrm>
              <a:off x="2905125" y="1095375"/>
              <a:ext cx="762000" cy="705000"/>
            </a:xfrm>
            <a:prstGeom prst="roundRect">
              <a:avLst>
                <a:gd name="adj" fmla="val 13513"/>
              </a:avLst>
            </a:prstGeom>
            <a:noFill/>
            <a:ln>
              <a:noFill/>
            </a:ln>
          </p:spPr>
        </p:pic>
        <p:pic>
          <p:nvPicPr>
            <p:cNvPr id="158" name="Google Shape;158;p16"/>
            <p:cNvPicPr preferRelativeResize="0"/>
            <p:nvPr/>
          </p:nvPicPr>
          <p:blipFill rotWithShape="1">
            <a:blip r:embed="rId11">
              <a:alphaModFix/>
            </a:blip>
            <a:srcRect/>
            <a:stretch/>
          </p:blipFill>
          <p:spPr>
            <a:xfrm>
              <a:off x="2900363" y="1090613"/>
              <a:ext cx="771600" cy="714300"/>
            </a:xfrm>
            <a:prstGeom prst="rect">
              <a:avLst/>
            </a:prstGeom>
            <a:noFill/>
            <a:ln>
              <a:noFill/>
            </a:ln>
          </p:spPr>
        </p:pic>
        <p:sp>
          <p:nvSpPr>
            <p:cNvPr id="159" name="Google Shape;159;p16"/>
            <p:cNvSpPr txBox="1"/>
            <p:nvPr/>
          </p:nvSpPr>
          <p:spPr>
            <a:xfrm>
              <a:off x="3762375" y="1095375"/>
              <a:ext cx="781200" cy="705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79" b="1">
                  <a:solidFill>
                    <a:srgbClr val="FFFFFF"/>
                  </a:solidFill>
                  <a:latin typeface="Poppins"/>
                  <a:ea typeface="Poppins"/>
                  <a:cs typeface="Poppins"/>
                  <a:sym typeface="Poppins"/>
                </a:rPr>
                <a:t>Glioma</a:t>
              </a:r>
              <a:endParaRPr sz="879" b="1">
                <a:solidFill>
                  <a:srgbClr val="FFFFFF"/>
                </a:solidFill>
                <a:latin typeface="Poppins"/>
                <a:ea typeface="Poppins"/>
                <a:cs typeface="Poppins"/>
                <a:sym typeface="Poppins"/>
              </a:endParaRPr>
            </a:p>
          </p:txBody>
        </p:sp>
        <p:sp>
          <p:nvSpPr>
            <p:cNvPr id="160" name="Google Shape;160;p16"/>
            <p:cNvSpPr txBox="1"/>
            <p:nvPr/>
          </p:nvSpPr>
          <p:spPr>
            <a:xfrm>
              <a:off x="2905125" y="1876425"/>
              <a:ext cx="16383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0">
                  <a:solidFill>
                    <a:srgbClr val="94A3B8"/>
                  </a:solidFill>
                  <a:latin typeface="Poppins"/>
                  <a:ea typeface="Poppins"/>
                  <a:cs typeface="Poppins"/>
                  <a:sym typeface="Poppins"/>
                </a:rPr>
                <a:t>A tumor that originates in the brain's glial cells, supporting neuronal function.</a:t>
              </a:r>
              <a:endParaRPr sz="750" b="0">
                <a:solidFill>
                  <a:srgbClr val="94A3B8"/>
                </a:solidFill>
                <a:latin typeface="Poppins"/>
                <a:ea typeface="Poppins"/>
                <a:cs typeface="Poppins"/>
                <a:sym typeface="Poppins"/>
              </a:endParaRPr>
            </a:p>
          </p:txBody>
        </p:sp>
      </p:grpSp>
      <p:grpSp>
        <p:nvGrpSpPr>
          <p:cNvPr id="161" name="Google Shape;161;p16"/>
          <p:cNvGrpSpPr/>
          <p:nvPr/>
        </p:nvGrpSpPr>
        <p:grpSpPr>
          <a:xfrm>
            <a:off x="4776788" y="995363"/>
            <a:ext cx="1838400" cy="1438200"/>
            <a:chOff x="4776788" y="995363"/>
            <a:chExt cx="1838400" cy="1438200"/>
          </a:xfrm>
        </p:grpSpPr>
        <p:pic>
          <p:nvPicPr>
            <p:cNvPr id="162" name="Google Shape;162;p16"/>
            <p:cNvPicPr preferRelativeResize="0"/>
            <p:nvPr/>
          </p:nvPicPr>
          <p:blipFill rotWithShape="1">
            <a:blip r:embed="rId12">
              <a:alphaModFix/>
            </a:blip>
            <a:srcRect/>
            <a:stretch/>
          </p:blipFill>
          <p:spPr>
            <a:xfrm>
              <a:off x="4776788" y="995363"/>
              <a:ext cx="1838400" cy="1438200"/>
            </a:xfrm>
            <a:prstGeom prst="rect">
              <a:avLst/>
            </a:prstGeom>
            <a:noFill/>
            <a:ln>
              <a:noFill/>
            </a:ln>
          </p:spPr>
        </p:pic>
        <p:pic>
          <p:nvPicPr>
            <p:cNvPr id="163" name="Google Shape;163;p16" descr="A realistic dark clinical brain MRI slice showing a meningioma tumor on the outer brain edge, medical diagnostic scan"/>
            <p:cNvPicPr preferRelativeResize="0"/>
            <p:nvPr/>
          </p:nvPicPr>
          <p:blipFill rotWithShape="1">
            <a:blip r:embed="rId13">
              <a:alphaModFix/>
            </a:blip>
            <a:srcRect t="3746" b="3755"/>
            <a:stretch/>
          </p:blipFill>
          <p:spPr>
            <a:xfrm>
              <a:off x="4876800" y="1095375"/>
              <a:ext cx="762000" cy="705000"/>
            </a:xfrm>
            <a:prstGeom prst="roundRect">
              <a:avLst>
                <a:gd name="adj" fmla="val 13513"/>
              </a:avLst>
            </a:prstGeom>
            <a:noFill/>
            <a:ln>
              <a:noFill/>
            </a:ln>
          </p:spPr>
        </p:pic>
        <p:pic>
          <p:nvPicPr>
            <p:cNvPr id="164" name="Google Shape;164;p16"/>
            <p:cNvPicPr preferRelativeResize="0"/>
            <p:nvPr/>
          </p:nvPicPr>
          <p:blipFill rotWithShape="1">
            <a:blip r:embed="rId11">
              <a:alphaModFix/>
            </a:blip>
            <a:srcRect/>
            <a:stretch/>
          </p:blipFill>
          <p:spPr>
            <a:xfrm>
              <a:off x="4872038" y="1090613"/>
              <a:ext cx="771600" cy="714300"/>
            </a:xfrm>
            <a:prstGeom prst="rect">
              <a:avLst/>
            </a:prstGeom>
            <a:noFill/>
            <a:ln>
              <a:noFill/>
            </a:ln>
          </p:spPr>
        </p:pic>
        <p:sp>
          <p:nvSpPr>
            <p:cNvPr id="165" name="Google Shape;165;p16"/>
            <p:cNvSpPr txBox="1"/>
            <p:nvPr/>
          </p:nvSpPr>
          <p:spPr>
            <a:xfrm>
              <a:off x="5734050" y="1095375"/>
              <a:ext cx="781200" cy="705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79" b="1">
                  <a:solidFill>
                    <a:srgbClr val="FFFFFF"/>
                  </a:solidFill>
                  <a:latin typeface="Poppins"/>
                  <a:ea typeface="Poppins"/>
                  <a:cs typeface="Poppins"/>
                  <a:sym typeface="Poppins"/>
                </a:rPr>
                <a:t>Meningioma</a:t>
              </a:r>
              <a:endParaRPr sz="879" b="1">
                <a:solidFill>
                  <a:srgbClr val="FFFFFF"/>
                </a:solidFill>
                <a:latin typeface="Poppins"/>
                <a:ea typeface="Poppins"/>
                <a:cs typeface="Poppins"/>
                <a:sym typeface="Poppins"/>
              </a:endParaRPr>
            </a:p>
          </p:txBody>
        </p:sp>
        <p:sp>
          <p:nvSpPr>
            <p:cNvPr id="166" name="Google Shape;166;p16"/>
            <p:cNvSpPr txBox="1"/>
            <p:nvPr/>
          </p:nvSpPr>
          <p:spPr>
            <a:xfrm>
              <a:off x="4876800" y="1876425"/>
              <a:ext cx="16383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0">
                  <a:solidFill>
                    <a:srgbClr val="94A3B8"/>
                  </a:solidFill>
                  <a:latin typeface="Poppins"/>
                  <a:ea typeface="Poppins"/>
                  <a:cs typeface="Poppins"/>
                  <a:sym typeface="Poppins"/>
                </a:rPr>
                <a:t>A tumor that develops in the protective meninges membranes surrounding the brain.</a:t>
              </a:r>
              <a:endParaRPr sz="750" b="0">
                <a:solidFill>
                  <a:srgbClr val="94A3B8"/>
                </a:solidFill>
                <a:latin typeface="Poppins"/>
                <a:ea typeface="Poppins"/>
                <a:cs typeface="Poppins"/>
                <a:sym typeface="Poppins"/>
              </a:endParaRPr>
            </a:p>
          </p:txBody>
        </p:sp>
      </p:grpSp>
      <p:grpSp>
        <p:nvGrpSpPr>
          <p:cNvPr id="167" name="Google Shape;167;p16"/>
          <p:cNvGrpSpPr/>
          <p:nvPr/>
        </p:nvGrpSpPr>
        <p:grpSpPr>
          <a:xfrm>
            <a:off x="2805113" y="2566988"/>
            <a:ext cx="1838400" cy="1438200"/>
            <a:chOff x="2805113" y="2566988"/>
            <a:chExt cx="1838400" cy="1438200"/>
          </a:xfrm>
        </p:grpSpPr>
        <p:pic>
          <p:nvPicPr>
            <p:cNvPr id="168" name="Google Shape;168;p16"/>
            <p:cNvPicPr preferRelativeResize="0"/>
            <p:nvPr/>
          </p:nvPicPr>
          <p:blipFill rotWithShape="1">
            <a:blip r:embed="rId14">
              <a:alphaModFix/>
            </a:blip>
            <a:srcRect/>
            <a:stretch/>
          </p:blipFill>
          <p:spPr>
            <a:xfrm>
              <a:off x="2805113" y="2566988"/>
              <a:ext cx="1838400" cy="1438200"/>
            </a:xfrm>
            <a:prstGeom prst="rect">
              <a:avLst/>
            </a:prstGeom>
            <a:noFill/>
            <a:ln>
              <a:noFill/>
            </a:ln>
          </p:spPr>
        </p:pic>
        <p:pic>
          <p:nvPicPr>
            <p:cNvPr id="169" name="Google Shape;169;p16" descr="A realistic dark clinical brain MRI scan highlighting a pituitary tumor at the skull base, medical diagnostic scan"/>
            <p:cNvPicPr preferRelativeResize="0"/>
            <p:nvPr/>
          </p:nvPicPr>
          <p:blipFill rotWithShape="1">
            <a:blip r:embed="rId15">
              <a:alphaModFix/>
            </a:blip>
            <a:srcRect t="3746" b="3755"/>
            <a:stretch/>
          </p:blipFill>
          <p:spPr>
            <a:xfrm>
              <a:off x="2905125" y="2667000"/>
              <a:ext cx="762000" cy="705000"/>
            </a:xfrm>
            <a:prstGeom prst="roundRect">
              <a:avLst>
                <a:gd name="adj" fmla="val 13513"/>
              </a:avLst>
            </a:prstGeom>
            <a:noFill/>
            <a:ln>
              <a:noFill/>
            </a:ln>
          </p:spPr>
        </p:pic>
        <p:pic>
          <p:nvPicPr>
            <p:cNvPr id="170" name="Google Shape;170;p16"/>
            <p:cNvPicPr preferRelativeResize="0"/>
            <p:nvPr/>
          </p:nvPicPr>
          <p:blipFill rotWithShape="1">
            <a:blip r:embed="rId11">
              <a:alphaModFix/>
            </a:blip>
            <a:srcRect/>
            <a:stretch/>
          </p:blipFill>
          <p:spPr>
            <a:xfrm>
              <a:off x="2900363" y="2662238"/>
              <a:ext cx="771600" cy="714300"/>
            </a:xfrm>
            <a:prstGeom prst="rect">
              <a:avLst/>
            </a:prstGeom>
            <a:noFill/>
            <a:ln>
              <a:noFill/>
            </a:ln>
          </p:spPr>
        </p:pic>
        <p:sp>
          <p:nvSpPr>
            <p:cNvPr id="171" name="Google Shape;171;p16"/>
            <p:cNvSpPr txBox="1"/>
            <p:nvPr/>
          </p:nvSpPr>
          <p:spPr>
            <a:xfrm>
              <a:off x="3762375" y="2667000"/>
              <a:ext cx="781200" cy="705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79" b="1">
                  <a:solidFill>
                    <a:srgbClr val="FFFFFF"/>
                  </a:solidFill>
                  <a:latin typeface="Poppins"/>
                  <a:ea typeface="Poppins"/>
                  <a:cs typeface="Poppins"/>
                  <a:sym typeface="Poppins"/>
                </a:rPr>
                <a:t>Pituitary</a:t>
              </a:r>
              <a:endParaRPr sz="879" b="1">
                <a:solidFill>
                  <a:srgbClr val="FFFFFF"/>
                </a:solidFill>
                <a:latin typeface="Poppins"/>
                <a:ea typeface="Poppins"/>
                <a:cs typeface="Poppins"/>
                <a:sym typeface="Poppins"/>
              </a:endParaRPr>
            </a:p>
          </p:txBody>
        </p:sp>
        <p:sp>
          <p:nvSpPr>
            <p:cNvPr id="172" name="Google Shape;172;p16"/>
            <p:cNvSpPr txBox="1"/>
            <p:nvPr/>
          </p:nvSpPr>
          <p:spPr>
            <a:xfrm>
              <a:off x="2905125" y="3448050"/>
              <a:ext cx="16383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0">
                  <a:solidFill>
                    <a:srgbClr val="94A3B8"/>
                  </a:solidFill>
                  <a:latin typeface="Poppins"/>
                  <a:ea typeface="Poppins"/>
                  <a:cs typeface="Poppins"/>
                  <a:sym typeface="Poppins"/>
                </a:rPr>
                <a:t>A tumor affecting the critical pituitary gland at the central base of the brain.</a:t>
              </a:r>
              <a:endParaRPr sz="750" b="0">
                <a:solidFill>
                  <a:srgbClr val="94A3B8"/>
                </a:solidFill>
                <a:latin typeface="Poppins"/>
                <a:ea typeface="Poppins"/>
                <a:cs typeface="Poppins"/>
                <a:sym typeface="Poppins"/>
              </a:endParaRPr>
            </a:p>
          </p:txBody>
        </p:sp>
      </p:grpSp>
      <p:grpSp>
        <p:nvGrpSpPr>
          <p:cNvPr id="173" name="Google Shape;173;p16"/>
          <p:cNvGrpSpPr/>
          <p:nvPr/>
        </p:nvGrpSpPr>
        <p:grpSpPr>
          <a:xfrm>
            <a:off x="4776788" y="2566988"/>
            <a:ext cx="1838400" cy="1438200"/>
            <a:chOff x="4776788" y="2566988"/>
            <a:chExt cx="1838400" cy="1438200"/>
          </a:xfrm>
        </p:grpSpPr>
        <p:pic>
          <p:nvPicPr>
            <p:cNvPr id="174" name="Google Shape;174;p16"/>
            <p:cNvPicPr preferRelativeResize="0"/>
            <p:nvPr/>
          </p:nvPicPr>
          <p:blipFill rotWithShape="1">
            <a:blip r:embed="rId12">
              <a:alphaModFix/>
            </a:blip>
            <a:srcRect/>
            <a:stretch/>
          </p:blipFill>
          <p:spPr>
            <a:xfrm>
              <a:off x="4776788" y="2566988"/>
              <a:ext cx="1838400" cy="1438200"/>
            </a:xfrm>
            <a:prstGeom prst="rect">
              <a:avLst/>
            </a:prstGeom>
            <a:noFill/>
            <a:ln>
              <a:noFill/>
            </a:ln>
          </p:spPr>
        </p:pic>
        <p:pic>
          <p:nvPicPr>
            <p:cNvPr id="175" name="Google Shape;175;p16" descr="A realistic dark clinical brain MRI slice showing a healthy clean brain with no tumors, perfectly normal anatomy, medical diagnostic scan"/>
            <p:cNvPicPr preferRelativeResize="0"/>
            <p:nvPr/>
          </p:nvPicPr>
          <p:blipFill rotWithShape="1">
            <a:blip r:embed="rId16">
              <a:alphaModFix/>
            </a:blip>
            <a:srcRect t="3746" b="3755"/>
            <a:stretch/>
          </p:blipFill>
          <p:spPr>
            <a:xfrm>
              <a:off x="4876800" y="2667000"/>
              <a:ext cx="762000" cy="705000"/>
            </a:xfrm>
            <a:prstGeom prst="roundRect">
              <a:avLst>
                <a:gd name="adj" fmla="val 13513"/>
              </a:avLst>
            </a:prstGeom>
            <a:noFill/>
            <a:ln>
              <a:noFill/>
            </a:ln>
          </p:spPr>
        </p:pic>
        <p:pic>
          <p:nvPicPr>
            <p:cNvPr id="176" name="Google Shape;176;p16"/>
            <p:cNvPicPr preferRelativeResize="0"/>
            <p:nvPr/>
          </p:nvPicPr>
          <p:blipFill rotWithShape="1">
            <a:blip r:embed="rId11">
              <a:alphaModFix/>
            </a:blip>
            <a:srcRect/>
            <a:stretch/>
          </p:blipFill>
          <p:spPr>
            <a:xfrm>
              <a:off x="4872038" y="2662238"/>
              <a:ext cx="771600" cy="714300"/>
            </a:xfrm>
            <a:prstGeom prst="rect">
              <a:avLst/>
            </a:prstGeom>
            <a:noFill/>
            <a:ln>
              <a:noFill/>
            </a:ln>
          </p:spPr>
        </p:pic>
        <p:sp>
          <p:nvSpPr>
            <p:cNvPr id="177" name="Google Shape;177;p16"/>
            <p:cNvSpPr txBox="1"/>
            <p:nvPr/>
          </p:nvSpPr>
          <p:spPr>
            <a:xfrm>
              <a:off x="5734050" y="2667000"/>
              <a:ext cx="781200" cy="705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79" b="1">
                  <a:solidFill>
                    <a:srgbClr val="FFFFFF"/>
                  </a:solidFill>
                  <a:latin typeface="Poppins"/>
                  <a:ea typeface="Poppins"/>
                  <a:cs typeface="Poppins"/>
                  <a:sym typeface="Poppins"/>
                </a:rPr>
                <a:t>No Tumor</a:t>
              </a:r>
              <a:endParaRPr sz="879" b="1">
                <a:solidFill>
                  <a:srgbClr val="FFFFFF"/>
                </a:solidFill>
                <a:latin typeface="Poppins"/>
                <a:ea typeface="Poppins"/>
                <a:cs typeface="Poppins"/>
                <a:sym typeface="Poppins"/>
              </a:endParaRPr>
            </a:p>
          </p:txBody>
        </p:sp>
        <p:sp>
          <p:nvSpPr>
            <p:cNvPr id="178" name="Google Shape;178;p16"/>
            <p:cNvSpPr txBox="1"/>
            <p:nvPr/>
          </p:nvSpPr>
          <p:spPr>
            <a:xfrm>
              <a:off x="4876800" y="3448050"/>
              <a:ext cx="16383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0">
                  <a:solidFill>
                    <a:srgbClr val="94A3B8"/>
                  </a:solidFill>
                  <a:latin typeface="Poppins"/>
                  <a:ea typeface="Poppins"/>
                  <a:cs typeface="Poppins"/>
                  <a:sym typeface="Poppins"/>
                </a:rPr>
                <a:t>A healthy brain MRI scan with no visible pathology or structural anomalies.</a:t>
              </a:r>
              <a:endParaRPr sz="750" b="0">
                <a:solidFill>
                  <a:srgbClr val="94A3B8"/>
                </a:solidFill>
                <a:latin typeface="Poppins"/>
                <a:ea typeface="Poppins"/>
                <a:cs typeface="Poppins"/>
                <a:sym typeface="Poppins"/>
              </a:endParaRPr>
            </a:p>
          </p:txBody>
        </p:sp>
      </p:grpSp>
      <p:grpSp>
        <p:nvGrpSpPr>
          <p:cNvPr id="179" name="Google Shape;179;p16"/>
          <p:cNvGrpSpPr/>
          <p:nvPr/>
        </p:nvGrpSpPr>
        <p:grpSpPr>
          <a:xfrm>
            <a:off x="6757988" y="995363"/>
            <a:ext cx="1962300" cy="3009900"/>
            <a:chOff x="6757988" y="995363"/>
            <a:chExt cx="1962300" cy="3009900"/>
          </a:xfrm>
        </p:grpSpPr>
        <p:pic>
          <p:nvPicPr>
            <p:cNvPr id="180" name="Google Shape;180;p16"/>
            <p:cNvPicPr preferRelativeResize="0"/>
            <p:nvPr/>
          </p:nvPicPr>
          <p:blipFill rotWithShape="1">
            <a:blip r:embed="rId17">
              <a:alphaModFix/>
            </a:blip>
            <a:srcRect/>
            <a:stretch/>
          </p:blipFill>
          <p:spPr>
            <a:xfrm>
              <a:off x="6757988" y="995363"/>
              <a:ext cx="1962300" cy="3009900"/>
            </a:xfrm>
            <a:prstGeom prst="rect">
              <a:avLst/>
            </a:prstGeom>
            <a:noFill/>
            <a:ln>
              <a:noFill/>
            </a:ln>
          </p:spPr>
        </p:pic>
        <p:grpSp>
          <p:nvGrpSpPr>
            <p:cNvPr id="181" name="Google Shape;181;p16"/>
            <p:cNvGrpSpPr/>
            <p:nvPr/>
          </p:nvGrpSpPr>
          <p:grpSpPr>
            <a:xfrm>
              <a:off x="7019925" y="1352550"/>
              <a:ext cx="333375" cy="2190750"/>
              <a:chOff x="7019925" y="1352550"/>
              <a:chExt cx="333375" cy="2190750"/>
            </a:xfrm>
          </p:grpSpPr>
          <p:pic>
            <p:nvPicPr>
              <p:cNvPr id="182" name="Google Shape;182;p16"/>
              <p:cNvPicPr preferRelativeResize="0"/>
              <p:nvPr/>
            </p:nvPicPr>
            <p:blipFill rotWithShape="1">
              <a:blip r:embed="rId18">
                <a:alphaModFix/>
              </a:blip>
              <a:srcRect/>
              <a:stretch/>
            </p:blipFill>
            <p:spPr>
              <a:xfrm>
                <a:off x="7048500" y="1371600"/>
                <a:ext cx="285900" cy="2162100"/>
              </a:xfrm>
              <a:prstGeom prst="rect">
                <a:avLst/>
              </a:prstGeom>
              <a:noFill/>
              <a:ln>
                <a:noFill/>
              </a:ln>
            </p:spPr>
          </p:pic>
          <p:pic>
            <p:nvPicPr>
              <p:cNvPr id="183" name="Google Shape;183;p16"/>
              <p:cNvPicPr preferRelativeResize="0"/>
              <p:nvPr/>
            </p:nvPicPr>
            <p:blipFill rotWithShape="1">
              <a:blip r:embed="rId19">
                <a:alphaModFix/>
              </a:blip>
              <a:srcRect/>
              <a:stretch/>
            </p:blipFill>
            <p:spPr>
              <a:xfrm>
                <a:off x="7019925" y="1352550"/>
                <a:ext cx="57300" cy="57300"/>
              </a:xfrm>
              <a:prstGeom prst="rect">
                <a:avLst/>
              </a:prstGeom>
              <a:noFill/>
              <a:ln>
                <a:noFill/>
              </a:ln>
            </p:spPr>
          </p:pic>
          <p:pic>
            <p:nvPicPr>
              <p:cNvPr id="184" name="Google Shape;184;p16"/>
              <p:cNvPicPr preferRelativeResize="0"/>
              <p:nvPr/>
            </p:nvPicPr>
            <p:blipFill rotWithShape="1">
              <a:blip r:embed="rId19">
                <a:alphaModFix/>
              </a:blip>
              <a:srcRect/>
              <a:stretch/>
            </p:blipFill>
            <p:spPr>
              <a:xfrm>
                <a:off x="7019925" y="2638425"/>
                <a:ext cx="57300" cy="57300"/>
              </a:xfrm>
              <a:prstGeom prst="rect">
                <a:avLst/>
              </a:prstGeom>
              <a:noFill/>
              <a:ln>
                <a:noFill/>
              </a:ln>
            </p:spPr>
          </p:pic>
          <p:pic>
            <p:nvPicPr>
              <p:cNvPr id="185" name="Google Shape;185;p16"/>
              <p:cNvPicPr preferRelativeResize="0"/>
              <p:nvPr/>
            </p:nvPicPr>
            <p:blipFill rotWithShape="1">
              <a:blip r:embed="rId20">
                <a:alphaModFix/>
              </a:blip>
              <a:srcRect/>
              <a:stretch/>
            </p:blipFill>
            <p:spPr>
              <a:xfrm>
                <a:off x="7315200" y="1790700"/>
                <a:ext cx="38100" cy="38100"/>
              </a:xfrm>
              <a:prstGeom prst="rect">
                <a:avLst/>
              </a:prstGeom>
              <a:noFill/>
              <a:ln>
                <a:noFill/>
              </a:ln>
            </p:spPr>
          </p:pic>
          <p:pic>
            <p:nvPicPr>
              <p:cNvPr id="186" name="Google Shape;186;p16"/>
              <p:cNvPicPr preferRelativeResize="0"/>
              <p:nvPr/>
            </p:nvPicPr>
            <p:blipFill rotWithShape="1">
              <a:blip r:embed="rId20">
                <a:alphaModFix/>
              </a:blip>
              <a:srcRect/>
              <a:stretch/>
            </p:blipFill>
            <p:spPr>
              <a:xfrm>
                <a:off x="7315200" y="1933575"/>
                <a:ext cx="38100" cy="38100"/>
              </a:xfrm>
              <a:prstGeom prst="rect">
                <a:avLst/>
              </a:prstGeom>
              <a:noFill/>
              <a:ln>
                <a:noFill/>
              </a:ln>
            </p:spPr>
          </p:pic>
          <p:pic>
            <p:nvPicPr>
              <p:cNvPr id="187" name="Google Shape;187;p16"/>
              <p:cNvPicPr preferRelativeResize="0"/>
              <p:nvPr/>
            </p:nvPicPr>
            <p:blipFill rotWithShape="1">
              <a:blip r:embed="rId20">
                <a:alphaModFix/>
              </a:blip>
              <a:srcRect/>
              <a:stretch/>
            </p:blipFill>
            <p:spPr>
              <a:xfrm>
                <a:off x="7315200" y="2076450"/>
                <a:ext cx="38100" cy="38100"/>
              </a:xfrm>
              <a:prstGeom prst="rect">
                <a:avLst/>
              </a:prstGeom>
              <a:noFill/>
              <a:ln>
                <a:noFill/>
              </a:ln>
            </p:spPr>
          </p:pic>
          <p:pic>
            <p:nvPicPr>
              <p:cNvPr id="188" name="Google Shape;188;p16"/>
              <p:cNvPicPr preferRelativeResize="0"/>
              <p:nvPr/>
            </p:nvPicPr>
            <p:blipFill rotWithShape="1">
              <a:blip r:embed="rId20">
                <a:alphaModFix/>
              </a:blip>
              <a:srcRect/>
              <a:stretch/>
            </p:blipFill>
            <p:spPr>
              <a:xfrm>
                <a:off x="7315200" y="2219325"/>
                <a:ext cx="38100" cy="38100"/>
              </a:xfrm>
              <a:prstGeom prst="rect">
                <a:avLst/>
              </a:prstGeom>
              <a:noFill/>
              <a:ln>
                <a:noFill/>
              </a:ln>
            </p:spPr>
          </p:pic>
          <p:pic>
            <p:nvPicPr>
              <p:cNvPr id="189" name="Google Shape;189;p16"/>
              <p:cNvPicPr preferRelativeResize="0"/>
              <p:nvPr/>
            </p:nvPicPr>
            <p:blipFill rotWithShape="1">
              <a:blip r:embed="rId20">
                <a:alphaModFix/>
              </a:blip>
              <a:srcRect/>
              <a:stretch/>
            </p:blipFill>
            <p:spPr>
              <a:xfrm>
                <a:off x="7315200" y="3076575"/>
                <a:ext cx="38100" cy="38100"/>
              </a:xfrm>
              <a:prstGeom prst="rect">
                <a:avLst/>
              </a:prstGeom>
              <a:noFill/>
              <a:ln>
                <a:noFill/>
              </a:ln>
            </p:spPr>
          </p:pic>
          <p:pic>
            <p:nvPicPr>
              <p:cNvPr id="190" name="Google Shape;190;p16"/>
              <p:cNvPicPr preferRelativeResize="0"/>
              <p:nvPr/>
            </p:nvPicPr>
            <p:blipFill rotWithShape="1">
              <a:blip r:embed="rId20">
                <a:alphaModFix/>
              </a:blip>
              <a:srcRect/>
              <a:stretch/>
            </p:blipFill>
            <p:spPr>
              <a:xfrm>
                <a:off x="7315200" y="3219450"/>
                <a:ext cx="38100" cy="38100"/>
              </a:xfrm>
              <a:prstGeom prst="rect">
                <a:avLst/>
              </a:prstGeom>
              <a:noFill/>
              <a:ln>
                <a:noFill/>
              </a:ln>
            </p:spPr>
          </p:pic>
          <p:pic>
            <p:nvPicPr>
              <p:cNvPr id="191" name="Google Shape;191;p16"/>
              <p:cNvPicPr preferRelativeResize="0"/>
              <p:nvPr/>
            </p:nvPicPr>
            <p:blipFill rotWithShape="1">
              <a:blip r:embed="rId20">
                <a:alphaModFix/>
              </a:blip>
              <a:srcRect/>
              <a:stretch/>
            </p:blipFill>
            <p:spPr>
              <a:xfrm>
                <a:off x="7315200" y="3362325"/>
                <a:ext cx="38100" cy="38100"/>
              </a:xfrm>
              <a:prstGeom prst="rect">
                <a:avLst/>
              </a:prstGeom>
              <a:noFill/>
              <a:ln>
                <a:noFill/>
              </a:ln>
            </p:spPr>
          </p:pic>
          <p:pic>
            <p:nvPicPr>
              <p:cNvPr id="192" name="Google Shape;192;p16"/>
              <p:cNvPicPr preferRelativeResize="0"/>
              <p:nvPr/>
            </p:nvPicPr>
            <p:blipFill rotWithShape="1">
              <a:blip r:embed="rId20">
                <a:alphaModFix/>
              </a:blip>
              <a:srcRect/>
              <a:stretch/>
            </p:blipFill>
            <p:spPr>
              <a:xfrm>
                <a:off x="7315200" y="3505200"/>
                <a:ext cx="38100" cy="38100"/>
              </a:xfrm>
              <a:prstGeom prst="rect">
                <a:avLst/>
              </a:prstGeom>
              <a:noFill/>
              <a:ln>
                <a:noFill/>
              </a:ln>
            </p:spPr>
          </p:pic>
        </p:grpSp>
        <p:sp>
          <p:nvSpPr>
            <p:cNvPr id="193" name="Google Shape;193;p16"/>
            <p:cNvSpPr txBox="1"/>
            <p:nvPr/>
          </p:nvSpPr>
          <p:spPr>
            <a:xfrm>
              <a:off x="6905625" y="1143000"/>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00F2FE"/>
                  </a:solidFill>
                  <a:latin typeface="Poppins"/>
                  <a:ea typeface="Poppins"/>
                  <a:cs typeface="Poppins"/>
                  <a:sym typeface="Poppins"/>
                </a:rPr>
                <a:t>📁 Dataset</a:t>
              </a:r>
              <a:endParaRPr sz="850" b="1">
                <a:solidFill>
                  <a:srgbClr val="00F2FE"/>
                </a:solidFill>
                <a:latin typeface="Poppins"/>
                <a:ea typeface="Poppins"/>
                <a:cs typeface="Poppins"/>
                <a:sym typeface="Poppins"/>
              </a:endParaRPr>
            </a:p>
          </p:txBody>
        </p:sp>
        <p:sp>
          <p:nvSpPr>
            <p:cNvPr id="194" name="Google Shape;194;p16"/>
            <p:cNvSpPr txBox="1"/>
            <p:nvPr/>
          </p:nvSpPr>
          <p:spPr>
            <a:xfrm>
              <a:off x="7143750" y="1285875"/>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0">
                  <a:solidFill>
                    <a:srgbClr val="00F2FE"/>
                  </a:solidFill>
                  <a:latin typeface="Poppins Medium"/>
                  <a:ea typeface="Poppins Medium"/>
                  <a:cs typeface="Poppins Medium"/>
                  <a:sym typeface="Poppins Medium"/>
                </a:rPr>
                <a:t>📁 Training</a:t>
              </a:r>
              <a:endParaRPr sz="800" b="0">
                <a:solidFill>
                  <a:srgbClr val="00F2FE"/>
                </a:solidFill>
                <a:latin typeface="Poppins Medium"/>
                <a:ea typeface="Poppins Medium"/>
                <a:cs typeface="Poppins Medium"/>
                <a:sym typeface="Poppins Medium"/>
              </a:endParaRPr>
            </a:p>
          </p:txBody>
        </p:sp>
        <p:sp>
          <p:nvSpPr>
            <p:cNvPr id="195" name="Google Shape;195;p16"/>
            <p:cNvSpPr txBox="1"/>
            <p:nvPr/>
          </p:nvSpPr>
          <p:spPr>
            <a:xfrm>
              <a:off x="7429500" y="1714500"/>
              <a:ext cx="11430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Glioma</a:t>
              </a:r>
              <a:endParaRPr sz="80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Meningioma</a:t>
              </a:r>
              <a:endParaRPr sz="80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Pituitary</a:t>
              </a:r>
              <a:endParaRPr sz="80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No Tumor</a:t>
              </a:r>
              <a:endParaRPr sz="800" b="0">
                <a:solidFill>
                  <a:srgbClr val="E2E8F0"/>
                </a:solidFill>
                <a:latin typeface="Poppins Medium"/>
                <a:ea typeface="Poppins Medium"/>
                <a:cs typeface="Poppins Medium"/>
                <a:sym typeface="Poppins Medium"/>
              </a:endParaRPr>
            </a:p>
          </p:txBody>
        </p:sp>
        <p:sp>
          <p:nvSpPr>
            <p:cNvPr id="196" name="Google Shape;196;p16"/>
            <p:cNvSpPr txBox="1"/>
            <p:nvPr/>
          </p:nvSpPr>
          <p:spPr>
            <a:xfrm>
              <a:off x="7143750" y="2571750"/>
              <a:ext cx="1143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0">
                  <a:solidFill>
                    <a:srgbClr val="00F2FE"/>
                  </a:solidFill>
                  <a:latin typeface="Poppins Medium"/>
                  <a:ea typeface="Poppins Medium"/>
                  <a:cs typeface="Poppins Medium"/>
                  <a:sym typeface="Poppins Medium"/>
                </a:rPr>
                <a:t>📁 Testing</a:t>
              </a:r>
              <a:endParaRPr sz="800" b="0">
                <a:solidFill>
                  <a:srgbClr val="00F2FE"/>
                </a:solidFill>
                <a:latin typeface="Poppins Medium"/>
                <a:ea typeface="Poppins Medium"/>
                <a:cs typeface="Poppins Medium"/>
                <a:sym typeface="Poppins Medium"/>
              </a:endParaRPr>
            </a:p>
          </p:txBody>
        </p:sp>
        <p:sp>
          <p:nvSpPr>
            <p:cNvPr id="197" name="Google Shape;197;p16"/>
            <p:cNvSpPr txBox="1"/>
            <p:nvPr/>
          </p:nvSpPr>
          <p:spPr>
            <a:xfrm>
              <a:off x="7429500" y="3000375"/>
              <a:ext cx="11430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Glioma</a:t>
              </a:r>
              <a:endParaRPr sz="80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Meningioma</a:t>
              </a:r>
              <a:endParaRPr sz="80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Pituitary</a:t>
              </a:r>
              <a:endParaRPr sz="80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800" b="0">
                  <a:solidFill>
                    <a:srgbClr val="E2E8F0"/>
                  </a:solidFill>
                  <a:latin typeface="Poppins Medium"/>
                  <a:ea typeface="Poppins Medium"/>
                  <a:cs typeface="Poppins Medium"/>
                  <a:sym typeface="Poppins Medium"/>
                </a:rPr>
                <a:t>📄 No Tumor</a:t>
              </a:r>
              <a:endParaRPr sz="800" b="0">
                <a:solidFill>
                  <a:srgbClr val="E2E8F0"/>
                </a:solidFill>
                <a:latin typeface="Poppins Medium"/>
                <a:ea typeface="Poppins Medium"/>
                <a:cs typeface="Poppins Medium"/>
                <a:sym typeface="Poppins Medium"/>
              </a:endParaRPr>
            </a:p>
          </p:txBody>
        </p:sp>
        <p:sp>
          <p:nvSpPr>
            <p:cNvPr id="198" name="Google Shape;198;p16"/>
            <p:cNvSpPr/>
            <p:nvPr/>
          </p:nvSpPr>
          <p:spPr>
            <a:xfrm>
              <a:off x="6772275" y="2381250"/>
              <a:ext cx="1933500" cy="9600"/>
            </a:xfrm>
            <a:prstGeom prst="rect">
              <a:avLst/>
            </a:prstGeom>
            <a:solidFill>
              <a:srgbClr val="334155"/>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199" name="Google Shape;199;p16"/>
            <p:cNvGrpSpPr/>
            <p:nvPr/>
          </p:nvGrpSpPr>
          <p:grpSpPr>
            <a:xfrm>
              <a:off x="6905625" y="3676650"/>
              <a:ext cx="1676325" cy="285900"/>
              <a:chOff x="6905625" y="3676650"/>
              <a:chExt cx="1676325" cy="285900"/>
            </a:xfrm>
          </p:grpSpPr>
          <p:sp>
            <p:nvSpPr>
              <p:cNvPr id="200" name="Google Shape;200;p16"/>
              <p:cNvSpPr txBox="1"/>
              <p:nvPr/>
            </p:nvSpPr>
            <p:spPr>
              <a:xfrm>
                <a:off x="6905625" y="3711766"/>
                <a:ext cx="171600" cy="171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3">
                    <a:solidFill>
                      <a:srgbClr val="00F2FE"/>
                    </a:solidFill>
                    <a:latin typeface="Material Icons"/>
                    <a:ea typeface="Material Icons"/>
                    <a:cs typeface="Material Icons"/>
                    <a:sym typeface="Material Icons"/>
                  </a:rPr>
                  <a:t>info</a:t>
                </a:r>
                <a:endParaRPr sz="853">
                  <a:solidFill>
                    <a:srgbClr val="00F2FE"/>
                  </a:solidFill>
                  <a:latin typeface="Material Icons"/>
                  <a:ea typeface="Material Icons"/>
                  <a:cs typeface="Material Icons"/>
                  <a:sym typeface="Material Icons"/>
                </a:endParaRPr>
              </a:p>
            </p:txBody>
          </p:sp>
          <p:sp>
            <p:nvSpPr>
              <p:cNvPr id="201" name="Google Shape;201;p16"/>
              <p:cNvSpPr txBox="1"/>
              <p:nvPr/>
            </p:nvSpPr>
            <p:spPr>
              <a:xfrm>
                <a:off x="7105650" y="3676650"/>
                <a:ext cx="1476300" cy="285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b="1">
                    <a:solidFill>
                      <a:srgbClr val="00F2FE"/>
                    </a:solidFill>
                    <a:latin typeface="Poppins"/>
                    <a:ea typeface="Poppins"/>
                    <a:cs typeface="Poppins"/>
                    <a:sym typeface="Poppins"/>
                  </a:rPr>
                  <a:t>Ready for Supervised Learning</a:t>
                </a:r>
                <a:endParaRPr sz="800" b="1">
                  <a:solidFill>
                    <a:srgbClr val="00F2FE"/>
                  </a:solidFill>
                  <a:latin typeface="Poppins"/>
                  <a:ea typeface="Poppins"/>
                  <a:cs typeface="Poppins"/>
                  <a:sym typeface="Poppins"/>
                </a:endParaRPr>
              </a:p>
            </p:txBody>
          </p:sp>
        </p:grpSp>
      </p:grpSp>
      <p:cxnSp>
        <p:nvCxnSpPr>
          <p:cNvPr id="202" name="Google Shape;202;p16"/>
          <p:cNvCxnSpPr/>
          <p:nvPr/>
        </p:nvCxnSpPr>
        <p:spPr>
          <a:xfrm>
            <a:off x="428625" y="4238625"/>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grpSp>
        <p:nvGrpSpPr>
          <p:cNvPr id="203" name="Google Shape;203;p16"/>
          <p:cNvGrpSpPr/>
          <p:nvPr/>
        </p:nvGrpSpPr>
        <p:grpSpPr>
          <a:xfrm>
            <a:off x="428625" y="4429125"/>
            <a:ext cx="8286900" cy="381000"/>
            <a:chOff x="428625" y="4429125"/>
            <a:chExt cx="8286900" cy="381000"/>
          </a:xfrm>
        </p:grpSpPr>
        <p:sp>
          <p:nvSpPr>
            <p:cNvPr id="204" name="Google Shape;204;p16"/>
            <p:cNvSpPr/>
            <p:nvPr/>
          </p:nvSpPr>
          <p:spPr>
            <a:xfrm>
              <a:off x="428625" y="4429125"/>
              <a:ext cx="8286900" cy="381000"/>
            </a:xfrm>
            <a:prstGeom prst="roundRect">
              <a:avLst>
                <a:gd name="adj" fmla="val 20000"/>
              </a:avLst>
            </a:prstGeom>
            <a:solidFill>
              <a:srgbClr val="0F172A"/>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05" name="Google Shape;205;p16"/>
            <p:cNvSpPr txBox="1"/>
            <p:nvPr/>
          </p:nvSpPr>
          <p:spPr>
            <a:xfrm>
              <a:off x="619125" y="4429125"/>
              <a:ext cx="79059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00F2FE"/>
                  </a:solidFill>
                  <a:latin typeface="Poppins Medium"/>
                  <a:ea typeface="Poppins Medium"/>
                  <a:cs typeface="Poppins Medium"/>
                  <a:sym typeface="Poppins Medium"/>
                </a:rPr>
                <a:t>"A well-structured and balanced dataset enables the CNN model to learn meaningful patterns for accurate tumor classification."</a:t>
              </a:r>
              <a:endParaRPr sz="900" b="0">
                <a:solidFill>
                  <a:srgbClr val="00F2FE"/>
                </a:solidFill>
                <a:latin typeface="Poppins Medium"/>
                <a:ea typeface="Poppins Medium"/>
                <a:cs typeface="Poppins Medium"/>
                <a:sym typeface="Poppins Medium"/>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09"/>
        <p:cNvGrpSpPr/>
        <p:nvPr/>
      </p:nvGrpSpPr>
      <p:grpSpPr>
        <a:xfrm>
          <a:off x="0" y="0"/>
          <a:ext cx="0" cy="0"/>
          <a:chOff x="0" y="0"/>
          <a:chExt cx="0" cy="0"/>
        </a:xfrm>
      </p:grpSpPr>
      <p:grpSp>
        <p:nvGrpSpPr>
          <p:cNvPr id="210" name="Google Shape;210;p17"/>
          <p:cNvGrpSpPr/>
          <p:nvPr/>
        </p:nvGrpSpPr>
        <p:grpSpPr>
          <a:xfrm>
            <a:off x="476250" y="1419225"/>
            <a:ext cx="7810650" cy="2714625"/>
            <a:chOff x="476250" y="1419225"/>
            <a:chExt cx="7810650" cy="2714625"/>
          </a:xfrm>
        </p:grpSpPr>
        <p:pic>
          <p:nvPicPr>
            <p:cNvPr id="211" name="Google Shape;211;p17"/>
            <p:cNvPicPr preferRelativeResize="0"/>
            <p:nvPr/>
          </p:nvPicPr>
          <p:blipFill rotWithShape="1">
            <a:blip r:embed="rId4">
              <a:alphaModFix/>
            </a:blip>
            <a:srcRect/>
            <a:stretch/>
          </p:blipFill>
          <p:spPr>
            <a:xfrm>
              <a:off x="476250" y="1419225"/>
              <a:ext cx="3814800" cy="495300"/>
            </a:xfrm>
            <a:prstGeom prst="rect">
              <a:avLst/>
            </a:prstGeom>
            <a:noFill/>
            <a:ln>
              <a:noFill/>
            </a:ln>
          </p:spPr>
        </p:pic>
        <p:pic>
          <p:nvPicPr>
            <p:cNvPr id="212" name="Google Shape;212;p17"/>
            <p:cNvPicPr preferRelativeResize="0"/>
            <p:nvPr/>
          </p:nvPicPr>
          <p:blipFill rotWithShape="1">
            <a:blip r:embed="rId5">
              <a:alphaModFix/>
            </a:blip>
            <a:srcRect/>
            <a:stretch/>
          </p:blipFill>
          <p:spPr>
            <a:xfrm>
              <a:off x="4953000" y="3609975"/>
              <a:ext cx="3333900" cy="495300"/>
            </a:xfrm>
            <a:prstGeom prst="rect">
              <a:avLst/>
            </a:prstGeom>
            <a:noFill/>
            <a:ln>
              <a:noFill/>
            </a:ln>
          </p:spPr>
        </p:pic>
        <p:pic>
          <p:nvPicPr>
            <p:cNvPr id="213" name="Google Shape;213;p17"/>
            <p:cNvPicPr preferRelativeResize="0"/>
            <p:nvPr/>
          </p:nvPicPr>
          <p:blipFill rotWithShape="1">
            <a:blip r:embed="rId6">
              <a:alphaModFix/>
            </a:blip>
            <a:srcRect/>
            <a:stretch/>
          </p:blipFill>
          <p:spPr>
            <a:xfrm>
              <a:off x="1866900" y="1866900"/>
              <a:ext cx="76200" cy="76200"/>
            </a:xfrm>
            <a:prstGeom prst="rect">
              <a:avLst/>
            </a:prstGeom>
            <a:noFill/>
            <a:ln>
              <a:noFill/>
            </a:ln>
          </p:spPr>
        </p:pic>
        <p:pic>
          <p:nvPicPr>
            <p:cNvPr id="214" name="Google Shape;214;p17"/>
            <p:cNvPicPr preferRelativeResize="0"/>
            <p:nvPr/>
          </p:nvPicPr>
          <p:blipFill rotWithShape="1">
            <a:blip r:embed="rId6">
              <a:alphaModFix/>
            </a:blip>
            <a:srcRect/>
            <a:stretch/>
          </p:blipFill>
          <p:spPr>
            <a:xfrm>
              <a:off x="6343650" y="4057650"/>
              <a:ext cx="76200" cy="76200"/>
            </a:xfrm>
            <a:prstGeom prst="rect">
              <a:avLst/>
            </a:prstGeom>
            <a:noFill/>
            <a:ln>
              <a:noFill/>
            </a:ln>
          </p:spPr>
        </p:pic>
      </p:grpSp>
      <p:sp>
        <p:nvSpPr>
          <p:cNvPr id="215" name="Google Shape;215;p17"/>
          <p:cNvSpPr txBox="1"/>
          <p:nvPr/>
        </p:nvSpPr>
        <p:spPr>
          <a:xfrm>
            <a:off x="428625" y="2381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Data Exploration &amp; Preprocessing</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950" b="0">
                <a:solidFill>
                  <a:srgbClr val="A5F3FC"/>
                </a:solidFill>
                <a:latin typeface="Poppins"/>
                <a:ea typeface="Poppins"/>
                <a:cs typeface="Poppins"/>
                <a:sym typeface="Poppins"/>
              </a:rPr>
              <a:t>Preparing MRI images for efficient and accurate Deep Learning.</a:t>
            </a:r>
            <a:endParaRPr sz="950" b="0">
              <a:solidFill>
                <a:srgbClr val="A5F3FC"/>
              </a:solidFill>
              <a:latin typeface="Poppins"/>
              <a:ea typeface="Poppins"/>
              <a:cs typeface="Poppins"/>
              <a:sym typeface="Poppins"/>
            </a:endParaRPr>
          </a:p>
        </p:txBody>
      </p:sp>
      <p:grpSp>
        <p:nvGrpSpPr>
          <p:cNvPr id="216" name="Google Shape;216;p17"/>
          <p:cNvGrpSpPr/>
          <p:nvPr/>
        </p:nvGrpSpPr>
        <p:grpSpPr>
          <a:xfrm>
            <a:off x="423863" y="804863"/>
            <a:ext cx="2533800" cy="3295800"/>
            <a:chOff x="423863" y="804863"/>
            <a:chExt cx="2533800" cy="3295800"/>
          </a:xfrm>
        </p:grpSpPr>
        <p:pic>
          <p:nvPicPr>
            <p:cNvPr id="217" name="Google Shape;217;p17"/>
            <p:cNvPicPr preferRelativeResize="0"/>
            <p:nvPr/>
          </p:nvPicPr>
          <p:blipFill rotWithShape="1">
            <a:blip r:embed="rId7">
              <a:alphaModFix/>
            </a:blip>
            <a:srcRect/>
            <a:stretch/>
          </p:blipFill>
          <p:spPr>
            <a:xfrm>
              <a:off x="423863" y="804863"/>
              <a:ext cx="2533800" cy="3295800"/>
            </a:xfrm>
            <a:prstGeom prst="rect">
              <a:avLst/>
            </a:prstGeom>
            <a:noFill/>
            <a:ln>
              <a:noFill/>
            </a:ln>
          </p:spPr>
        </p:pic>
        <p:sp>
          <p:nvSpPr>
            <p:cNvPr id="218" name="Google Shape;218;p17"/>
            <p:cNvSpPr txBox="1"/>
            <p:nvPr/>
          </p:nvSpPr>
          <p:spPr>
            <a:xfrm>
              <a:off x="571500" y="904875"/>
              <a:ext cx="22383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b="0">
                  <a:solidFill>
                    <a:srgbClr val="00F2FE"/>
                  </a:solidFill>
                  <a:latin typeface="Poppins SemiBold"/>
                  <a:ea typeface="Poppins SemiBold"/>
                  <a:cs typeface="Poppins SemiBold"/>
                  <a:sym typeface="Poppins SemiBold"/>
                </a:rPr>
                <a:t>Why Preprocessing?</a:t>
              </a:r>
              <a:endParaRPr sz="1100" b="0">
                <a:solidFill>
                  <a:srgbClr val="00F2FE"/>
                </a:solidFill>
                <a:latin typeface="Poppins SemiBold"/>
                <a:ea typeface="Poppins SemiBold"/>
                <a:cs typeface="Poppins SemiBold"/>
                <a:sym typeface="Poppins SemiBold"/>
              </a:endParaRPr>
            </a:p>
          </p:txBody>
        </p:sp>
        <p:grpSp>
          <p:nvGrpSpPr>
            <p:cNvPr id="219" name="Google Shape;219;p17"/>
            <p:cNvGrpSpPr/>
            <p:nvPr/>
          </p:nvGrpSpPr>
          <p:grpSpPr>
            <a:xfrm>
              <a:off x="566738" y="1185863"/>
              <a:ext cx="2247900" cy="819300"/>
              <a:chOff x="566738" y="1185863"/>
              <a:chExt cx="2247900" cy="819300"/>
            </a:xfrm>
          </p:grpSpPr>
          <p:pic>
            <p:nvPicPr>
              <p:cNvPr id="220" name="Google Shape;220;p17"/>
              <p:cNvPicPr preferRelativeResize="0"/>
              <p:nvPr/>
            </p:nvPicPr>
            <p:blipFill rotWithShape="1">
              <a:blip r:embed="rId8">
                <a:alphaModFix/>
              </a:blip>
              <a:srcRect/>
              <a:stretch/>
            </p:blipFill>
            <p:spPr>
              <a:xfrm>
                <a:off x="566738" y="1185863"/>
                <a:ext cx="2247900" cy="819300"/>
              </a:xfrm>
              <a:prstGeom prst="rect">
                <a:avLst/>
              </a:prstGeom>
              <a:noFill/>
              <a:ln>
                <a:noFill/>
              </a:ln>
            </p:spPr>
          </p:pic>
          <p:sp>
            <p:nvSpPr>
              <p:cNvPr id="221" name="Google Shape;221;p17"/>
              <p:cNvSpPr txBox="1"/>
              <p:nvPr/>
            </p:nvSpPr>
            <p:spPr>
              <a:xfrm>
                <a:off x="666750" y="1285875"/>
                <a:ext cx="20478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50" b="0" dirty="0">
                    <a:solidFill>
                      <a:srgbClr val="FFFFFF"/>
                    </a:solidFill>
                    <a:latin typeface="Poppins SemiBold"/>
                    <a:ea typeface="Poppins SemiBold"/>
                    <a:cs typeface="Poppins SemiBold"/>
                    <a:sym typeface="Poppins SemiBold"/>
                  </a:rPr>
                  <a:t>Image Standardization</a:t>
                </a:r>
                <a:endParaRPr sz="850" b="0" dirty="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50" b="0" dirty="0">
                    <a:solidFill>
                      <a:srgbClr val="94A3B8"/>
                    </a:solidFill>
                    <a:latin typeface="Poppins"/>
                    <a:ea typeface="Poppins"/>
                    <a:cs typeface="Poppins"/>
                    <a:sym typeface="Poppins"/>
                  </a:rPr>
                  <a:t>All MRI images are resized to a fixed dimension (224 × 224 pixels) so every image has the same input size.</a:t>
                </a:r>
                <a:endParaRPr sz="750" b="0" dirty="0">
                  <a:solidFill>
                    <a:srgbClr val="94A3B8"/>
                  </a:solidFill>
                  <a:latin typeface="Poppins"/>
                  <a:ea typeface="Poppins"/>
                  <a:cs typeface="Poppins"/>
                  <a:sym typeface="Poppins"/>
                </a:endParaRPr>
              </a:p>
            </p:txBody>
          </p:sp>
        </p:grpSp>
        <p:grpSp>
          <p:nvGrpSpPr>
            <p:cNvPr id="222" name="Google Shape;222;p17"/>
            <p:cNvGrpSpPr/>
            <p:nvPr/>
          </p:nvGrpSpPr>
          <p:grpSpPr>
            <a:xfrm>
              <a:off x="566738" y="2090738"/>
              <a:ext cx="2247900" cy="819300"/>
              <a:chOff x="566738" y="2090738"/>
              <a:chExt cx="2247900" cy="819300"/>
            </a:xfrm>
          </p:grpSpPr>
          <p:pic>
            <p:nvPicPr>
              <p:cNvPr id="223" name="Google Shape;223;p17"/>
              <p:cNvPicPr preferRelativeResize="0"/>
              <p:nvPr/>
            </p:nvPicPr>
            <p:blipFill rotWithShape="1">
              <a:blip r:embed="rId8">
                <a:alphaModFix/>
              </a:blip>
              <a:srcRect/>
              <a:stretch/>
            </p:blipFill>
            <p:spPr>
              <a:xfrm>
                <a:off x="566738" y="2090738"/>
                <a:ext cx="2247900" cy="819300"/>
              </a:xfrm>
              <a:prstGeom prst="rect">
                <a:avLst/>
              </a:prstGeom>
              <a:noFill/>
              <a:ln>
                <a:noFill/>
              </a:ln>
            </p:spPr>
          </p:pic>
          <p:sp>
            <p:nvSpPr>
              <p:cNvPr id="224" name="Google Shape;224;p17"/>
              <p:cNvSpPr txBox="1"/>
              <p:nvPr/>
            </p:nvSpPr>
            <p:spPr>
              <a:xfrm>
                <a:off x="666750" y="2190750"/>
                <a:ext cx="2047800" cy="619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50" b="0" dirty="0">
                    <a:solidFill>
                      <a:srgbClr val="FFFFFF"/>
                    </a:solidFill>
                    <a:latin typeface="Poppins SemiBold"/>
                    <a:ea typeface="Poppins SemiBold"/>
                    <a:cs typeface="Poppins SemiBold"/>
                    <a:sym typeface="Poppins SemiBold"/>
                  </a:rPr>
                  <a:t>Pixel Normalization</a:t>
                </a:r>
                <a:endParaRPr sz="850" b="0" dirty="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50" b="0" dirty="0">
                    <a:solidFill>
                      <a:srgbClr val="94A3B8"/>
                    </a:solidFill>
                    <a:latin typeface="Poppins"/>
                    <a:ea typeface="Poppins"/>
                    <a:cs typeface="Poppins"/>
                    <a:sym typeface="Poppins"/>
                  </a:rPr>
                  <a:t>Pixel values are scaled from 0–255 to 0–1, helping the model train faster and more efficiently.</a:t>
                </a:r>
                <a:endParaRPr sz="750" b="0" dirty="0">
                  <a:solidFill>
                    <a:srgbClr val="94A3B8"/>
                  </a:solidFill>
                  <a:latin typeface="Poppins"/>
                  <a:ea typeface="Poppins"/>
                  <a:cs typeface="Poppins"/>
                  <a:sym typeface="Poppins"/>
                </a:endParaRPr>
              </a:p>
            </p:txBody>
          </p:sp>
        </p:grpSp>
        <p:grpSp>
          <p:nvGrpSpPr>
            <p:cNvPr id="225" name="Google Shape;225;p17"/>
            <p:cNvGrpSpPr/>
            <p:nvPr/>
          </p:nvGrpSpPr>
          <p:grpSpPr>
            <a:xfrm>
              <a:off x="566738" y="2995613"/>
              <a:ext cx="2247900" cy="962100"/>
              <a:chOff x="566738" y="2995613"/>
              <a:chExt cx="2247900" cy="962100"/>
            </a:xfrm>
          </p:grpSpPr>
          <p:pic>
            <p:nvPicPr>
              <p:cNvPr id="226" name="Google Shape;226;p17"/>
              <p:cNvPicPr preferRelativeResize="0"/>
              <p:nvPr/>
            </p:nvPicPr>
            <p:blipFill rotWithShape="1">
              <a:blip r:embed="rId9">
                <a:alphaModFix/>
              </a:blip>
              <a:srcRect/>
              <a:stretch/>
            </p:blipFill>
            <p:spPr>
              <a:xfrm>
                <a:off x="566738" y="2995613"/>
                <a:ext cx="2247900" cy="962100"/>
              </a:xfrm>
              <a:prstGeom prst="rect">
                <a:avLst/>
              </a:prstGeom>
              <a:noFill/>
              <a:ln>
                <a:noFill/>
              </a:ln>
            </p:spPr>
          </p:pic>
          <p:sp>
            <p:nvSpPr>
              <p:cNvPr id="227" name="Google Shape;227;p17"/>
              <p:cNvSpPr txBox="1"/>
              <p:nvPr/>
            </p:nvSpPr>
            <p:spPr>
              <a:xfrm>
                <a:off x="666750" y="3095625"/>
                <a:ext cx="2047800" cy="762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50" b="0" dirty="0">
                    <a:solidFill>
                      <a:srgbClr val="FFFFFF"/>
                    </a:solidFill>
                    <a:latin typeface="Poppins SemiBold"/>
                    <a:ea typeface="Poppins SemiBold"/>
                    <a:cs typeface="Poppins SemiBold"/>
                    <a:sym typeface="Poppins SemiBold"/>
                  </a:rPr>
                  <a:t>Efficient Data Pipeline</a:t>
                </a:r>
                <a:endParaRPr sz="850" b="0" dirty="0">
                  <a:solidFill>
                    <a:srgbClr val="FFFFFF"/>
                  </a:solidFill>
                  <a:latin typeface="Poppins SemiBold"/>
                  <a:ea typeface="Poppins SemiBold"/>
                  <a:cs typeface="Poppins SemiBold"/>
                  <a:sym typeface="Poppins SemiBold"/>
                </a:endParaRPr>
              </a:p>
              <a:p>
                <a:pPr marL="0" lvl="0" indent="0" algn="l" rtl="0">
                  <a:spcBef>
                    <a:spcPts val="150"/>
                  </a:spcBef>
                  <a:spcAft>
                    <a:spcPts val="0"/>
                  </a:spcAft>
                  <a:buNone/>
                </a:pPr>
                <a:r>
                  <a:rPr lang="en-GB" sz="750" b="0" dirty="0">
                    <a:solidFill>
                      <a:srgbClr val="94A3B8"/>
                    </a:solidFill>
                    <a:latin typeface="Poppins"/>
                    <a:ea typeface="Poppins"/>
                    <a:cs typeface="Poppins"/>
                    <a:sym typeface="Poppins"/>
                  </a:rPr>
                  <a:t>Images are processed in batches and optimized using TensorFlow's data pipeline for faster training.</a:t>
                </a:r>
                <a:endParaRPr sz="750" b="0" dirty="0">
                  <a:solidFill>
                    <a:srgbClr val="94A3B8"/>
                  </a:solidFill>
                  <a:latin typeface="Poppins"/>
                  <a:ea typeface="Poppins"/>
                  <a:cs typeface="Poppins"/>
                  <a:sym typeface="Poppins"/>
                </a:endParaRPr>
              </a:p>
            </p:txBody>
          </p:sp>
        </p:grpSp>
      </p:grpSp>
      <p:grpSp>
        <p:nvGrpSpPr>
          <p:cNvPr id="228" name="Google Shape;228;p17"/>
          <p:cNvGrpSpPr/>
          <p:nvPr/>
        </p:nvGrpSpPr>
        <p:grpSpPr>
          <a:xfrm>
            <a:off x="3090863" y="804863"/>
            <a:ext cx="3533700" cy="3295800"/>
            <a:chOff x="3090863" y="804863"/>
            <a:chExt cx="3533700" cy="3295800"/>
          </a:xfrm>
        </p:grpSpPr>
        <p:pic>
          <p:nvPicPr>
            <p:cNvPr id="229" name="Google Shape;229;p17"/>
            <p:cNvPicPr preferRelativeResize="0"/>
            <p:nvPr/>
          </p:nvPicPr>
          <p:blipFill rotWithShape="1">
            <a:blip r:embed="rId10">
              <a:alphaModFix/>
            </a:blip>
            <a:srcRect/>
            <a:stretch/>
          </p:blipFill>
          <p:spPr>
            <a:xfrm>
              <a:off x="3090863" y="804863"/>
              <a:ext cx="3533700" cy="3295800"/>
            </a:xfrm>
            <a:prstGeom prst="rect">
              <a:avLst/>
            </a:prstGeom>
            <a:noFill/>
            <a:ln>
              <a:noFill/>
            </a:ln>
          </p:spPr>
        </p:pic>
        <p:sp>
          <p:nvSpPr>
            <p:cNvPr id="230" name="Google Shape;230;p17"/>
            <p:cNvSpPr txBox="1"/>
            <p:nvPr/>
          </p:nvSpPr>
          <p:spPr>
            <a:xfrm>
              <a:off x="3238500" y="904875"/>
              <a:ext cx="3238500" cy="238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b="0">
                  <a:solidFill>
                    <a:srgbClr val="00F2FE"/>
                  </a:solidFill>
                  <a:latin typeface="Poppins SemiBold"/>
                  <a:ea typeface="Poppins SemiBold"/>
                  <a:cs typeface="Poppins SemiBold"/>
                  <a:sym typeface="Poppins SemiBold"/>
                </a:rPr>
                <a:t>Image Pipeline Workflow</a:t>
              </a:r>
              <a:endParaRPr sz="1100" b="0">
                <a:solidFill>
                  <a:srgbClr val="00F2FE"/>
                </a:solidFill>
                <a:latin typeface="Poppins SemiBold"/>
                <a:ea typeface="Poppins SemiBold"/>
                <a:cs typeface="Poppins SemiBold"/>
                <a:sym typeface="Poppins SemiBold"/>
              </a:endParaRPr>
            </a:p>
          </p:txBody>
        </p:sp>
        <p:grpSp>
          <p:nvGrpSpPr>
            <p:cNvPr id="231" name="Google Shape;231;p17"/>
            <p:cNvGrpSpPr/>
            <p:nvPr/>
          </p:nvGrpSpPr>
          <p:grpSpPr>
            <a:xfrm>
              <a:off x="3233738" y="1233488"/>
              <a:ext cx="1009800" cy="352500"/>
              <a:chOff x="3233738" y="1233488"/>
              <a:chExt cx="1009800" cy="352500"/>
            </a:xfrm>
          </p:grpSpPr>
          <p:pic>
            <p:nvPicPr>
              <p:cNvPr id="232" name="Google Shape;232;p17"/>
              <p:cNvPicPr preferRelativeResize="0"/>
              <p:nvPr/>
            </p:nvPicPr>
            <p:blipFill rotWithShape="1">
              <a:blip r:embed="rId11">
                <a:alphaModFix/>
              </a:blip>
              <a:srcRect/>
              <a:stretch/>
            </p:blipFill>
            <p:spPr>
              <a:xfrm>
                <a:off x="3233738" y="1233488"/>
                <a:ext cx="1009800" cy="352500"/>
              </a:xfrm>
              <a:prstGeom prst="rect">
                <a:avLst/>
              </a:prstGeom>
              <a:noFill/>
              <a:ln>
                <a:noFill/>
              </a:ln>
            </p:spPr>
          </p:pic>
          <p:sp>
            <p:nvSpPr>
              <p:cNvPr id="233" name="Google Shape;233;p17"/>
              <p:cNvSpPr txBox="1"/>
              <p:nvPr/>
            </p:nvSpPr>
            <p:spPr>
              <a:xfrm>
                <a:off x="3238500" y="1266825"/>
                <a:ext cx="10002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FFFFFF"/>
                    </a:solidFill>
                    <a:latin typeface="Poppins SemiBold"/>
                    <a:ea typeface="Poppins SemiBold"/>
                    <a:cs typeface="Poppins SemiBold"/>
                    <a:sym typeface="Poppins SemiBold"/>
                  </a:rPr>
                  <a:t>Original MRI</a:t>
                </a:r>
                <a:endParaRPr sz="700" b="0">
                  <a:solidFill>
                    <a:srgbClr val="FFFFFF"/>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Raw Scan Data</a:t>
                </a:r>
                <a:endParaRPr sz="550" b="0">
                  <a:solidFill>
                    <a:srgbClr val="94A3B8"/>
                  </a:solidFill>
                  <a:latin typeface="Poppins"/>
                  <a:ea typeface="Poppins"/>
                  <a:cs typeface="Poppins"/>
                  <a:sym typeface="Poppins"/>
                </a:endParaRPr>
              </a:p>
            </p:txBody>
          </p:sp>
        </p:grpSp>
        <p:pic>
          <p:nvPicPr>
            <p:cNvPr id="234" name="Google Shape;234;p17"/>
            <p:cNvPicPr preferRelativeResize="0"/>
            <p:nvPr/>
          </p:nvPicPr>
          <p:blipFill rotWithShape="1">
            <a:blip r:embed="rId12">
              <a:alphaModFix/>
            </a:blip>
            <a:srcRect/>
            <a:stretch/>
          </p:blipFill>
          <p:spPr>
            <a:xfrm>
              <a:off x="4238625" y="1400175"/>
              <a:ext cx="142800" cy="19200"/>
            </a:xfrm>
            <a:prstGeom prst="rect">
              <a:avLst/>
            </a:prstGeom>
            <a:noFill/>
            <a:ln>
              <a:noFill/>
            </a:ln>
          </p:spPr>
        </p:pic>
        <p:grpSp>
          <p:nvGrpSpPr>
            <p:cNvPr id="235" name="Google Shape;235;p17"/>
            <p:cNvGrpSpPr/>
            <p:nvPr/>
          </p:nvGrpSpPr>
          <p:grpSpPr>
            <a:xfrm>
              <a:off x="4424363" y="1233488"/>
              <a:ext cx="1009800" cy="352500"/>
              <a:chOff x="4424363" y="1233488"/>
              <a:chExt cx="1009800" cy="352500"/>
            </a:xfrm>
          </p:grpSpPr>
          <p:pic>
            <p:nvPicPr>
              <p:cNvPr id="236" name="Google Shape;236;p17"/>
              <p:cNvPicPr preferRelativeResize="0"/>
              <p:nvPr/>
            </p:nvPicPr>
            <p:blipFill rotWithShape="1">
              <a:blip r:embed="rId13">
                <a:alphaModFix/>
              </a:blip>
              <a:srcRect/>
              <a:stretch/>
            </p:blipFill>
            <p:spPr>
              <a:xfrm>
                <a:off x="4424363" y="1233488"/>
                <a:ext cx="1009800" cy="352500"/>
              </a:xfrm>
              <a:prstGeom prst="rect">
                <a:avLst/>
              </a:prstGeom>
              <a:noFill/>
              <a:ln>
                <a:noFill/>
              </a:ln>
            </p:spPr>
          </p:pic>
          <p:sp>
            <p:nvSpPr>
              <p:cNvPr id="237" name="Google Shape;237;p17"/>
              <p:cNvSpPr txBox="1"/>
              <p:nvPr/>
            </p:nvSpPr>
            <p:spPr>
              <a:xfrm>
                <a:off x="4429125" y="1266825"/>
                <a:ext cx="10002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FFFFFF"/>
                    </a:solidFill>
                    <a:latin typeface="Poppins SemiBold"/>
                    <a:ea typeface="Poppins SemiBold"/>
                    <a:cs typeface="Poppins SemiBold"/>
                    <a:sym typeface="Poppins SemiBold"/>
                  </a:rPr>
                  <a:t>Resize</a:t>
                </a:r>
                <a:endParaRPr sz="700" b="0">
                  <a:solidFill>
                    <a:srgbClr val="FFFFFF"/>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224 × 224 Pixels</a:t>
                </a:r>
                <a:endParaRPr sz="550" b="0">
                  <a:solidFill>
                    <a:srgbClr val="94A3B8"/>
                  </a:solidFill>
                  <a:latin typeface="Poppins"/>
                  <a:ea typeface="Poppins"/>
                  <a:cs typeface="Poppins"/>
                  <a:sym typeface="Poppins"/>
                </a:endParaRPr>
              </a:p>
            </p:txBody>
          </p:sp>
        </p:grpSp>
        <p:pic>
          <p:nvPicPr>
            <p:cNvPr id="238" name="Google Shape;238;p17"/>
            <p:cNvPicPr preferRelativeResize="0"/>
            <p:nvPr/>
          </p:nvPicPr>
          <p:blipFill rotWithShape="1">
            <a:blip r:embed="rId14">
              <a:alphaModFix/>
            </a:blip>
            <a:srcRect/>
            <a:stretch/>
          </p:blipFill>
          <p:spPr>
            <a:xfrm>
              <a:off x="5429250" y="1400175"/>
              <a:ext cx="142800" cy="19200"/>
            </a:xfrm>
            <a:prstGeom prst="rect">
              <a:avLst/>
            </a:prstGeom>
            <a:noFill/>
            <a:ln>
              <a:noFill/>
            </a:ln>
          </p:spPr>
        </p:pic>
        <p:grpSp>
          <p:nvGrpSpPr>
            <p:cNvPr id="239" name="Google Shape;239;p17"/>
            <p:cNvGrpSpPr/>
            <p:nvPr/>
          </p:nvGrpSpPr>
          <p:grpSpPr>
            <a:xfrm>
              <a:off x="5614988" y="1233488"/>
              <a:ext cx="866700" cy="352500"/>
              <a:chOff x="5614988" y="1233488"/>
              <a:chExt cx="866700" cy="352500"/>
            </a:xfrm>
          </p:grpSpPr>
          <p:pic>
            <p:nvPicPr>
              <p:cNvPr id="240" name="Google Shape;240;p17"/>
              <p:cNvPicPr preferRelativeResize="0"/>
              <p:nvPr/>
            </p:nvPicPr>
            <p:blipFill rotWithShape="1">
              <a:blip r:embed="rId15">
                <a:alphaModFix/>
              </a:blip>
              <a:srcRect/>
              <a:stretch/>
            </p:blipFill>
            <p:spPr>
              <a:xfrm>
                <a:off x="5614988" y="1233488"/>
                <a:ext cx="866700" cy="352500"/>
              </a:xfrm>
              <a:prstGeom prst="rect">
                <a:avLst/>
              </a:prstGeom>
              <a:noFill/>
              <a:ln>
                <a:noFill/>
              </a:ln>
            </p:spPr>
          </p:pic>
          <p:sp>
            <p:nvSpPr>
              <p:cNvPr id="241" name="Google Shape;241;p17"/>
              <p:cNvSpPr txBox="1"/>
              <p:nvPr/>
            </p:nvSpPr>
            <p:spPr>
              <a:xfrm>
                <a:off x="5619750" y="1266825"/>
                <a:ext cx="8574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FFFFFF"/>
                    </a:solidFill>
                    <a:latin typeface="Poppins SemiBold"/>
                    <a:ea typeface="Poppins SemiBold"/>
                    <a:cs typeface="Poppins SemiBold"/>
                    <a:sym typeface="Poppins SemiBold"/>
                  </a:rPr>
                  <a:t>Normalize</a:t>
                </a:r>
                <a:endParaRPr sz="700" b="0">
                  <a:solidFill>
                    <a:srgbClr val="FFFFFF"/>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0-255 → 0-1</a:t>
                </a:r>
                <a:endParaRPr sz="550" b="0">
                  <a:solidFill>
                    <a:srgbClr val="94A3B8"/>
                  </a:solidFill>
                  <a:latin typeface="Poppins"/>
                  <a:ea typeface="Poppins"/>
                  <a:cs typeface="Poppins"/>
                  <a:sym typeface="Poppins"/>
                </a:endParaRPr>
              </a:p>
            </p:txBody>
          </p:sp>
        </p:grpSp>
        <p:pic>
          <p:nvPicPr>
            <p:cNvPr id="242" name="Google Shape;242;p17"/>
            <p:cNvPicPr preferRelativeResize="0"/>
            <p:nvPr/>
          </p:nvPicPr>
          <p:blipFill rotWithShape="1">
            <a:blip r:embed="rId16">
              <a:alphaModFix/>
            </a:blip>
            <a:srcRect/>
            <a:stretch/>
          </p:blipFill>
          <p:spPr>
            <a:xfrm>
              <a:off x="3724275" y="1581150"/>
              <a:ext cx="2333700" cy="276300"/>
            </a:xfrm>
            <a:prstGeom prst="rect">
              <a:avLst/>
            </a:prstGeom>
            <a:noFill/>
            <a:ln>
              <a:noFill/>
            </a:ln>
          </p:spPr>
        </p:pic>
        <p:grpSp>
          <p:nvGrpSpPr>
            <p:cNvPr id="243" name="Google Shape;243;p17"/>
            <p:cNvGrpSpPr/>
            <p:nvPr/>
          </p:nvGrpSpPr>
          <p:grpSpPr>
            <a:xfrm>
              <a:off x="3233738" y="1852613"/>
              <a:ext cx="1009800" cy="352500"/>
              <a:chOff x="3233738" y="1852613"/>
              <a:chExt cx="1009800" cy="352500"/>
            </a:xfrm>
          </p:grpSpPr>
          <p:pic>
            <p:nvPicPr>
              <p:cNvPr id="244" name="Google Shape;244;p17"/>
              <p:cNvPicPr preferRelativeResize="0"/>
              <p:nvPr/>
            </p:nvPicPr>
            <p:blipFill rotWithShape="1">
              <a:blip r:embed="rId17">
                <a:alphaModFix/>
              </a:blip>
              <a:srcRect/>
              <a:stretch/>
            </p:blipFill>
            <p:spPr>
              <a:xfrm>
                <a:off x="3233738" y="1852613"/>
                <a:ext cx="1009800" cy="352500"/>
              </a:xfrm>
              <a:prstGeom prst="rect">
                <a:avLst/>
              </a:prstGeom>
              <a:noFill/>
              <a:ln>
                <a:noFill/>
              </a:ln>
            </p:spPr>
          </p:pic>
          <p:sp>
            <p:nvSpPr>
              <p:cNvPr id="245" name="Google Shape;245;p17"/>
              <p:cNvSpPr txBox="1"/>
              <p:nvPr/>
            </p:nvSpPr>
            <p:spPr>
              <a:xfrm>
                <a:off x="3238500" y="1885950"/>
                <a:ext cx="10002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FFFFFF"/>
                    </a:solidFill>
                    <a:latin typeface="Poppins SemiBold"/>
                    <a:ea typeface="Poppins SemiBold"/>
                    <a:cs typeface="Poppins SemiBold"/>
                    <a:sym typeface="Poppins SemiBold"/>
                  </a:rPr>
                  <a:t>Batch</a:t>
                </a:r>
                <a:endParaRPr sz="700" b="0">
                  <a:solidFill>
                    <a:srgbClr val="FFFFFF"/>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Size = 32</a:t>
                </a:r>
                <a:endParaRPr sz="550" b="0">
                  <a:solidFill>
                    <a:srgbClr val="94A3B8"/>
                  </a:solidFill>
                  <a:latin typeface="Poppins"/>
                  <a:ea typeface="Poppins"/>
                  <a:cs typeface="Poppins"/>
                  <a:sym typeface="Poppins"/>
                </a:endParaRPr>
              </a:p>
            </p:txBody>
          </p:sp>
        </p:grpSp>
        <p:pic>
          <p:nvPicPr>
            <p:cNvPr id="246" name="Google Shape;246;p17"/>
            <p:cNvPicPr preferRelativeResize="0"/>
            <p:nvPr/>
          </p:nvPicPr>
          <p:blipFill rotWithShape="1">
            <a:blip r:embed="rId14">
              <a:alphaModFix/>
            </a:blip>
            <a:srcRect/>
            <a:stretch/>
          </p:blipFill>
          <p:spPr>
            <a:xfrm>
              <a:off x="4238625" y="2019300"/>
              <a:ext cx="142800" cy="19200"/>
            </a:xfrm>
            <a:prstGeom prst="rect">
              <a:avLst/>
            </a:prstGeom>
            <a:noFill/>
            <a:ln>
              <a:noFill/>
            </a:ln>
          </p:spPr>
        </p:pic>
        <p:grpSp>
          <p:nvGrpSpPr>
            <p:cNvPr id="247" name="Google Shape;247;p17"/>
            <p:cNvGrpSpPr/>
            <p:nvPr/>
          </p:nvGrpSpPr>
          <p:grpSpPr>
            <a:xfrm>
              <a:off x="4424363" y="1852613"/>
              <a:ext cx="1009800" cy="352500"/>
              <a:chOff x="4424363" y="1852613"/>
              <a:chExt cx="1009800" cy="352500"/>
            </a:xfrm>
          </p:grpSpPr>
          <p:pic>
            <p:nvPicPr>
              <p:cNvPr id="248" name="Google Shape;248;p17"/>
              <p:cNvPicPr preferRelativeResize="0"/>
              <p:nvPr/>
            </p:nvPicPr>
            <p:blipFill rotWithShape="1">
              <a:blip r:embed="rId17">
                <a:alphaModFix/>
              </a:blip>
              <a:srcRect/>
              <a:stretch/>
            </p:blipFill>
            <p:spPr>
              <a:xfrm>
                <a:off x="4424363" y="1852613"/>
                <a:ext cx="1009800" cy="352500"/>
              </a:xfrm>
              <a:prstGeom prst="rect">
                <a:avLst/>
              </a:prstGeom>
              <a:noFill/>
              <a:ln>
                <a:noFill/>
              </a:ln>
            </p:spPr>
          </p:pic>
          <p:sp>
            <p:nvSpPr>
              <p:cNvPr id="249" name="Google Shape;249;p17"/>
              <p:cNvSpPr txBox="1"/>
              <p:nvPr/>
            </p:nvSpPr>
            <p:spPr>
              <a:xfrm>
                <a:off x="4429125" y="1885950"/>
                <a:ext cx="10002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FFFFFF"/>
                    </a:solidFill>
                    <a:latin typeface="Poppins SemiBold"/>
                    <a:ea typeface="Poppins SemiBold"/>
                    <a:cs typeface="Poppins SemiBold"/>
                    <a:sym typeface="Poppins SemiBold"/>
                  </a:rPr>
                  <a:t>Shuffle</a:t>
                </a:r>
                <a:endParaRPr sz="700" b="0">
                  <a:solidFill>
                    <a:srgbClr val="FFFFFF"/>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Randomize Order</a:t>
                </a:r>
                <a:endParaRPr sz="550" b="0">
                  <a:solidFill>
                    <a:srgbClr val="94A3B8"/>
                  </a:solidFill>
                  <a:latin typeface="Poppins"/>
                  <a:ea typeface="Poppins"/>
                  <a:cs typeface="Poppins"/>
                  <a:sym typeface="Poppins"/>
                </a:endParaRPr>
              </a:p>
            </p:txBody>
          </p:sp>
        </p:grpSp>
        <p:pic>
          <p:nvPicPr>
            <p:cNvPr id="250" name="Google Shape;250;p17"/>
            <p:cNvPicPr preferRelativeResize="0"/>
            <p:nvPr/>
          </p:nvPicPr>
          <p:blipFill rotWithShape="1">
            <a:blip r:embed="rId14">
              <a:alphaModFix/>
            </a:blip>
            <a:srcRect/>
            <a:stretch/>
          </p:blipFill>
          <p:spPr>
            <a:xfrm>
              <a:off x="5429250" y="2019300"/>
              <a:ext cx="142800" cy="19200"/>
            </a:xfrm>
            <a:prstGeom prst="rect">
              <a:avLst/>
            </a:prstGeom>
            <a:noFill/>
            <a:ln>
              <a:noFill/>
            </a:ln>
          </p:spPr>
        </p:pic>
        <p:grpSp>
          <p:nvGrpSpPr>
            <p:cNvPr id="251" name="Google Shape;251;p17"/>
            <p:cNvGrpSpPr/>
            <p:nvPr/>
          </p:nvGrpSpPr>
          <p:grpSpPr>
            <a:xfrm>
              <a:off x="5614988" y="1852613"/>
              <a:ext cx="866700" cy="352500"/>
              <a:chOff x="5614988" y="1852613"/>
              <a:chExt cx="866700" cy="352500"/>
            </a:xfrm>
          </p:grpSpPr>
          <p:pic>
            <p:nvPicPr>
              <p:cNvPr id="252" name="Google Shape;252;p17"/>
              <p:cNvPicPr preferRelativeResize="0"/>
              <p:nvPr/>
            </p:nvPicPr>
            <p:blipFill rotWithShape="1">
              <a:blip r:embed="rId18">
                <a:alphaModFix/>
              </a:blip>
              <a:srcRect/>
              <a:stretch/>
            </p:blipFill>
            <p:spPr>
              <a:xfrm>
                <a:off x="5614988" y="1852613"/>
                <a:ext cx="866700" cy="352500"/>
              </a:xfrm>
              <a:prstGeom prst="rect">
                <a:avLst/>
              </a:prstGeom>
              <a:noFill/>
              <a:ln>
                <a:noFill/>
              </a:ln>
            </p:spPr>
          </p:pic>
          <p:sp>
            <p:nvSpPr>
              <p:cNvPr id="253" name="Google Shape;253;p17"/>
              <p:cNvSpPr txBox="1"/>
              <p:nvPr/>
            </p:nvSpPr>
            <p:spPr>
              <a:xfrm>
                <a:off x="5619750" y="1885950"/>
                <a:ext cx="8574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FFFFFF"/>
                    </a:solidFill>
                    <a:latin typeface="Poppins SemiBold"/>
                    <a:ea typeface="Poppins SemiBold"/>
                    <a:cs typeface="Poppins SemiBold"/>
                    <a:sym typeface="Poppins SemiBold"/>
                  </a:rPr>
                  <a:t>Cache</a:t>
                </a:r>
                <a:endParaRPr sz="700" b="0">
                  <a:solidFill>
                    <a:srgbClr val="FFFFFF"/>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Memory Storage</a:t>
                </a:r>
                <a:endParaRPr sz="550" b="0">
                  <a:solidFill>
                    <a:srgbClr val="94A3B8"/>
                  </a:solidFill>
                  <a:latin typeface="Poppins"/>
                  <a:ea typeface="Poppins"/>
                  <a:cs typeface="Poppins"/>
                  <a:sym typeface="Poppins"/>
                </a:endParaRPr>
              </a:p>
            </p:txBody>
          </p:sp>
        </p:grpSp>
        <p:pic>
          <p:nvPicPr>
            <p:cNvPr id="254" name="Google Shape;254;p17"/>
            <p:cNvPicPr preferRelativeResize="0"/>
            <p:nvPr/>
          </p:nvPicPr>
          <p:blipFill rotWithShape="1">
            <a:blip r:embed="rId16">
              <a:alphaModFix/>
            </a:blip>
            <a:srcRect/>
            <a:stretch/>
          </p:blipFill>
          <p:spPr>
            <a:xfrm>
              <a:off x="3724275" y="2200275"/>
              <a:ext cx="2333700" cy="276300"/>
            </a:xfrm>
            <a:prstGeom prst="rect">
              <a:avLst/>
            </a:prstGeom>
            <a:noFill/>
            <a:ln>
              <a:noFill/>
            </a:ln>
          </p:spPr>
        </p:pic>
        <p:grpSp>
          <p:nvGrpSpPr>
            <p:cNvPr id="255" name="Google Shape;255;p17"/>
            <p:cNvGrpSpPr/>
            <p:nvPr/>
          </p:nvGrpSpPr>
          <p:grpSpPr>
            <a:xfrm>
              <a:off x="3233738" y="2471738"/>
              <a:ext cx="1009800" cy="352500"/>
              <a:chOff x="3233738" y="2471738"/>
              <a:chExt cx="1009800" cy="352500"/>
            </a:xfrm>
          </p:grpSpPr>
          <p:pic>
            <p:nvPicPr>
              <p:cNvPr id="256" name="Google Shape;256;p17"/>
              <p:cNvPicPr preferRelativeResize="0"/>
              <p:nvPr/>
            </p:nvPicPr>
            <p:blipFill rotWithShape="1">
              <a:blip r:embed="rId13">
                <a:alphaModFix/>
              </a:blip>
              <a:srcRect/>
              <a:stretch/>
            </p:blipFill>
            <p:spPr>
              <a:xfrm>
                <a:off x="3233738" y="2471738"/>
                <a:ext cx="1009800" cy="352500"/>
              </a:xfrm>
              <a:prstGeom prst="rect">
                <a:avLst/>
              </a:prstGeom>
              <a:noFill/>
              <a:ln>
                <a:noFill/>
              </a:ln>
            </p:spPr>
          </p:pic>
          <p:sp>
            <p:nvSpPr>
              <p:cNvPr id="257" name="Google Shape;257;p17"/>
              <p:cNvSpPr txBox="1"/>
              <p:nvPr/>
            </p:nvSpPr>
            <p:spPr>
              <a:xfrm>
                <a:off x="3238500" y="2505075"/>
                <a:ext cx="10002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FFFFFF"/>
                    </a:solidFill>
                    <a:latin typeface="Poppins SemiBold"/>
                    <a:ea typeface="Poppins SemiBold"/>
                    <a:cs typeface="Poppins SemiBold"/>
                    <a:sym typeface="Poppins SemiBold"/>
                  </a:rPr>
                  <a:t>Prefetch</a:t>
                </a:r>
                <a:endParaRPr sz="700" b="0">
                  <a:solidFill>
                    <a:srgbClr val="FFFFFF"/>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Overlap Training</a:t>
                </a:r>
                <a:endParaRPr sz="550" b="0">
                  <a:solidFill>
                    <a:srgbClr val="94A3B8"/>
                  </a:solidFill>
                  <a:latin typeface="Poppins"/>
                  <a:ea typeface="Poppins"/>
                  <a:cs typeface="Poppins"/>
                  <a:sym typeface="Poppins"/>
                </a:endParaRPr>
              </a:p>
            </p:txBody>
          </p:sp>
        </p:grpSp>
        <p:pic>
          <p:nvPicPr>
            <p:cNvPr id="258" name="Google Shape;258;p17"/>
            <p:cNvPicPr preferRelativeResize="0"/>
            <p:nvPr/>
          </p:nvPicPr>
          <p:blipFill rotWithShape="1">
            <a:blip r:embed="rId19">
              <a:alphaModFix/>
            </a:blip>
            <a:srcRect/>
            <a:stretch/>
          </p:blipFill>
          <p:spPr>
            <a:xfrm>
              <a:off x="4238625" y="2638425"/>
              <a:ext cx="142800" cy="19200"/>
            </a:xfrm>
            <a:prstGeom prst="rect">
              <a:avLst/>
            </a:prstGeom>
            <a:noFill/>
            <a:ln>
              <a:noFill/>
            </a:ln>
          </p:spPr>
        </p:pic>
        <p:grpSp>
          <p:nvGrpSpPr>
            <p:cNvPr id="259" name="Google Shape;259;p17"/>
            <p:cNvGrpSpPr/>
            <p:nvPr/>
          </p:nvGrpSpPr>
          <p:grpSpPr>
            <a:xfrm>
              <a:off x="4429125" y="2476500"/>
              <a:ext cx="2047800" cy="342900"/>
              <a:chOff x="4429125" y="2476500"/>
              <a:chExt cx="2047800" cy="342900"/>
            </a:xfrm>
          </p:grpSpPr>
          <p:pic>
            <p:nvPicPr>
              <p:cNvPr id="260" name="Google Shape;260;p17"/>
              <p:cNvPicPr preferRelativeResize="0"/>
              <p:nvPr/>
            </p:nvPicPr>
            <p:blipFill rotWithShape="1">
              <a:blip r:embed="rId20">
                <a:alphaModFix/>
              </a:blip>
              <a:srcRect/>
              <a:stretch/>
            </p:blipFill>
            <p:spPr>
              <a:xfrm>
                <a:off x="4429125" y="2476500"/>
                <a:ext cx="2047800" cy="342900"/>
              </a:xfrm>
              <a:prstGeom prst="rect">
                <a:avLst/>
              </a:prstGeom>
              <a:noFill/>
              <a:ln>
                <a:noFill/>
              </a:ln>
            </p:spPr>
          </p:pic>
          <p:sp>
            <p:nvSpPr>
              <p:cNvPr id="261" name="Google Shape;261;p17"/>
              <p:cNvSpPr txBox="1"/>
              <p:nvPr/>
            </p:nvSpPr>
            <p:spPr>
              <a:xfrm>
                <a:off x="4429125" y="2505075"/>
                <a:ext cx="2047800" cy="285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GB" sz="700" b="0">
                    <a:solidFill>
                      <a:srgbClr val="020813"/>
                    </a:solidFill>
                    <a:latin typeface="Poppins SemiBold"/>
                    <a:ea typeface="Poppins SemiBold"/>
                    <a:cs typeface="Poppins SemiBold"/>
                    <a:sym typeface="Poppins SemiBold"/>
                  </a:rPr>
                  <a:t>Ready for CNN Model</a:t>
                </a:r>
                <a:endParaRPr sz="700" b="0">
                  <a:solidFill>
                    <a:srgbClr val="020813"/>
                  </a:solidFill>
                  <a:latin typeface="Poppins SemiBold"/>
                  <a:ea typeface="Poppins SemiBold"/>
                  <a:cs typeface="Poppins SemiBold"/>
                  <a:sym typeface="Poppins SemiBold"/>
                </a:endParaRPr>
              </a:p>
              <a:p>
                <a:pPr marL="0" lvl="0" indent="0" algn="ctr" rtl="0">
                  <a:spcBef>
                    <a:spcPts val="0"/>
                  </a:spcBef>
                  <a:spcAft>
                    <a:spcPts val="0"/>
                  </a:spcAft>
                  <a:buNone/>
                </a:pPr>
                <a:r>
                  <a:rPr lang="en-GB" sz="550" b="0">
                    <a:solidFill>
                      <a:srgbClr val="092A5E"/>
                    </a:solidFill>
                    <a:latin typeface="Poppins"/>
                    <a:ea typeface="Poppins"/>
                    <a:cs typeface="Poppins"/>
                    <a:sym typeface="Poppins"/>
                  </a:rPr>
                  <a:t>Optimized GPU Feed</a:t>
                </a:r>
                <a:endParaRPr sz="550" b="0">
                  <a:solidFill>
                    <a:srgbClr val="092A5E"/>
                  </a:solidFill>
                  <a:latin typeface="Poppins"/>
                  <a:ea typeface="Poppins"/>
                  <a:cs typeface="Poppins"/>
                  <a:sym typeface="Poppins"/>
                </a:endParaRPr>
              </a:p>
            </p:txBody>
          </p:sp>
        </p:grpSp>
        <p:grpSp>
          <p:nvGrpSpPr>
            <p:cNvPr id="262" name="Google Shape;262;p17"/>
            <p:cNvGrpSpPr/>
            <p:nvPr/>
          </p:nvGrpSpPr>
          <p:grpSpPr>
            <a:xfrm>
              <a:off x="4043363" y="2967038"/>
              <a:ext cx="2009700" cy="962100"/>
              <a:chOff x="-4762" y="-4762"/>
              <a:chExt cx="2009700" cy="962100"/>
            </a:xfrm>
          </p:grpSpPr>
          <p:pic>
            <p:nvPicPr>
              <p:cNvPr id="263" name="Google Shape;263;p17"/>
              <p:cNvPicPr preferRelativeResize="0"/>
              <p:nvPr/>
            </p:nvPicPr>
            <p:blipFill rotWithShape="1">
              <a:blip r:embed="rId21">
                <a:alphaModFix/>
              </a:blip>
              <a:srcRect/>
              <a:stretch/>
            </p:blipFill>
            <p:spPr>
              <a:xfrm>
                <a:off x="-4762" y="-4762"/>
                <a:ext cx="2009700" cy="962100"/>
              </a:xfrm>
              <a:prstGeom prst="rect">
                <a:avLst/>
              </a:prstGeom>
              <a:noFill/>
              <a:ln>
                <a:noFill/>
              </a:ln>
            </p:spPr>
          </p:pic>
          <p:pic>
            <p:nvPicPr>
              <p:cNvPr id="264" name="Google Shape;264;p17"/>
              <p:cNvPicPr preferRelativeResize="0"/>
              <p:nvPr/>
            </p:nvPicPr>
            <p:blipFill rotWithShape="1">
              <a:blip r:embed="rId22">
                <a:alphaModFix/>
              </a:blip>
              <a:srcRect/>
              <a:stretch/>
            </p:blipFill>
            <p:spPr>
              <a:xfrm>
                <a:off x="0" y="666750"/>
                <a:ext cx="1981200" cy="285900"/>
              </a:xfrm>
              <a:prstGeom prst="rect">
                <a:avLst/>
              </a:prstGeom>
              <a:noFill/>
              <a:ln>
                <a:noFill/>
              </a:ln>
            </p:spPr>
          </p:pic>
        </p:grpSp>
      </p:grpSp>
      <p:grpSp>
        <p:nvGrpSpPr>
          <p:cNvPr id="265" name="Google Shape;265;p17"/>
          <p:cNvGrpSpPr/>
          <p:nvPr/>
        </p:nvGrpSpPr>
        <p:grpSpPr>
          <a:xfrm>
            <a:off x="6757988" y="804863"/>
            <a:ext cx="1962300" cy="3295800"/>
            <a:chOff x="6757988" y="804863"/>
            <a:chExt cx="1962300" cy="3295800"/>
          </a:xfrm>
        </p:grpSpPr>
        <p:pic>
          <p:nvPicPr>
            <p:cNvPr id="266" name="Google Shape;266;p17"/>
            <p:cNvPicPr preferRelativeResize="0"/>
            <p:nvPr/>
          </p:nvPicPr>
          <p:blipFill rotWithShape="1">
            <a:blip r:embed="rId23">
              <a:alphaModFix/>
            </a:blip>
            <a:srcRect/>
            <a:stretch/>
          </p:blipFill>
          <p:spPr>
            <a:xfrm>
              <a:off x="6757988" y="804863"/>
              <a:ext cx="1962300" cy="3295800"/>
            </a:xfrm>
            <a:prstGeom prst="rect">
              <a:avLst/>
            </a:prstGeom>
            <a:noFill/>
            <a:ln>
              <a:noFill/>
            </a:ln>
          </p:spPr>
        </p:pic>
        <p:sp>
          <p:nvSpPr>
            <p:cNvPr id="267" name="Google Shape;267;p17"/>
            <p:cNvSpPr txBox="1"/>
            <p:nvPr/>
          </p:nvSpPr>
          <p:spPr>
            <a:xfrm>
              <a:off x="6905625" y="904875"/>
              <a:ext cx="1666800" cy="381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100" b="0">
                  <a:solidFill>
                    <a:srgbClr val="00F2FE"/>
                  </a:solidFill>
                  <a:latin typeface="Poppins SemiBold"/>
                  <a:ea typeface="Poppins SemiBold"/>
                  <a:cs typeface="Poppins SemiBold"/>
                  <a:sym typeface="Poppins SemiBold"/>
                </a:rPr>
                <a:t>Preprocessing</a:t>
              </a:r>
              <a:br>
                <a:rPr lang="en-GB" sz="1100" b="0">
                  <a:solidFill>
                    <a:srgbClr val="00F2FE"/>
                  </a:solidFill>
                  <a:latin typeface="Poppins SemiBold"/>
                  <a:ea typeface="Poppins SemiBold"/>
                  <a:cs typeface="Poppins SemiBold"/>
                  <a:sym typeface="Poppins SemiBold"/>
                </a:rPr>
              </a:br>
              <a:r>
                <a:rPr lang="en-GB" sz="1100" b="0">
                  <a:solidFill>
                    <a:srgbClr val="00F2FE"/>
                  </a:solidFill>
                  <a:latin typeface="Poppins SemiBold"/>
                  <a:ea typeface="Poppins SemiBold"/>
                  <a:cs typeface="Poppins SemiBold"/>
                  <a:sym typeface="Poppins SemiBold"/>
                </a:rPr>
                <a:t>Configuration</a:t>
              </a:r>
              <a:endParaRPr sz="1100" b="0">
                <a:solidFill>
                  <a:srgbClr val="00F2FE"/>
                </a:solidFill>
                <a:latin typeface="Poppins SemiBold"/>
                <a:ea typeface="Poppins SemiBold"/>
                <a:cs typeface="Poppins SemiBold"/>
                <a:sym typeface="Poppins SemiBold"/>
              </a:endParaRPr>
            </a:p>
          </p:txBody>
        </p:sp>
        <p:sp>
          <p:nvSpPr>
            <p:cNvPr id="268" name="Google Shape;268;p17"/>
            <p:cNvSpPr txBox="1"/>
            <p:nvPr/>
          </p:nvSpPr>
          <p:spPr>
            <a:xfrm>
              <a:off x="6905625" y="1381125"/>
              <a:ext cx="1666800" cy="2571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Image Size</a:t>
              </a:r>
              <a:r>
                <a:rPr lang="en-GB" sz="750" b="0">
                  <a:solidFill>
                    <a:srgbClr val="FFFFFF"/>
                  </a:solidFill>
                  <a:latin typeface="Poppins SemiBold"/>
                  <a:ea typeface="Poppins SemiBold"/>
                  <a:cs typeface="Poppins SemiBold"/>
                  <a:sym typeface="Poppins SemiBold"/>
                </a:rPr>
                <a:t>224 × 224</a:t>
              </a:r>
              <a:endParaRPr/>
            </a:p>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Batch Size</a:t>
              </a:r>
              <a:r>
                <a:rPr lang="en-GB" sz="750" b="0">
                  <a:solidFill>
                    <a:srgbClr val="FFFFFF"/>
                  </a:solidFill>
                  <a:latin typeface="Poppins SemiBold"/>
                  <a:ea typeface="Poppins SemiBold"/>
                  <a:cs typeface="Poppins SemiBold"/>
                  <a:sym typeface="Poppins SemiBold"/>
                </a:rPr>
                <a:t>32</a:t>
              </a:r>
              <a:endParaRPr/>
            </a:p>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Validation Split</a:t>
              </a:r>
              <a:r>
                <a:rPr lang="en-GB" sz="750" b="0">
                  <a:solidFill>
                    <a:srgbClr val="FFFFFF"/>
                  </a:solidFill>
                  <a:latin typeface="Poppins SemiBold"/>
                  <a:ea typeface="Poppins SemiBold"/>
                  <a:cs typeface="Poppins SemiBold"/>
                  <a:sym typeface="Poppins SemiBold"/>
                </a:rPr>
                <a:t>20%</a:t>
              </a:r>
              <a:endParaRPr/>
            </a:p>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Framework</a:t>
              </a:r>
              <a:r>
                <a:rPr lang="en-GB" sz="750" b="0">
                  <a:solidFill>
                    <a:srgbClr val="FFFFFF"/>
                  </a:solidFill>
                  <a:latin typeface="Poppins SemiBold"/>
                  <a:ea typeface="Poppins SemiBold"/>
                  <a:cs typeface="Poppins SemiBold"/>
                  <a:sym typeface="Poppins SemiBold"/>
                </a:rPr>
                <a:t>TensorFlow</a:t>
              </a:r>
              <a:endParaRPr/>
            </a:p>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Dataset API</a:t>
              </a:r>
              <a:r>
                <a:rPr lang="en-GB" sz="750" b="0">
                  <a:solidFill>
                    <a:srgbClr val="FFFFFF"/>
                  </a:solidFill>
                  <a:latin typeface="Poppins SemiBold"/>
                  <a:ea typeface="Poppins SemiBold"/>
                  <a:cs typeface="Poppins SemiBold"/>
                  <a:sym typeface="Poppins SemiBold"/>
                </a:rPr>
                <a:t>tf.data</a:t>
              </a:r>
              <a:endParaRPr/>
            </a:p>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Pipeline Functions:</a:t>
              </a:r>
              <a:endParaRPr/>
            </a:p>
            <a:p>
              <a:pPr marL="0" lvl="0" indent="0" algn="l" rtl="0">
                <a:spcBef>
                  <a:spcPts val="0"/>
                </a:spcBef>
                <a:spcAft>
                  <a:spcPts val="0"/>
                </a:spcAft>
                <a:buNone/>
              </a:pPr>
              <a:r>
                <a:rPr lang="en-GB" sz="750" b="0">
                  <a:solidFill>
                    <a:srgbClr val="00F2FE"/>
                  </a:solidFill>
                  <a:latin typeface="Poppins SemiBold"/>
                  <a:ea typeface="Poppins SemiBold"/>
                  <a:cs typeface="Poppins SemiBold"/>
                  <a:sym typeface="Poppins SemiBold"/>
                </a:rPr>
                <a:t>✔ Cache()✔ Shuffle()</a:t>
              </a:r>
              <a:endParaRPr/>
            </a:p>
            <a:p>
              <a:pPr marL="0" lvl="0" indent="0" algn="l" rtl="0">
                <a:spcBef>
                  <a:spcPts val="0"/>
                </a:spcBef>
                <a:spcAft>
                  <a:spcPts val="0"/>
                </a:spcAft>
                <a:buNone/>
              </a:pPr>
              <a:r>
                <a:rPr lang="en-GB" sz="750" b="0">
                  <a:solidFill>
                    <a:srgbClr val="00F2FE"/>
                  </a:solidFill>
                  <a:latin typeface="Poppins SemiBold"/>
                  <a:ea typeface="Poppins SemiBold"/>
                  <a:cs typeface="Poppins SemiBold"/>
                  <a:sym typeface="Poppins SemiBold"/>
                </a:rPr>
                <a:t>✔ Prefetch()✔ Map()</a:t>
              </a:r>
              <a:endParaRPr/>
            </a:p>
          </p:txBody>
        </p:sp>
      </p:grpSp>
      <p:grpSp>
        <p:nvGrpSpPr>
          <p:cNvPr id="269" name="Google Shape;269;p17"/>
          <p:cNvGrpSpPr/>
          <p:nvPr/>
        </p:nvGrpSpPr>
        <p:grpSpPr>
          <a:xfrm>
            <a:off x="423863" y="4233863"/>
            <a:ext cx="8296200" cy="676200"/>
            <a:chOff x="423863" y="4233863"/>
            <a:chExt cx="8296200" cy="676200"/>
          </a:xfrm>
        </p:grpSpPr>
        <p:pic>
          <p:nvPicPr>
            <p:cNvPr id="270" name="Google Shape;270;p17"/>
            <p:cNvPicPr preferRelativeResize="0"/>
            <p:nvPr/>
          </p:nvPicPr>
          <p:blipFill rotWithShape="1">
            <a:blip r:embed="rId24">
              <a:alphaModFix/>
            </a:blip>
            <a:srcRect/>
            <a:stretch/>
          </p:blipFill>
          <p:spPr>
            <a:xfrm>
              <a:off x="423863" y="4233863"/>
              <a:ext cx="8296200" cy="676200"/>
            </a:xfrm>
            <a:prstGeom prst="rect">
              <a:avLst/>
            </a:prstGeom>
            <a:noFill/>
            <a:ln>
              <a:noFill/>
            </a:ln>
          </p:spPr>
        </p:pic>
        <p:sp>
          <p:nvSpPr>
            <p:cNvPr id="271" name="Google Shape;271;p17"/>
            <p:cNvSpPr/>
            <p:nvPr/>
          </p:nvSpPr>
          <p:spPr>
            <a:xfrm>
              <a:off x="428625" y="4238625"/>
              <a:ext cx="38100" cy="6669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272" name="Google Shape;272;p17"/>
            <p:cNvSpPr txBox="1"/>
            <p:nvPr/>
          </p:nvSpPr>
          <p:spPr>
            <a:xfrm>
              <a:off x="619125" y="4333875"/>
              <a:ext cx="7905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00" b="1">
                  <a:solidFill>
                    <a:srgbClr val="E2E8F0"/>
                  </a:solidFill>
                  <a:latin typeface="Poppins"/>
                  <a:ea typeface="Poppins"/>
                  <a:cs typeface="Poppins"/>
                  <a:sym typeface="Poppins"/>
                </a:rPr>
                <a:t>Why This Matters:</a:t>
              </a:r>
              <a:r>
                <a:rPr lang="en-GB" sz="800" b="0">
                  <a:solidFill>
                    <a:srgbClr val="E2E8F0"/>
                  </a:solidFill>
                  <a:latin typeface="Poppins"/>
                  <a:ea typeface="Poppins"/>
                  <a:cs typeface="Poppins"/>
                  <a:sym typeface="Poppins"/>
                </a:rPr>
                <a:t> Consistent image dimensions and normalized pixel values help the CNN focus on meaningful brain patterns rather than differences in image size or brightness. The optimized TensorFlow data pipeline also improves training speed and overall efficiency.</a:t>
              </a:r>
              <a:endParaRPr sz="800" b="0">
                <a:solidFill>
                  <a:srgbClr val="E2E8F0"/>
                </a:solidFill>
                <a:latin typeface="Poppins"/>
                <a:ea typeface="Poppins"/>
                <a:cs typeface="Poppins"/>
                <a:sym typeface="Poppin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6"/>
        <p:cNvGrpSpPr/>
        <p:nvPr/>
      </p:nvGrpSpPr>
      <p:grpSpPr>
        <a:xfrm>
          <a:off x="0" y="0"/>
          <a:ext cx="0" cy="0"/>
          <a:chOff x="0" y="0"/>
          <a:chExt cx="0" cy="0"/>
        </a:xfrm>
      </p:grpSpPr>
      <p:grpSp>
        <p:nvGrpSpPr>
          <p:cNvPr id="277" name="Google Shape;277;p18"/>
          <p:cNvGrpSpPr/>
          <p:nvPr/>
        </p:nvGrpSpPr>
        <p:grpSpPr>
          <a:xfrm>
            <a:off x="942975" y="1223963"/>
            <a:ext cx="7162950" cy="1071713"/>
            <a:chOff x="942975" y="1223963"/>
            <a:chExt cx="7162950" cy="1071713"/>
          </a:xfrm>
        </p:grpSpPr>
        <p:pic>
          <p:nvPicPr>
            <p:cNvPr id="278" name="Google Shape;278;p18"/>
            <p:cNvPicPr preferRelativeResize="0"/>
            <p:nvPr/>
          </p:nvPicPr>
          <p:blipFill rotWithShape="1">
            <a:blip r:embed="rId4">
              <a:alphaModFix/>
            </a:blip>
            <a:srcRect/>
            <a:stretch/>
          </p:blipFill>
          <p:spPr>
            <a:xfrm>
              <a:off x="942975" y="1419225"/>
              <a:ext cx="19200" cy="19200"/>
            </a:xfrm>
            <a:prstGeom prst="rect">
              <a:avLst/>
            </a:prstGeom>
            <a:noFill/>
            <a:ln>
              <a:noFill/>
            </a:ln>
          </p:spPr>
        </p:pic>
        <p:pic>
          <p:nvPicPr>
            <p:cNvPr id="279" name="Google Shape;279;p18"/>
            <p:cNvPicPr preferRelativeResize="0"/>
            <p:nvPr/>
          </p:nvPicPr>
          <p:blipFill rotWithShape="1">
            <a:blip r:embed="rId4">
              <a:alphaModFix/>
            </a:blip>
            <a:srcRect/>
            <a:stretch/>
          </p:blipFill>
          <p:spPr>
            <a:xfrm>
              <a:off x="2371725" y="2085975"/>
              <a:ext cx="19200" cy="19200"/>
            </a:xfrm>
            <a:prstGeom prst="rect">
              <a:avLst/>
            </a:prstGeom>
            <a:noFill/>
            <a:ln>
              <a:noFill/>
            </a:ln>
          </p:spPr>
        </p:pic>
        <p:pic>
          <p:nvPicPr>
            <p:cNvPr id="280" name="Google Shape;280;p18"/>
            <p:cNvPicPr preferRelativeResize="0"/>
            <p:nvPr/>
          </p:nvPicPr>
          <p:blipFill rotWithShape="1">
            <a:blip r:embed="rId5">
              <a:alphaModFix/>
            </a:blip>
            <a:srcRect/>
            <a:stretch/>
          </p:blipFill>
          <p:spPr>
            <a:xfrm>
              <a:off x="3795713" y="1223963"/>
              <a:ext cx="28500" cy="28500"/>
            </a:xfrm>
            <a:prstGeom prst="rect">
              <a:avLst/>
            </a:prstGeom>
            <a:noFill/>
            <a:ln>
              <a:noFill/>
            </a:ln>
          </p:spPr>
        </p:pic>
        <p:pic>
          <p:nvPicPr>
            <p:cNvPr id="281" name="Google Shape;281;p18"/>
            <p:cNvPicPr preferRelativeResize="0"/>
            <p:nvPr/>
          </p:nvPicPr>
          <p:blipFill rotWithShape="1">
            <a:blip r:embed="rId4">
              <a:alphaModFix/>
            </a:blip>
            <a:srcRect/>
            <a:stretch/>
          </p:blipFill>
          <p:spPr>
            <a:xfrm>
              <a:off x="5229225" y="2276475"/>
              <a:ext cx="19200" cy="19200"/>
            </a:xfrm>
            <a:prstGeom prst="rect">
              <a:avLst/>
            </a:prstGeom>
            <a:noFill/>
            <a:ln>
              <a:noFill/>
            </a:ln>
          </p:spPr>
        </p:pic>
        <p:pic>
          <p:nvPicPr>
            <p:cNvPr id="282" name="Google Shape;282;p18"/>
            <p:cNvPicPr preferRelativeResize="0"/>
            <p:nvPr/>
          </p:nvPicPr>
          <p:blipFill rotWithShape="1">
            <a:blip r:embed="rId6">
              <a:alphaModFix/>
            </a:blip>
            <a:srcRect/>
            <a:stretch/>
          </p:blipFill>
          <p:spPr>
            <a:xfrm>
              <a:off x="6648450" y="1504950"/>
              <a:ext cx="38100" cy="38100"/>
            </a:xfrm>
            <a:prstGeom prst="rect">
              <a:avLst/>
            </a:prstGeom>
            <a:noFill/>
            <a:ln>
              <a:noFill/>
            </a:ln>
          </p:spPr>
        </p:pic>
        <p:pic>
          <p:nvPicPr>
            <p:cNvPr id="283" name="Google Shape;283;p18"/>
            <p:cNvPicPr preferRelativeResize="0"/>
            <p:nvPr/>
          </p:nvPicPr>
          <p:blipFill rotWithShape="1">
            <a:blip r:embed="rId4">
              <a:alphaModFix/>
            </a:blip>
            <a:srcRect/>
            <a:stretch/>
          </p:blipFill>
          <p:spPr>
            <a:xfrm>
              <a:off x="8086725" y="1895475"/>
              <a:ext cx="19200" cy="19200"/>
            </a:xfrm>
            <a:prstGeom prst="rect">
              <a:avLst/>
            </a:prstGeom>
            <a:noFill/>
            <a:ln>
              <a:noFill/>
            </a:ln>
          </p:spPr>
        </p:pic>
        <p:pic>
          <p:nvPicPr>
            <p:cNvPr id="284" name="Google Shape;284;p18"/>
            <p:cNvPicPr preferRelativeResize="0"/>
            <p:nvPr/>
          </p:nvPicPr>
          <p:blipFill rotWithShape="1">
            <a:blip r:embed="rId7">
              <a:alphaModFix/>
            </a:blip>
            <a:srcRect/>
            <a:stretch/>
          </p:blipFill>
          <p:spPr>
            <a:xfrm>
              <a:off x="952500" y="1233488"/>
              <a:ext cx="7143900" cy="1057200"/>
            </a:xfrm>
            <a:prstGeom prst="rect">
              <a:avLst/>
            </a:prstGeom>
            <a:noFill/>
            <a:ln>
              <a:noFill/>
            </a:ln>
          </p:spPr>
        </p:pic>
        <p:pic>
          <p:nvPicPr>
            <p:cNvPr id="285" name="Google Shape;285;p18"/>
            <p:cNvPicPr preferRelativeResize="0"/>
            <p:nvPr/>
          </p:nvPicPr>
          <p:blipFill rotWithShape="1">
            <a:blip r:embed="rId8">
              <a:alphaModFix/>
            </a:blip>
            <a:srcRect/>
            <a:stretch/>
          </p:blipFill>
          <p:spPr>
            <a:xfrm>
              <a:off x="2381250" y="1233488"/>
              <a:ext cx="4286400" cy="1057200"/>
            </a:xfrm>
            <a:prstGeom prst="rect">
              <a:avLst/>
            </a:prstGeom>
            <a:noFill/>
            <a:ln>
              <a:noFill/>
            </a:ln>
          </p:spPr>
        </p:pic>
      </p:grpSp>
      <p:grpSp>
        <p:nvGrpSpPr>
          <p:cNvPr id="286" name="Google Shape;286;p18"/>
          <p:cNvGrpSpPr/>
          <p:nvPr/>
        </p:nvGrpSpPr>
        <p:grpSpPr>
          <a:xfrm>
            <a:off x="428625" y="285750"/>
            <a:ext cx="8286900" cy="552450"/>
            <a:chOff x="0" y="0"/>
            <a:chExt cx="8286900" cy="552450"/>
          </a:xfrm>
        </p:grpSpPr>
        <p:sp>
          <p:nvSpPr>
            <p:cNvPr id="287" name="Google Shape;287;p18"/>
            <p:cNvSpPr txBox="1"/>
            <p:nvPr/>
          </p:nvSpPr>
          <p:spPr>
            <a:xfrm>
              <a:off x="0" y="0"/>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00F2FE"/>
                  </a:solidFill>
                  <a:latin typeface="Poppins"/>
                  <a:ea typeface="Poppins"/>
                  <a:cs typeface="Poppins"/>
                  <a:sym typeface="Poppins"/>
                </a:rPr>
                <a:t>CNN Model Architecture</a:t>
              </a:r>
              <a:endParaRPr sz="850" b="1">
                <a:solidFill>
                  <a:srgbClr val="00F2FE"/>
                </a:solidFill>
                <a:latin typeface="Poppins"/>
                <a:ea typeface="Poppins"/>
                <a:cs typeface="Poppins"/>
                <a:sym typeface="Poppins"/>
              </a:endParaRPr>
            </a:p>
          </p:txBody>
        </p:sp>
        <p:sp>
          <p:nvSpPr>
            <p:cNvPr id="288" name="Google Shape;288;p18"/>
            <p:cNvSpPr txBox="1"/>
            <p:nvPr/>
          </p:nvSpPr>
          <p:spPr>
            <a:xfrm>
              <a:off x="0" y="171450"/>
              <a:ext cx="8286900" cy="381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How the Network Learns Patterns from Brain MRI</a:t>
              </a:r>
              <a:endParaRPr sz="1800" b="1">
                <a:solidFill>
                  <a:srgbClr val="FFFFFF"/>
                </a:solidFill>
                <a:latin typeface="Poppins"/>
                <a:ea typeface="Poppins"/>
                <a:cs typeface="Poppins"/>
                <a:sym typeface="Poppins"/>
              </a:endParaRPr>
            </a:p>
          </p:txBody>
        </p:sp>
      </p:grpSp>
      <p:grpSp>
        <p:nvGrpSpPr>
          <p:cNvPr id="289" name="Google Shape;289;p18"/>
          <p:cNvGrpSpPr/>
          <p:nvPr/>
        </p:nvGrpSpPr>
        <p:grpSpPr>
          <a:xfrm>
            <a:off x="423863" y="1219200"/>
            <a:ext cx="8410500" cy="1400325"/>
            <a:chOff x="-4762" y="266700"/>
            <a:chExt cx="8410500" cy="1400325"/>
          </a:xfrm>
        </p:grpSpPr>
        <p:cxnSp>
          <p:nvCxnSpPr>
            <p:cNvPr id="290" name="Google Shape;290;p18"/>
            <p:cNvCxnSpPr/>
            <p:nvPr/>
          </p:nvCxnSpPr>
          <p:spPr>
            <a:xfrm>
              <a:off x="381000" y="857250"/>
              <a:ext cx="7524900" cy="0"/>
            </a:xfrm>
            <a:prstGeom prst="straightConnector1">
              <a:avLst/>
            </a:prstGeom>
            <a:solidFill>
              <a:srgbClr val="FFFFFF"/>
            </a:solidFill>
            <a:ln w="19050" cap="flat" cmpd="sng">
              <a:solidFill>
                <a:srgbClr val="1E293B"/>
              </a:solidFill>
              <a:prstDash val="solid"/>
              <a:round/>
              <a:headEnd type="none" w="sm" len="sm"/>
              <a:tailEnd type="none" w="sm" len="sm"/>
            </a:ln>
          </p:spPr>
        </p:cxnSp>
        <p:grpSp>
          <p:nvGrpSpPr>
            <p:cNvPr id="291" name="Google Shape;291;p18"/>
            <p:cNvGrpSpPr/>
            <p:nvPr/>
          </p:nvGrpSpPr>
          <p:grpSpPr>
            <a:xfrm>
              <a:off x="-4762" y="423863"/>
              <a:ext cx="828600" cy="1243163"/>
              <a:chOff x="-4762" y="-4762"/>
              <a:chExt cx="828600" cy="1243163"/>
            </a:xfrm>
          </p:grpSpPr>
          <p:pic>
            <p:nvPicPr>
              <p:cNvPr id="292" name="Google Shape;292;p18"/>
              <p:cNvPicPr preferRelativeResize="0"/>
              <p:nvPr/>
            </p:nvPicPr>
            <p:blipFill rotWithShape="1">
              <a:blip r:embed="rId9">
                <a:alphaModFix/>
              </a:blip>
              <a:srcRect/>
              <a:stretch/>
            </p:blipFill>
            <p:spPr>
              <a:xfrm>
                <a:off x="-4762" y="-4762"/>
                <a:ext cx="828600" cy="866700"/>
              </a:xfrm>
              <a:prstGeom prst="rect">
                <a:avLst/>
              </a:prstGeom>
              <a:noFill/>
              <a:ln>
                <a:noFill/>
              </a:ln>
            </p:spPr>
          </p:pic>
          <p:pic>
            <p:nvPicPr>
              <p:cNvPr id="293" name="Google Shape;293;p18" descr="A high-quality clinical dark sagittal brain MRI scan, showing crisp anatomical details of a brain slice with realistic medical diagnostic visualization"/>
              <p:cNvPicPr preferRelativeResize="0"/>
              <p:nvPr/>
            </p:nvPicPr>
            <p:blipFill rotWithShape="1">
              <a:blip r:embed="rId10">
                <a:alphaModFix/>
              </a:blip>
              <a:srcRect/>
              <a:stretch/>
            </p:blipFill>
            <p:spPr>
              <a:xfrm>
                <a:off x="76200" y="95250"/>
                <a:ext cx="666900" cy="666900"/>
              </a:xfrm>
              <a:prstGeom prst="roundRect">
                <a:avLst>
                  <a:gd name="adj" fmla="val 11428"/>
                </a:avLst>
              </a:prstGeom>
              <a:noFill/>
              <a:ln>
                <a:noFill/>
              </a:ln>
            </p:spPr>
          </p:pic>
          <p:sp>
            <p:nvSpPr>
              <p:cNvPr id="294" name="Google Shape;294;p18"/>
              <p:cNvSpPr txBox="1"/>
              <p:nvPr/>
            </p:nvSpPr>
            <p:spPr>
              <a:xfrm>
                <a:off x="0" y="952500"/>
                <a:ext cx="8193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FFFFFF"/>
                    </a:solidFill>
                    <a:latin typeface="Poppins"/>
                    <a:ea typeface="Poppins"/>
                    <a:cs typeface="Poppins"/>
                    <a:sym typeface="Poppins"/>
                  </a:rPr>
                  <a:t>Input MRI</a:t>
                </a:r>
                <a:endParaRPr sz="700" b="1">
                  <a:solidFill>
                    <a:srgbClr val="FFFFFF"/>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224x224x1</a:t>
                </a:r>
                <a:endParaRPr sz="600" b="1">
                  <a:solidFill>
                    <a:srgbClr val="94A3B8"/>
                  </a:solidFill>
                  <a:latin typeface="Poppins"/>
                  <a:ea typeface="Poppins"/>
                  <a:cs typeface="Poppins"/>
                  <a:sym typeface="Poppins"/>
                </a:endParaRPr>
              </a:p>
            </p:txBody>
          </p:sp>
        </p:grpSp>
        <p:pic>
          <p:nvPicPr>
            <p:cNvPr id="295" name="Google Shape;295;p18"/>
            <p:cNvPicPr preferRelativeResize="0"/>
            <p:nvPr/>
          </p:nvPicPr>
          <p:blipFill rotWithShape="1">
            <a:blip r:embed="rId11">
              <a:alphaModFix/>
            </a:blip>
            <a:srcRect/>
            <a:stretch/>
          </p:blipFill>
          <p:spPr>
            <a:xfrm>
              <a:off x="914400" y="847725"/>
              <a:ext cx="190500" cy="19200"/>
            </a:xfrm>
            <a:prstGeom prst="rect">
              <a:avLst/>
            </a:prstGeom>
            <a:noFill/>
            <a:ln>
              <a:noFill/>
            </a:ln>
          </p:spPr>
        </p:pic>
        <p:grpSp>
          <p:nvGrpSpPr>
            <p:cNvPr id="296" name="Google Shape;296;p18"/>
            <p:cNvGrpSpPr/>
            <p:nvPr/>
          </p:nvGrpSpPr>
          <p:grpSpPr>
            <a:xfrm>
              <a:off x="1090613" y="266700"/>
              <a:ext cx="1014300" cy="1400325"/>
              <a:chOff x="-147637" y="-161925"/>
              <a:chExt cx="1014300" cy="1400325"/>
            </a:xfrm>
          </p:grpSpPr>
          <p:pic>
            <p:nvPicPr>
              <p:cNvPr id="297" name="Google Shape;297;p18"/>
              <p:cNvPicPr preferRelativeResize="0"/>
              <p:nvPr/>
            </p:nvPicPr>
            <p:blipFill rotWithShape="1">
              <a:blip r:embed="rId12">
                <a:alphaModFix/>
              </a:blip>
              <a:srcRect/>
              <a:stretch/>
            </p:blipFill>
            <p:spPr>
              <a:xfrm>
                <a:off x="-147637" y="-161925"/>
                <a:ext cx="1014300" cy="1181100"/>
              </a:xfrm>
              <a:prstGeom prst="rect">
                <a:avLst/>
              </a:prstGeom>
              <a:noFill/>
              <a:ln>
                <a:noFill/>
              </a:ln>
            </p:spPr>
          </p:pic>
          <p:sp>
            <p:nvSpPr>
              <p:cNvPr id="298" name="Google Shape;298;p18"/>
              <p:cNvSpPr txBox="1"/>
              <p:nvPr/>
            </p:nvSpPr>
            <p:spPr>
              <a:xfrm>
                <a:off x="0" y="17145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800" b="1">
                    <a:solidFill>
                      <a:srgbClr val="00F2FE"/>
                    </a:solidFill>
                    <a:latin typeface="Courier New"/>
                    <a:ea typeface="Courier New"/>
                    <a:cs typeface="Courier New"/>
                    <a:sym typeface="Courier New"/>
                  </a:rPr>
                  <a:t>CONV</a:t>
                </a:r>
                <a:endParaRPr sz="1800" b="1">
                  <a:solidFill>
                    <a:srgbClr val="00F2FE"/>
                  </a:solidFill>
                  <a:latin typeface="Courier New"/>
                  <a:ea typeface="Courier New"/>
                  <a:cs typeface="Courier New"/>
                  <a:sym typeface="Courier New"/>
                </a:endParaRPr>
              </a:p>
            </p:txBody>
          </p:sp>
          <p:sp>
            <p:nvSpPr>
              <p:cNvPr id="299" name="Google Shape;299;p18"/>
              <p:cNvSpPr txBox="1"/>
              <p:nvPr/>
            </p:nvSpPr>
            <p:spPr>
              <a:xfrm>
                <a:off x="0" y="4953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b="0">
                    <a:solidFill>
                      <a:srgbClr val="FFFFFF"/>
                    </a:solidFill>
                    <a:latin typeface="Poppins"/>
                    <a:ea typeface="Poppins"/>
                    <a:cs typeface="Poppins"/>
                    <a:sym typeface="Poppins"/>
                  </a:rPr>
                  <a:t>32 Filters</a:t>
                </a:r>
                <a:endParaRPr sz="600" b="0">
                  <a:solidFill>
                    <a:srgbClr val="FFFFFF"/>
                  </a:solidFill>
                  <a:latin typeface="Poppins"/>
                  <a:ea typeface="Poppins"/>
                  <a:cs typeface="Poppins"/>
                  <a:sym typeface="Poppins"/>
                </a:endParaRPr>
              </a:p>
              <a:p>
                <a:pPr marL="0" lvl="0" indent="0" algn="ctr" rtl="0">
                  <a:spcBef>
                    <a:spcPts val="0"/>
                  </a:spcBef>
                  <a:spcAft>
                    <a:spcPts val="0"/>
                  </a:spcAft>
                  <a:buNone/>
                </a:pPr>
                <a:r>
                  <a:rPr lang="en-GB" sz="600" b="0">
                    <a:solidFill>
                      <a:srgbClr val="00F2FE"/>
                    </a:solidFill>
                    <a:latin typeface="Poppins"/>
                    <a:ea typeface="Poppins"/>
                    <a:cs typeface="Poppins"/>
                    <a:sym typeface="Poppins"/>
                  </a:rPr>
                  <a:t>3x3 ReLU</a:t>
                </a:r>
                <a:endParaRPr sz="600" b="0">
                  <a:solidFill>
                    <a:srgbClr val="00F2FE"/>
                  </a:solidFill>
                  <a:latin typeface="Poppins"/>
                  <a:ea typeface="Poppins"/>
                  <a:cs typeface="Poppins"/>
                  <a:sym typeface="Poppins"/>
                </a:endParaRPr>
              </a:p>
            </p:txBody>
          </p:sp>
          <p:sp>
            <p:nvSpPr>
              <p:cNvPr id="300" name="Google Shape;300;p18"/>
              <p:cNvSpPr txBox="1"/>
              <p:nvPr/>
            </p:nvSpPr>
            <p:spPr>
              <a:xfrm>
                <a:off x="0" y="9525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00F2FE"/>
                    </a:solidFill>
                    <a:latin typeface="Poppins"/>
                    <a:ea typeface="Poppins"/>
                    <a:cs typeface="Poppins"/>
                    <a:sym typeface="Poppins"/>
                  </a:rPr>
                  <a:t>Conv2D (1)</a:t>
                </a:r>
                <a:endParaRPr sz="700" b="1">
                  <a:solidFill>
                    <a:srgbClr val="00F2FE"/>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222x222x32</a:t>
                </a:r>
                <a:endParaRPr sz="600" b="1">
                  <a:solidFill>
                    <a:srgbClr val="94A3B8"/>
                  </a:solidFill>
                  <a:latin typeface="Poppins"/>
                  <a:ea typeface="Poppins"/>
                  <a:cs typeface="Poppins"/>
                  <a:sym typeface="Poppins"/>
                </a:endParaRPr>
              </a:p>
            </p:txBody>
          </p:sp>
        </p:grpSp>
        <p:pic>
          <p:nvPicPr>
            <p:cNvPr id="301" name="Google Shape;301;p18"/>
            <p:cNvPicPr preferRelativeResize="0"/>
            <p:nvPr/>
          </p:nvPicPr>
          <p:blipFill rotWithShape="1">
            <a:blip r:embed="rId13">
              <a:alphaModFix/>
            </a:blip>
            <a:srcRect/>
            <a:stretch/>
          </p:blipFill>
          <p:spPr>
            <a:xfrm>
              <a:off x="2057400" y="847725"/>
              <a:ext cx="171600" cy="19200"/>
            </a:xfrm>
            <a:prstGeom prst="rect">
              <a:avLst/>
            </a:prstGeom>
            <a:noFill/>
            <a:ln>
              <a:noFill/>
            </a:ln>
          </p:spPr>
        </p:pic>
        <p:grpSp>
          <p:nvGrpSpPr>
            <p:cNvPr id="302" name="Google Shape;302;p18"/>
            <p:cNvGrpSpPr/>
            <p:nvPr/>
          </p:nvGrpSpPr>
          <p:grpSpPr>
            <a:xfrm>
              <a:off x="2319338" y="423863"/>
              <a:ext cx="733500" cy="1243163"/>
              <a:chOff x="-4762" y="-4762"/>
              <a:chExt cx="733500" cy="1243163"/>
            </a:xfrm>
          </p:grpSpPr>
          <p:pic>
            <p:nvPicPr>
              <p:cNvPr id="303" name="Google Shape;303;p18"/>
              <p:cNvPicPr preferRelativeResize="0"/>
              <p:nvPr/>
            </p:nvPicPr>
            <p:blipFill rotWithShape="1">
              <a:blip r:embed="rId14">
                <a:alphaModFix/>
              </a:blip>
              <a:srcRect/>
              <a:stretch/>
            </p:blipFill>
            <p:spPr>
              <a:xfrm>
                <a:off x="-4762" y="-4762"/>
                <a:ext cx="733500" cy="866700"/>
              </a:xfrm>
              <a:prstGeom prst="rect">
                <a:avLst/>
              </a:prstGeom>
              <a:noFill/>
              <a:ln>
                <a:noFill/>
              </a:ln>
            </p:spPr>
          </p:pic>
          <p:sp>
            <p:nvSpPr>
              <p:cNvPr id="304" name="Google Shape;304;p18"/>
              <p:cNvSpPr txBox="1"/>
              <p:nvPr/>
            </p:nvSpPr>
            <p:spPr>
              <a:xfrm>
                <a:off x="0" y="17145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600" b="1">
                    <a:solidFill>
                      <a:srgbClr val="FFFFFF"/>
                    </a:solidFill>
                    <a:latin typeface="Courier New"/>
                    <a:ea typeface="Courier New"/>
                    <a:cs typeface="Courier New"/>
                    <a:sym typeface="Courier New"/>
                  </a:rPr>
                  <a:t>POOL</a:t>
                </a:r>
                <a:endParaRPr sz="1600" b="1">
                  <a:solidFill>
                    <a:srgbClr val="FFFFFF"/>
                  </a:solidFill>
                  <a:latin typeface="Courier New"/>
                  <a:ea typeface="Courier New"/>
                  <a:cs typeface="Courier New"/>
                  <a:sym typeface="Courier New"/>
                </a:endParaRPr>
              </a:p>
            </p:txBody>
          </p:sp>
          <p:sp>
            <p:nvSpPr>
              <p:cNvPr id="305" name="Google Shape;305;p18"/>
              <p:cNvSpPr txBox="1"/>
              <p:nvPr/>
            </p:nvSpPr>
            <p:spPr>
              <a:xfrm>
                <a:off x="0" y="4953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0">
                    <a:solidFill>
                      <a:srgbClr val="FFFFFF"/>
                    </a:solidFill>
                    <a:latin typeface="Poppins"/>
                    <a:ea typeface="Poppins"/>
                    <a:cs typeface="Poppins"/>
                    <a:sym typeface="Poppins"/>
                  </a:rPr>
                  <a:t>Max Pool</a:t>
                </a:r>
                <a:endParaRPr sz="650" b="0">
                  <a:solidFill>
                    <a:srgbClr val="FFFFFF"/>
                  </a:solidFill>
                  <a:latin typeface="Poppins"/>
                  <a:ea typeface="Poppins"/>
                  <a:cs typeface="Poppins"/>
                  <a:sym typeface="Poppins"/>
                </a:endParaRPr>
              </a:p>
              <a:p>
                <a:pPr marL="0" lvl="0" indent="0" algn="ctr" rtl="0">
                  <a:spcBef>
                    <a:spcPts val="0"/>
                  </a:spcBef>
                  <a:spcAft>
                    <a:spcPts val="0"/>
                  </a:spcAft>
                  <a:buNone/>
                </a:pPr>
                <a:r>
                  <a:rPr lang="en-GB" sz="650" b="0">
                    <a:solidFill>
                      <a:srgbClr val="94A3B8"/>
                    </a:solidFill>
                    <a:latin typeface="Poppins"/>
                    <a:ea typeface="Poppins"/>
                    <a:cs typeface="Poppins"/>
                    <a:sym typeface="Poppins"/>
                  </a:rPr>
                  <a:t>2x2</a:t>
                </a:r>
                <a:endParaRPr sz="650" b="0">
                  <a:solidFill>
                    <a:srgbClr val="94A3B8"/>
                  </a:solidFill>
                  <a:latin typeface="Poppins"/>
                  <a:ea typeface="Poppins"/>
                  <a:cs typeface="Poppins"/>
                  <a:sym typeface="Poppins"/>
                </a:endParaRPr>
              </a:p>
            </p:txBody>
          </p:sp>
          <p:sp>
            <p:nvSpPr>
              <p:cNvPr id="306" name="Google Shape;306;p18"/>
              <p:cNvSpPr txBox="1"/>
              <p:nvPr/>
            </p:nvSpPr>
            <p:spPr>
              <a:xfrm>
                <a:off x="0" y="9525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FFFFFF"/>
                    </a:solidFill>
                    <a:latin typeface="Poppins"/>
                    <a:ea typeface="Poppins"/>
                    <a:cs typeface="Poppins"/>
                    <a:sym typeface="Poppins"/>
                  </a:rPr>
                  <a:t>MaxPool (1)</a:t>
                </a:r>
                <a:endParaRPr sz="700" b="1">
                  <a:solidFill>
                    <a:srgbClr val="FFFFFF"/>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111x111x32</a:t>
                </a:r>
                <a:endParaRPr sz="600" b="1">
                  <a:solidFill>
                    <a:srgbClr val="94A3B8"/>
                  </a:solidFill>
                  <a:latin typeface="Poppins"/>
                  <a:ea typeface="Poppins"/>
                  <a:cs typeface="Poppins"/>
                  <a:sym typeface="Poppins"/>
                </a:endParaRPr>
              </a:p>
            </p:txBody>
          </p:sp>
        </p:grpSp>
        <p:pic>
          <p:nvPicPr>
            <p:cNvPr id="307" name="Google Shape;307;p18"/>
            <p:cNvPicPr preferRelativeResize="0"/>
            <p:nvPr/>
          </p:nvPicPr>
          <p:blipFill rotWithShape="1">
            <a:blip r:embed="rId13">
              <a:alphaModFix/>
            </a:blip>
            <a:srcRect/>
            <a:stretch/>
          </p:blipFill>
          <p:spPr>
            <a:xfrm>
              <a:off x="3143250" y="847725"/>
              <a:ext cx="171600" cy="19200"/>
            </a:xfrm>
            <a:prstGeom prst="rect">
              <a:avLst/>
            </a:prstGeom>
            <a:noFill/>
            <a:ln>
              <a:noFill/>
            </a:ln>
          </p:spPr>
        </p:pic>
        <p:grpSp>
          <p:nvGrpSpPr>
            <p:cNvPr id="308" name="Google Shape;308;p18"/>
            <p:cNvGrpSpPr/>
            <p:nvPr/>
          </p:nvGrpSpPr>
          <p:grpSpPr>
            <a:xfrm>
              <a:off x="3405188" y="423863"/>
              <a:ext cx="733500" cy="1243163"/>
              <a:chOff x="-4762" y="-4762"/>
              <a:chExt cx="733500" cy="1243163"/>
            </a:xfrm>
          </p:grpSpPr>
          <p:pic>
            <p:nvPicPr>
              <p:cNvPr id="309" name="Google Shape;309;p18"/>
              <p:cNvPicPr preferRelativeResize="0"/>
              <p:nvPr/>
            </p:nvPicPr>
            <p:blipFill rotWithShape="1">
              <a:blip r:embed="rId15">
                <a:alphaModFix/>
              </a:blip>
              <a:srcRect/>
              <a:stretch/>
            </p:blipFill>
            <p:spPr>
              <a:xfrm>
                <a:off x="-4762" y="-4762"/>
                <a:ext cx="733500" cy="866700"/>
              </a:xfrm>
              <a:prstGeom prst="rect">
                <a:avLst/>
              </a:prstGeom>
              <a:noFill/>
              <a:ln>
                <a:noFill/>
              </a:ln>
            </p:spPr>
          </p:pic>
          <p:sp>
            <p:nvSpPr>
              <p:cNvPr id="310" name="Google Shape;310;p18"/>
              <p:cNvSpPr txBox="1"/>
              <p:nvPr/>
            </p:nvSpPr>
            <p:spPr>
              <a:xfrm>
                <a:off x="0" y="17145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800" b="1">
                    <a:solidFill>
                      <a:srgbClr val="00F2FE"/>
                    </a:solidFill>
                    <a:latin typeface="Courier New"/>
                    <a:ea typeface="Courier New"/>
                    <a:cs typeface="Courier New"/>
                    <a:sym typeface="Courier New"/>
                  </a:rPr>
                  <a:t>CONV</a:t>
                </a:r>
                <a:endParaRPr sz="1800" b="1">
                  <a:solidFill>
                    <a:srgbClr val="00F2FE"/>
                  </a:solidFill>
                  <a:latin typeface="Courier New"/>
                  <a:ea typeface="Courier New"/>
                  <a:cs typeface="Courier New"/>
                  <a:sym typeface="Courier New"/>
                </a:endParaRPr>
              </a:p>
            </p:txBody>
          </p:sp>
          <p:sp>
            <p:nvSpPr>
              <p:cNvPr id="311" name="Google Shape;311;p18"/>
              <p:cNvSpPr txBox="1"/>
              <p:nvPr/>
            </p:nvSpPr>
            <p:spPr>
              <a:xfrm>
                <a:off x="0" y="4953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00" b="0">
                    <a:solidFill>
                      <a:srgbClr val="FFFFFF"/>
                    </a:solidFill>
                    <a:latin typeface="Poppins"/>
                    <a:ea typeface="Poppins"/>
                    <a:cs typeface="Poppins"/>
                    <a:sym typeface="Poppins"/>
                  </a:rPr>
                  <a:t>64 Filters</a:t>
                </a:r>
                <a:endParaRPr sz="600" b="0">
                  <a:solidFill>
                    <a:srgbClr val="FFFFFF"/>
                  </a:solidFill>
                  <a:latin typeface="Poppins"/>
                  <a:ea typeface="Poppins"/>
                  <a:cs typeface="Poppins"/>
                  <a:sym typeface="Poppins"/>
                </a:endParaRPr>
              </a:p>
              <a:p>
                <a:pPr marL="0" lvl="0" indent="0" algn="ctr" rtl="0">
                  <a:spcBef>
                    <a:spcPts val="0"/>
                  </a:spcBef>
                  <a:spcAft>
                    <a:spcPts val="0"/>
                  </a:spcAft>
                  <a:buNone/>
                </a:pPr>
                <a:r>
                  <a:rPr lang="en-GB" sz="600" b="0">
                    <a:solidFill>
                      <a:srgbClr val="00F2FE"/>
                    </a:solidFill>
                    <a:latin typeface="Poppins"/>
                    <a:ea typeface="Poppins"/>
                    <a:cs typeface="Poppins"/>
                    <a:sym typeface="Poppins"/>
                  </a:rPr>
                  <a:t>3x3 ReLU</a:t>
                </a:r>
                <a:endParaRPr sz="600" b="0">
                  <a:solidFill>
                    <a:srgbClr val="00F2FE"/>
                  </a:solidFill>
                  <a:latin typeface="Poppins"/>
                  <a:ea typeface="Poppins"/>
                  <a:cs typeface="Poppins"/>
                  <a:sym typeface="Poppins"/>
                </a:endParaRPr>
              </a:p>
            </p:txBody>
          </p:sp>
          <p:sp>
            <p:nvSpPr>
              <p:cNvPr id="312" name="Google Shape;312;p18"/>
              <p:cNvSpPr txBox="1"/>
              <p:nvPr/>
            </p:nvSpPr>
            <p:spPr>
              <a:xfrm>
                <a:off x="0" y="9525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00F2FE"/>
                    </a:solidFill>
                    <a:latin typeface="Poppins"/>
                    <a:ea typeface="Poppins"/>
                    <a:cs typeface="Poppins"/>
                    <a:sym typeface="Poppins"/>
                  </a:rPr>
                  <a:t>Conv2D (2)</a:t>
                </a:r>
                <a:endParaRPr sz="700" b="1">
                  <a:solidFill>
                    <a:srgbClr val="00F2FE"/>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109x109x64</a:t>
                </a:r>
                <a:endParaRPr sz="600" b="1">
                  <a:solidFill>
                    <a:srgbClr val="94A3B8"/>
                  </a:solidFill>
                  <a:latin typeface="Poppins"/>
                  <a:ea typeface="Poppins"/>
                  <a:cs typeface="Poppins"/>
                  <a:sym typeface="Poppins"/>
                </a:endParaRPr>
              </a:p>
            </p:txBody>
          </p:sp>
        </p:grpSp>
        <p:pic>
          <p:nvPicPr>
            <p:cNvPr id="313" name="Google Shape;313;p18"/>
            <p:cNvPicPr preferRelativeResize="0"/>
            <p:nvPr/>
          </p:nvPicPr>
          <p:blipFill rotWithShape="1">
            <a:blip r:embed="rId13">
              <a:alphaModFix/>
            </a:blip>
            <a:srcRect/>
            <a:stretch/>
          </p:blipFill>
          <p:spPr>
            <a:xfrm>
              <a:off x="4229100" y="847725"/>
              <a:ext cx="171600" cy="19200"/>
            </a:xfrm>
            <a:prstGeom prst="rect">
              <a:avLst/>
            </a:prstGeom>
            <a:noFill/>
            <a:ln>
              <a:noFill/>
            </a:ln>
          </p:spPr>
        </p:pic>
        <p:grpSp>
          <p:nvGrpSpPr>
            <p:cNvPr id="314" name="Google Shape;314;p18"/>
            <p:cNvGrpSpPr/>
            <p:nvPr/>
          </p:nvGrpSpPr>
          <p:grpSpPr>
            <a:xfrm>
              <a:off x="4491038" y="423863"/>
              <a:ext cx="733500" cy="1243163"/>
              <a:chOff x="-4762" y="-4762"/>
              <a:chExt cx="733500" cy="1243163"/>
            </a:xfrm>
          </p:grpSpPr>
          <p:pic>
            <p:nvPicPr>
              <p:cNvPr id="315" name="Google Shape;315;p18"/>
              <p:cNvPicPr preferRelativeResize="0"/>
              <p:nvPr/>
            </p:nvPicPr>
            <p:blipFill rotWithShape="1">
              <a:blip r:embed="rId14">
                <a:alphaModFix/>
              </a:blip>
              <a:srcRect/>
              <a:stretch/>
            </p:blipFill>
            <p:spPr>
              <a:xfrm>
                <a:off x="-4762" y="-4762"/>
                <a:ext cx="733500" cy="866700"/>
              </a:xfrm>
              <a:prstGeom prst="rect">
                <a:avLst/>
              </a:prstGeom>
              <a:noFill/>
              <a:ln>
                <a:noFill/>
              </a:ln>
            </p:spPr>
          </p:pic>
          <p:sp>
            <p:nvSpPr>
              <p:cNvPr id="316" name="Google Shape;316;p18"/>
              <p:cNvSpPr txBox="1"/>
              <p:nvPr/>
            </p:nvSpPr>
            <p:spPr>
              <a:xfrm>
                <a:off x="0" y="17145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600" b="1">
                    <a:solidFill>
                      <a:srgbClr val="FFFFFF"/>
                    </a:solidFill>
                    <a:latin typeface="Courier New"/>
                    <a:ea typeface="Courier New"/>
                    <a:cs typeface="Courier New"/>
                    <a:sym typeface="Courier New"/>
                  </a:rPr>
                  <a:t>POOL</a:t>
                </a:r>
                <a:endParaRPr sz="1600" b="1">
                  <a:solidFill>
                    <a:srgbClr val="FFFFFF"/>
                  </a:solidFill>
                  <a:latin typeface="Courier New"/>
                  <a:ea typeface="Courier New"/>
                  <a:cs typeface="Courier New"/>
                  <a:sym typeface="Courier New"/>
                </a:endParaRPr>
              </a:p>
            </p:txBody>
          </p:sp>
          <p:sp>
            <p:nvSpPr>
              <p:cNvPr id="317" name="Google Shape;317;p18"/>
              <p:cNvSpPr txBox="1"/>
              <p:nvPr/>
            </p:nvSpPr>
            <p:spPr>
              <a:xfrm>
                <a:off x="0" y="4953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0">
                    <a:solidFill>
                      <a:srgbClr val="FFFFFF"/>
                    </a:solidFill>
                    <a:latin typeface="Poppins"/>
                    <a:ea typeface="Poppins"/>
                    <a:cs typeface="Poppins"/>
                    <a:sym typeface="Poppins"/>
                  </a:rPr>
                  <a:t>Max Pool</a:t>
                </a:r>
                <a:endParaRPr sz="650" b="0">
                  <a:solidFill>
                    <a:srgbClr val="FFFFFF"/>
                  </a:solidFill>
                  <a:latin typeface="Poppins"/>
                  <a:ea typeface="Poppins"/>
                  <a:cs typeface="Poppins"/>
                  <a:sym typeface="Poppins"/>
                </a:endParaRPr>
              </a:p>
              <a:p>
                <a:pPr marL="0" lvl="0" indent="0" algn="ctr" rtl="0">
                  <a:spcBef>
                    <a:spcPts val="0"/>
                  </a:spcBef>
                  <a:spcAft>
                    <a:spcPts val="0"/>
                  </a:spcAft>
                  <a:buNone/>
                </a:pPr>
                <a:r>
                  <a:rPr lang="en-GB" sz="650" b="0">
                    <a:solidFill>
                      <a:srgbClr val="94A3B8"/>
                    </a:solidFill>
                    <a:latin typeface="Poppins"/>
                    <a:ea typeface="Poppins"/>
                    <a:cs typeface="Poppins"/>
                    <a:sym typeface="Poppins"/>
                  </a:rPr>
                  <a:t>2x2</a:t>
                </a:r>
                <a:endParaRPr sz="650" b="0">
                  <a:solidFill>
                    <a:srgbClr val="94A3B8"/>
                  </a:solidFill>
                  <a:latin typeface="Poppins"/>
                  <a:ea typeface="Poppins"/>
                  <a:cs typeface="Poppins"/>
                  <a:sym typeface="Poppins"/>
                </a:endParaRPr>
              </a:p>
            </p:txBody>
          </p:sp>
          <p:sp>
            <p:nvSpPr>
              <p:cNvPr id="318" name="Google Shape;318;p18"/>
              <p:cNvSpPr txBox="1"/>
              <p:nvPr/>
            </p:nvSpPr>
            <p:spPr>
              <a:xfrm>
                <a:off x="0" y="9525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FFFFFF"/>
                    </a:solidFill>
                    <a:latin typeface="Poppins"/>
                    <a:ea typeface="Poppins"/>
                    <a:cs typeface="Poppins"/>
                    <a:sym typeface="Poppins"/>
                  </a:rPr>
                  <a:t>MaxPool (2)</a:t>
                </a:r>
                <a:endParaRPr sz="700" b="1">
                  <a:solidFill>
                    <a:srgbClr val="FFFFFF"/>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54x54x64</a:t>
                </a:r>
                <a:endParaRPr sz="600" b="1">
                  <a:solidFill>
                    <a:srgbClr val="94A3B8"/>
                  </a:solidFill>
                  <a:latin typeface="Poppins"/>
                  <a:ea typeface="Poppins"/>
                  <a:cs typeface="Poppins"/>
                  <a:sym typeface="Poppins"/>
                </a:endParaRPr>
              </a:p>
            </p:txBody>
          </p:sp>
        </p:grpSp>
        <p:pic>
          <p:nvPicPr>
            <p:cNvPr id="319" name="Google Shape;319;p18"/>
            <p:cNvPicPr preferRelativeResize="0"/>
            <p:nvPr/>
          </p:nvPicPr>
          <p:blipFill rotWithShape="1">
            <a:blip r:embed="rId13">
              <a:alphaModFix/>
            </a:blip>
            <a:srcRect/>
            <a:stretch/>
          </p:blipFill>
          <p:spPr>
            <a:xfrm>
              <a:off x="5314950" y="847725"/>
              <a:ext cx="171600" cy="19200"/>
            </a:xfrm>
            <a:prstGeom prst="rect">
              <a:avLst/>
            </a:prstGeom>
            <a:noFill/>
            <a:ln>
              <a:noFill/>
            </a:ln>
          </p:spPr>
        </p:pic>
        <p:grpSp>
          <p:nvGrpSpPr>
            <p:cNvPr id="320" name="Google Shape;320;p18"/>
            <p:cNvGrpSpPr/>
            <p:nvPr/>
          </p:nvGrpSpPr>
          <p:grpSpPr>
            <a:xfrm>
              <a:off x="5576888" y="423863"/>
              <a:ext cx="676200" cy="1243163"/>
              <a:chOff x="-4762" y="-4762"/>
              <a:chExt cx="676200" cy="1243163"/>
            </a:xfrm>
          </p:grpSpPr>
          <p:pic>
            <p:nvPicPr>
              <p:cNvPr id="321" name="Google Shape;321;p18"/>
              <p:cNvPicPr preferRelativeResize="0"/>
              <p:nvPr/>
            </p:nvPicPr>
            <p:blipFill rotWithShape="1">
              <a:blip r:embed="rId16">
                <a:alphaModFix/>
              </a:blip>
              <a:srcRect/>
              <a:stretch/>
            </p:blipFill>
            <p:spPr>
              <a:xfrm>
                <a:off x="-4762" y="-4762"/>
                <a:ext cx="676200" cy="866700"/>
              </a:xfrm>
              <a:prstGeom prst="rect">
                <a:avLst/>
              </a:prstGeom>
              <a:noFill/>
              <a:ln>
                <a:noFill/>
              </a:ln>
            </p:spPr>
          </p:pic>
          <p:grpSp>
            <p:nvGrpSpPr>
              <p:cNvPr id="322" name="Google Shape;322;p18"/>
              <p:cNvGrpSpPr/>
              <p:nvPr/>
            </p:nvGrpSpPr>
            <p:grpSpPr>
              <a:xfrm>
                <a:off x="190500" y="190500"/>
                <a:ext cx="257175" cy="133350"/>
                <a:chOff x="0" y="0"/>
                <a:chExt cx="257175" cy="133350"/>
              </a:xfrm>
            </p:grpSpPr>
            <p:pic>
              <p:nvPicPr>
                <p:cNvPr id="323" name="Google Shape;323;p18"/>
                <p:cNvPicPr preferRelativeResize="0"/>
                <p:nvPr/>
              </p:nvPicPr>
              <p:blipFill rotWithShape="1">
                <a:blip r:embed="rId17">
                  <a:alphaModFix/>
                </a:blip>
                <a:srcRect/>
                <a:stretch/>
              </p:blipFill>
              <p:spPr>
                <a:xfrm>
                  <a:off x="0" y="0"/>
                  <a:ext cx="57300" cy="57300"/>
                </a:xfrm>
                <a:prstGeom prst="rect">
                  <a:avLst/>
                </a:prstGeom>
                <a:noFill/>
                <a:ln>
                  <a:noFill/>
                </a:ln>
              </p:spPr>
            </p:pic>
            <p:pic>
              <p:nvPicPr>
                <p:cNvPr id="324" name="Google Shape;324;p18"/>
                <p:cNvPicPr preferRelativeResize="0"/>
                <p:nvPr/>
              </p:nvPicPr>
              <p:blipFill rotWithShape="1">
                <a:blip r:embed="rId17">
                  <a:alphaModFix/>
                </a:blip>
                <a:srcRect/>
                <a:stretch/>
              </p:blipFill>
              <p:spPr>
                <a:xfrm>
                  <a:off x="95250" y="0"/>
                  <a:ext cx="57300" cy="57300"/>
                </a:xfrm>
                <a:prstGeom prst="rect">
                  <a:avLst/>
                </a:prstGeom>
                <a:noFill/>
                <a:ln>
                  <a:noFill/>
                </a:ln>
              </p:spPr>
            </p:pic>
            <p:pic>
              <p:nvPicPr>
                <p:cNvPr id="325" name="Google Shape;325;p18"/>
                <p:cNvPicPr preferRelativeResize="0"/>
                <p:nvPr/>
              </p:nvPicPr>
              <p:blipFill rotWithShape="1">
                <a:blip r:embed="rId17">
                  <a:alphaModFix/>
                </a:blip>
                <a:srcRect/>
                <a:stretch/>
              </p:blipFill>
              <p:spPr>
                <a:xfrm>
                  <a:off x="190500" y="0"/>
                  <a:ext cx="57300" cy="57300"/>
                </a:xfrm>
                <a:prstGeom prst="rect">
                  <a:avLst/>
                </a:prstGeom>
                <a:noFill/>
                <a:ln>
                  <a:noFill/>
                </a:ln>
              </p:spPr>
            </p:pic>
            <p:pic>
              <p:nvPicPr>
                <p:cNvPr id="326" name="Google Shape;326;p18"/>
                <p:cNvPicPr preferRelativeResize="0"/>
                <p:nvPr/>
              </p:nvPicPr>
              <p:blipFill rotWithShape="1">
                <a:blip r:embed="rId18">
                  <a:alphaModFix/>
                </a:blip>
                <a:srcRect/>
                <a:stretch/>
              </p:blipFill>
              <p:spPr>
                <a:xfrm>
                  <a:off x="28575" y="104775"/>
                  <a:ext cx="228600" cy="19200"/>
                </a:xfrm>
                <a:prstGeom prst="rect">
                  <a:avLst/>
                </a:prstGeom>
                <a:noFill/>
                <a:ln>
                  <a:noFill/>
                </a:ln>
              </p:spPr>
            </p:pic>
            <p:pic>
              <p:nvPicPr>
                <p:cNvPr id="327" name="Google Shape;327;p18"/>
                <p:cNvPicPr preferRelativeResize="0"/>
                <p:nvPr/>
              </p:nvPicPr>
              <p:blipFill rotWithShape="1">
                <a:blip r:embed="rId19">
                  <a:alphaModFix/>
                </a:blip>
                <a:srcRect/>
                <a:stretch/>
              </p:blipFill>
              <p:spPr>
                <a:xfrm>
                  <a:off x="123825" y="95250"/>
                  <a:ext cx="38100" cy="38100"/>
                </a:xfrm>
                <a:prstGeom prst="rect">
                  <a:avLst/>
                </a:prstGeom>
                <a:noFill/>
                <a:ln>
                  <a:noFill/>
                </a:ln>
              </p:spPr>
            </p:pic>
          </p:grpSp>
          <p:sp>
            <p:nvSpPr>
              <p:cNvPr id="328" name="Google Shape;328;p18"/>
              <p:cNvSpPr txBox="1"/>
              <p:nvPr/>
            </p:nvSpPr>
            <p:spPr>
              <a:xfrm>
                <a:off x="0" y="495300"/>
                <a:ext cx="666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0">
                    <a:solidFill>
                      <a:srgbClr val="FFFFFF"/>
                    </a:solidFill>
                    <a:latin typeface="Poppins"/>
                    <a:ea typeface="Poppins"/>
                    <a:cs typeface="Poppins"/>
                    <a:sym typeface="Poppins"/>
                  </a:rPr>
                  <a:t>Flatten</a:t>
                </a:r>
                <a:endParaRPr sz="650" b="0">
                  <a:solidFill>
                    <a:srgbClr val="FFFFFF"/>
                  </a:solidFill>
                  <a:latin typeface="Poppins"/>
                  <a:ea typeface="Poppins"/>
                  <a:cs typeface="Poppins"/>
                  <a:sym typeface="Poppins"/>
                </a:endParaRPr>
              </a:p>
              <a:p>
                <a:pPr marL="0" lvl="0" indent="0" algn="ctr" rtl="0">
                  <a:spcBef>
                    <a:spcPts val="0"/>
                  </a:spcBef>
                  <a:spcAft>
                    <a:spcPts val="0"/>
                  </a:spcAft>
                  <a:buNone/>
                </a:pPr>
                <a:r>
                  <a:rPr lang="en-GB" sz="650" b="0">
                    <a:solidFill>
                      <a:srgbClr val="94A3B8"/>
                    </a:solidFill>
                    <a:latin typeface="Poppins"/>
                    <a:ea typeface="Poppins"/>
                    <a:cs typeface="Poppins"/>
                    <a:sym typeface="Poppins"/>
                  </a:rPr>
                  <a:t>2D to 1D</a:t>
                </a:r>
                <a:endParaRPr sz="650" b="0">
                  <a:solidFill>
                    <a:srgbClr val="94A3B8"/>
                  </a:solidFill>
                  <a:latin typeface="Poppins"/>
                  <a:ea typeface="Poppins"/>
                  <a:cs typeface="Poppins"/>
                  <a:sym typeface="Poppins"/>
                </a:endParaRPr>
              </a:p>
            </p:txBody>
          </p:sp>
          <p:sp>
            <p:nvSpPr>
              <p:cNvPr id="329" name="Google Shape;329;p18"/>
              <p:cNvSpPr txBox="1"/>
              <p:nvPr/>
            </p:nvSpPr>
            <p:spPr>
              <a:xfrm>
                <a:off x="0" y="952500"/>
                <a:ext cx="666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FFFFFF"/>
                    </a:solidFill>
                    <a:latin typeface="Poppins"/>
                    <a:ea typeface="Poppins"/>
                    <a:cs typeface="Poppins"/>
                    <a:sym typeface="Poppins"/>
                  </a:rPr>
                  <a:t>Flatten Layer</a:t>
                </a:r>
                <a:endParaRPr sz="700" b="1">
                  <a:solidFill>
                    <a:srgbClr val="FFFFFF"/>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186,624 Val</a:t>
                </a:r>
                <a:endParaRPr sz="600" b="1">
                  <a:solidFill>
                    <a:srgbClr val="94A3B8"/>
                  </a:solidFill>
                  <a:latin typeface="Poppins"/>
                  <a:ea typeface="Poppins"/>
                  <a:cs typeface="Poppins"/>
                  <a:sym typeface="Poppins"/>
                </a:endParaRPr>
              </a:p>
            </p:txBody>
          </p:sp>
        </p:grpSp>
        <p:pic>
          <p:nvPicPr>
            <p:cNvPr id="330" name="Google Shape;330;p18"/>
            <p:cNvPicPr preferRelativeResize="0"/>
            <p:nvPr/>
          </p:nvPicPr>
          <p:blipFill rotWithShape="1">
            <a:blip r:embed="rId13">
              <a:alphaModFix/>
            </a:blip>
            <a:srcRect/>
            <a:stretch/>
          </p:blipFill>
          <p:spPr>
            <a:xfrm>
              <a:off x="6343650" y="847725"/>
              <a:ext cx="171600" cy="19200"/>
            </a:xfrm>
            <a:prstGeom prst="rect">
              <a:avLst/>
            </a:prstGeom>
            <a:noFill/>
            <a:ln>
              <a:noFill/>
            </a:ln>
          </p:spPr>
        </p:pic>
        <p:grpSp>
          <p:nvGrpSpPr>
            <p:cNvPr id="331" name="Google Shape;331;p18"/>
            <p:cNvGrpSpPr/>
            <p:nvPr/>
          </p:nvGrpSpPr>
          <p:grpSpPr>
            <a:xfrm>
              <a:off x="6605588" y="423863"/>
              <a:ext cx="733500" cy="1243163"/>
              <a:chOff x="-4762" y="-4762"/>
              <a:chExt cx="733500" cy="1243163"/>
            </a:xfrm>
          </p:grpSpPr>
          <p:pic>
            <p:nvPicPr>
              <p:cNvPr id="332" name="Google Shape;332;p18"/>
              <p:cNvPicPr preferRelativeResize="0"/>
              <p:nvPr/>
            </p:nvPicPr>
            <p:blipFill rotWithShape="1">
              <a:blip r:embed="rId20">
                <a:alphaModFix/>
              </a:blip>
              <a:srcRect/>
              <a:stretch/>
            </p:blipFill>
            <p:spPr>
              <a:xfrm>
                <a:off x="-4762" y="-4762"/>
                <a:ext cx="733500" cy="866700"/>
              </a:xfrm>
              <a:prstGeom prst="rect">
                <a:avLst/>
              </a:prstGeom>
              <a:noFill/>
              <a:ln>
                <a:noFill/>
              </a:ln>
            </p:spPr>
          </p:pic>
          <p:sp>
            <p:nvSpPr>
              <p:cNvPr id="333" name="Google Shape;333;p18"/>
              <p:cNvSpPr txBox="1"/>
              <p:nvPr/>
            </p:nvSpPr>
            <p:spPr>
              <a:xfrm>
                <a:off x="0" y="17145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600" b="1">
                    <a:solidFill>
                      <a:srgbClr val="FFFFFF"/>
                    </a:solidFill>
                    <a:latin typeface="Courier New"/>
                    <a:ea typeface="Courier New"/>
                    <a:cs typeface="Courier New"/>
                    <a:sym typeface="Courier New"/>
                  </a:rPr>
                  <a:t>DENSE</a:t>
                </a:r>
                <a:endParaRPr sz="1600" b="1">
                  <a:solidFill>
                    <a:srgbClr val="FFFFFF"/>
                  </a:solidFill>
                  <a:latin typeface="Courier New"/>
                  <a:ea typeface="Courier New"/>
                  <a:cs typeface="Courier New"/>
                  <a:sym typeface="Courier New"/>
                </a:endParaRPr>
              </a:p>
            </p:txBody>
          </p:sp>
          <p:sp>
            <p:nvSpPr>
              <p:cNvPr id="334" name="Google Shape;334;p18"/>
              <p:cNvSpPr txBox="1"/>
              <p:nvPr/>
            </p:nvSpPr>
            <p:spPr>
              <a:xfrm>
                <a:off x="0" y="4953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0">
                    <a:solidFill>
                      <a:srgbClr val="FFFFFF"/>
                    </a:solidFill>
                    <a:latin typeface="Poppins"/>
                    <a:ea typeface="Poppins"/>
                    <a:cs typeface="Poppins"/>
                    <a:sym typeface="Poppins"/>
                  </a:rPr>
                  <a:t>128 Neurons</a:t>
                </a:r>
                <a:endParaRPr sz="650" b="0">
                  <a:solidFill>
                    <a:srgbClr val="FFFFFF"/>
                  </a:solidFill>
                  <a:latin typeface="Poppins"/>
                  <a:ea typeface="Poppins"/>
                  <a:cs typeface="Poppins"/>
                  <a:sym typeface="Poppins"/>
                </a:endParaRPr>
              </a:p>
              <a:p>
                <a:pPr marL="0" lvl="0" indent="0" algn="ctr" rtl="0">
                  <a:spcBef>
                    <a:spcPts val="0"/>
                  </a:spcBef>
                  <a:spcAft>
                    <a:spcPts val="0"/>
                  </a:spcAft>
                  <a:buNone/>
                </a:pPr>
                <a:r>
                  <a:rPr lang="en-GB" sz="650" b="0">
                    <a:solidFill>
                      <a:srgbClr val="00F2FE"/>
                    </a:solidFill>
                    <a:latin typeface="Poppins"/>
                    <a:ea typeface="Poppins"/>
                    <a:cs typeface="Poppins"/>
                    <a:sym typeface="Poppins"/>
                  </a:rPr>
                  <a:t>ReLU</a:t>
                </a:r>
                <a:endParaRPr sz="650" b="0">
                  <a:solidFill>
                    <a:srgbClr val="00F2FE"/>
                  </a:solidFill>
                  <a:latin typeface="Poppins"/>
                  <a:ea typeface="Poppins"/>
                  <a:cs typeface="Poppins"/>
                  <a:sym typeface="Poppins"/>
                </a:endParaRPr>
              </a:p>
            </p:txBody>
          </p:sp>
          <p:sp>
            <p:nvSpPr>
              <p:cNvPr id="335" name="Google Shape;335;p18"/>
              <p:cNvSpPr txBox="1"/>
              <p:nvPr/>
            </p:nvSpPr>
            <p:spPr>
              <a:xfrm>
                <a:off x="0" y="952500"/>
                <a:ext cx="723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FFFFFF"/>
                    </a:solidFill>
                    <a:latin typeface="Poppins"/>
                    <a:ea typeface="Poppins"/>
                    <a:cs typeface="Poppins"/>
                    <a:sym typeface="Poppins"/>
                  </a:rPr>
                  <a:t>Dense FC</a:t>
                </a:r>
                <a:endParaRPr sz="700" b="1">
                  <a:solidFill>
                    <a:srgbClr val="FFFFFF"/>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128 Outputs</a:t>
                </a:r>
                <a:endParaRPr sz="600" b="1">
                  <a:solidFill>
                    <a:srgbClr val="94A3B8"/>
                  </a:solidFill>
                  <a:latin typeface="Poppins"/>
                  <a:ea typeface="Poppins"/>
                  <a:cs typeface="Poppins"/>
                  <a:sym typeface="Poppins"/>
                </a:endParaRPr>
              </a:p>
            </p:txBody>
          </p:sp>
        </p:grpSp>
        <p:pic>
          <p:nvPicPr>
            <p:cNvPr id="336" name="Google Shape;336;p18"/>
            <p:cNvPicPr preferRelativeResize="0"/>
            <p:nvPr/>
          </p:nvPicPr>
          <p:blipFill rotWithShape="1">
            <a:blip r:embed="rId13">
              <a:alphaModFix/>
            </a:blip>
            <a:srcRect/>
            <a:stretch/>
          </p:blipFill>
          <p:spPr>
            <a:xfrm>
              <a:off x="7429500" y="847725"/>
              <a:ext cx="171600" cy="19200"/>
            </a:xfrm>
            <a:prstGeom prst="rect">
              <a:avLst/>
            </a:prstGeom>
            <a:noFill/>
            <a:ln>
              <a:noFill/>
            </a:ln>
          </p:spPr>
        </p:pic>
        <p:grpSp>
          <p:nvGrpSpPr>
            <p:cNvPr id="337" name="Google Shape;337;p18"/>
            <p:cNvGrpSpPr/>
            <p:nvPr/>
          </p:nvGrpSpPr>
          <p:grpSpPr>
            <a:xfrm>
              <a:off x="7577138" y="266700"/>
              <a:ext cx="828600" cy="1400325"/>
              <a:chOff x="-119062" y="-161925"/>
              <a:chExt cx="828600" cy="1400325"/>
            </a:xfrm>
          </p:grpSpPr>
          <p:pic>
            <p:nvPicPr>
              <p:cNvPr id="338" name="Google Shape;338;p18"/>
              <p:cNvPicPr preferRelativeResize="0"/>
              <p:nvPr/>
            </p:nvPicPr>
            <p:blipFill rotWithShape="1">
              <a:blip r:embed="rId21">
                <a:alphaModFix/>
              </a:blip>
              <a:srcRect/>
              <a:stretch/>
            </p:blipFill>
            <p:spPr>
              <a:xfrm>
                <a:off x="-119062" y="-161925"/>
                <a:ext cx="828600" cy="1181100"/>
              </a:xfrm>
              <a:prstGeom prst="rect">
                <a:avLst/>
              </a:prstGeom>
              <a:noFill/>
              <a:ln>
                <a:noFill/>
              </a:ln>
            </p:spPr>
          </p:pic>
          <p:sp>
            <p:nvSpPr>
              <p:cNvPr id="339" name="Google Shape;339;p18"/>
              <p:cNvSpPr txBox="1"/>
              <p:nvPr/>
            </p:nvSpPr>
            <p:spPr>
              <a:xfrm>
                <a:off x="0" y="142875"/>
                <a:ext cx="5907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200" b="1">
                    <a:solidFill>
                      <a:srgbClr val="FFFFFF"/>
                    </a:solidFill>
                    <a:latin typeface="Courier New"/>
                    <a:ea typeface="Courier New"/>
                    <a:cs typeface="Courier New"/>
                    <a:sym typeface="Courier New"/>
                  </a:rPr>
                  <a:t>OUT</a:t>
                </a:r>
                <a:endParaRPr sz="1200" b="1">
                  <a:solidFill>
                    <a:srgbClr val="FFFFFF"/>
                  </a:solidFill>
                  <a:latin typeface="Courier New"/>
                  <a:ea typeface="Courier New"/>
                  <a:cs typeface="Courier New"/>
                  <a:sym typeface="Courier New"/>
                </a:endParaRPr>
              </a:p>
            </p:txBody>
          </p:sp>
          <p:sp>
            <p:nvSpPr>
              <p:cNvPr id="340" name="Google Shape;340;p18"/>
              <p:cNvSpPr txBox="1"/>
              <p:nvPr/>
            </p:nvSpPr>
            <p:spPr>
              <a:xfrm>
                <a:off x="0" y="428625"/>
                <a:ext cx="590700" cy="381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550" b="1">
                    <a:solidFill>
                      <a:srgbClr val="00F2FE"/>
                    </a:solidFill>
                    <a:latin typeface="Poppins"/>
                    <a:ea typeface="Poppins"/>
                    <a:cs typeface="Poppins"/>
                    <a:sym typeface="Poppins"/>
                  </a:rPr>
                  <a:t>Softmax</a:t>
                </a:r>
                <a:endParaRPr sz="550" b="1">
                  <a:solidFill>
                    <a:srgbClr val="00F2FE"/>
                  </a:solidFill>
                  <a:latin typeface="Poppins"/>
                  <a:ea typeface="Poppins"/>
                  <a:cs typeface="Poppins"/>
                  <a:sym typeface="Poppins"/>
                </a:endParaRPr>
              </a:p>
              <a:p>
                <a:pPr marL="0" lvl="0" indent="0" algn="ctr" rtl="0">
                  <a:spcBef>
                    <a:spcPts val="0"/>
                  </a:spcBef>
                  <a:spcAft>
                    <a:spcPts val="0"/>
                  </a:spcAft>
                  <a:buNone/>
                </a:pPr>
                <a:r>
                  <a:rPr lang="en-GB" sz="500" b="0">
                    <a:solidFill>
                      <a:srgbClr val="FFFFFF"/>
                    </a:solidFill>
                    <a:latin typeface="Poppins"/>
                    <a:ea typeface="Poppins"/>
                    <a:cs typeface="Poppins"/>
                    <a:sym typeface="Poppins"/>
                  </a:rPr>
                  <a:t>Glioma, Menin, Pituitary, No</a:t>
                </a:r>
                <a:endParaRPr sz="500" b="0">
                  <a:solidFill>
                    <a:srgbClr val="FFFFFF"/>
                  </a:solidFill>
                  <a:latin typeface="Poppins"/>
                  <a:ea typeface="Poppins"/>
                  <a:cs typeface="Poppins"/>
                  <a:sym typeface="Poppins"/>
                </a:endParaRPr>
              </a:p>
            </p:txBody>
          </p:sp>
          <p:sp>
            <p:nvSpPr>
              <p:cNvPr id="341" name="Google Shape;341;p18"/>
              <p:cNvSpPr txBox="1"/>
              <p:nvPr/>
            </p:nvSpPr>
            <p:spPr>
              <a:xfrm>
                <a:off x="0" y="952500"/>
                <a:ext cx="5907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00" b="1">
                    <a:solidFill>
                      <a:srgbClr val="00F2FE"/>
                    </a:solidFill>
                    <a:latin typeface="Poppins"/>
                    <a:ea typeface="Poppins"/>
                    <a:cs typeface="Poppins"/>
                    <a:sym typeface="Poppins"/>
                  </a:rPr>
                  <a:t>Prediction</a:t>
                </a:r>
                <a:endParaRPr sz="700" b="1">
                  <a:solidFill>
                    <a:srgbClr val="00F2FE"/>
                  </a:solidFill>
                  <a:latin typeface="Poppins"/>
                  <a:ea typeface="Poppins"/>
                  <a:cs typeface="Poppins"/>
                  <a:sym typeface="Poppins"/>
                </a:endParaRPr>
              </a:p>
              <a:p>
                <a:pPr marL="0" lvl="0" indent="0" algn="ctr" rtl="0">
                  <a:spcBef>
                    <a:spcPts val="0"/>
                  </a:spcBef>
                  <a:spcAft>
                    <a:spcPts val="0"/>
                  </a:spcAft>
                  <a:buNone/>
                </a:pPr>
                <a:r>
                  <a:rPr lang="en-GB" sz="600" b="1">
                    <a:solidFill>
                      <a:srgbClr val="94A3B8"/>
                    </a:solidFill>
                    <a:latin typeface="Poppins"/>
                    <a:ea typeface="Poppins"/>
                    <a:cs typeface="Poppins"/>
                    <a:sym typeface="Poppins"/>
                  </a:rPr>
                  <a:t>4 Classes</a:t>
                </a:r>
                <a:endParaRPr sz="600" b="1">
                  <a:solidFill>
                    <a:srgbClr val="94A3B8"/>
                  </a:solidFill>
                  <a:latin typeface="Poppins"/>
                  <a:ea typeface="Poppins"/>
                  <a:cs typeface="Poppins"/>
                  <a:sym typeface="Poppins"/>
                </a:endParaRPr>
              </a:p>
            </p:txBody>
          </p:sp>
        </p:grpSp>
      </p:grpSp>
      <p:cxnSp>
        <p:nvCxnSpPr>
          <p:cNvPr id="342" name="Google Shape;342;p18"/>
          <p:cNvCxnSpPr/>
          <p:nvPr/>
        </p:nvCxnSpPr>
        <p:spPr>
          <a:xfrm>
            <a:off x="428625" y="2714625"/>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grpSp>
        <p:nvGrpSpPr>
          <p:cNvPr id="343" name="Google Shape;343;p18"/>
          <p:cNvGrpSpPr/>
          <p:nvPr/>
        </p:nvGrpSpPr>
        <p:grpSpPr>
          <a:xfrm>
            <a:off x="428625" y="2905125"/>
            <a:ext cx="4952925" cy="1114575"/>
            <a:chOff x="0" y="0"/>
            <a:chExt cx="4952925" cy="1114575"/>
          </a:xfrm>
        </p:grpSpPr>
        <p:sp>
          <p:nvSpPr>
            <p:cNvPr id="344" name="Google Shape;344;p18"/>
            <p:cNvSpPr txBox="1"/>
            <p:nvPr/>
          </p:nvSpPr>
          <p:spPr>
            <a:xfrm>
              <a:off x="0" y="0"/>
              <a:ext cx="3810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900" b="1">
                  <a:solidFill>
                    <a:srgbClr val="00F2FE"/>
                  </a:solidFill>
                  <a:latin typeface="Poppins"/>
                  <a:ea typeface="Poppins"/>
                  <a:cs typeface="Poppins"/>
                  <a:sym typeface="Poppins"/>
                </a:rPr>
                <a:t>Key Architecture Layers Explained</a:t>
              </a:r>
              <a:endParaRPr sz="900" b="1">
                <a:solidFill>
                  <a:srgbClr val="00F2FE"/>
                </a:solidFill>
                <a:latin typeface="Poppins"/>
                <a:ea typeface="Poppins"/>
                <a:cs typeface="Poppins"/>
                <a:sym typeface="Poppins"/>
              </a:endParaRPr>
            </a:p>
          </p:txBody>
        </p:sp>
        <p:grpSp>
          <p:nvGrpSpPr>
            <p:cNvPr id="345" name="Google Shape;345;p18"/>
            <p:cNvGrpSpPr/>
            <p:nvPr/>
          </p:nvGrpSpPr>
          <p:grpSpPr>
            <a:xfrm>
              <a:off x="0" y="238125"/>
              <a:ext cx="2428800" cy="400200"/>
              <a:chOff x="0" y="0"/>
              <a:chExt cx="2428800" cy="400200"/>
            </a:xfrm>
          </p:grpSpPr>
          <p:sp>
            <p:nvSpPr>
              <p:cNvPr id="346" name="Google Shape;346;p18"/>
              <p:cNvSpPr/>
              <p:nvPr/>
            </p:nvSpPr>
            <p:spPr>
              <a:xfrm>
                <a:off x="0" y="0"/>
                <a:ext cx="2428800" cy="400200"/>
              </a:xfrm>
              <a:prstGeom prst="roundRect">
                <a:avLst>
                  <a:gd name="adj" fmla="val 14285"/>
                </a:avLst>
              </a:prstGeom>
              <a:solidFill>
                <a:srgbClr val="0F172A">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47" name="Google Shape;347;p18"/>
              <p:cNvSpPr txBox="1"/>
              <p:nvPr/>
            </p:nvSpPr>
            <p:spPr>
              <a:xfrm>
                <a:off x="76200" y="38100"/>
                <a:ext cx="22764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94" b="1">
                    <a:solidFill>
                      <a:srgbClr val="00F2FE"/>
                    </a:solidFill>
                    <a:latin typeface="Poppins"/>
                    <a:ea typeface="Poppins"/>
                    <a:cs typeface="Poppins"/>
                    <a:sym typeface="Poppins"/>
                  </a:rPr>
                  <a:t>🔍 Convolution Layer:</a:t>
                </a:r>
                <a:r>
                  <a:rPr lang="en-GB" sz="694" b="0">
                    <a:solidFill>
                      <a:srgbClr val="FFFFFF"/>
                    </a:solidFill>
                    <a:latin typeface="Poppins"/>
                    <a:ea typeface="Poppins"/>
                    <a:cs typeface="Poppins"/>
                    <a:sym typeface="Poppins"/>
                  </a:rPr>
                  <a:t> Extracts highly specific spatial features like raw edges, detailed textures, and anatomical tumor patterns.</a:t>
                </a:r>
                <a:endParaRPr sz="694" b="0">
                  <a:solidFill>
                    <a:srgbClr val="FFFFFF"/>
                  </a:solidFill>
                  <a:latin typeface="Poppins"/>
                  <a:ea typeface="Poppins"/>
                  <a:cs typeface="Poppins"/>
                  <a:sym typeface="Poppins"/>
                </a:endParaRPr>
              </a:p>
            </p:txBody>
          </p:sp>
        </p:grpSp>
        <p:grpSp>
          <p:nvGrpSpPr>
            <p:cNvPr id="348" name="Google Shape;348;p18"/>
            <p:cNvGrpSpPr/>
            <p:nvPr/>
          </p:nvGrpSpPr>
          <p:grpSpPr>
            <a:xfrm>
              <a:off x="2524125" y="238125"/>
              <a:ext cx="2428800" cy="400200"/>
              <a:chOff x="0" y="0"/>
              <a:chExt cx="2428800" cy="400200"/>
            </a:xfrm>
          </p:grpSpPr>
          <p:sp>
            <p:nvSpPr>
              <p:cNvPr id="349" name="Google Shape;349;p18"/>
              <p:cNvSpPr/>
              <p:nvPr/>
            </p:nvSpPr>
            <p:spPr>
              <a:xfrm>
                <a:off x="0" y="0"/>
                <a:ext cx="2428800" cy="400200"/>
              </a:xfrm>
              <a:prstGeom prst="roundRect">
                <a:avLst>
                  <a:gd name="adj" fmla="val 14285"/>
                </a:avLst>
              </a:prstGeom>
              <a:solidFill>
                <a:srgbClr val="0F172A">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0" name="Google Shape;350;p18"/>
              <p:cNvSpPr txBox="1"/>
              <p:nvPr/>
            </p:nvSpPr>
            <p:spPr>
              <a:xfrm>
                <a:off x="76200" y="38100"/>
                <a:ext cx="22764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94" b="1">
                    <a:solidFill>
                      <a:srgbClr val="00F2FE"/>
                    </a:solidFill>
                    <a:latin typeface="Poppins"/>
                    <a:ea typeface="Poppins"/>
                    <a:cs typeface="Poppins"/>
                    <a:sym typeface="Poppins"/>
                  </a:rPr>
                  <a:t>📉 Max Pooling Layer:</a:t>
                </a:r>
                <a:r>
                  <a:rPr lang="en-GB" sz="694" b="0">
                    <a:solidFill>
                      <a:srgbClr val="FFFFFF"/>
                    </a:solidFill>
                    <a:latin typeface="Poppins"/>
                    <a:ea typeface="Poppins"/>
                    <a:cs typeface="Poppins"/>
                    <a:sym typeface="Poppins"/>
                  </a:rPr>
                  <a:t> Dynamically downsamples spatial dimensions, preserving crucial feature spikes while reducing GPU computation.</a:t>
                </a:r>
                <a:endParaRPr sz="694" b="0">
                  <a:solidFill>
                    <a:srgbClr val="FFFFFF"/>
                  </a:solidFill>
                  <a:latin typeface="Poppins"/>
                  <a:ea typeface="Poppins"/>
                  <a:cs typeface="Poppins"/>
                  <a:sym typeface="Poppins"/>
                </a:endParaRPr>
              </a:p>
            </p:txBody>
          </p:sp>
        </p:grpSp>
        <p:grpSp>
          <p:nvGrpSpPr>
            <p:cNvPr id="351" name="Google Shape;351;p18"/>
            <p:cNvGrpSpPr/>
            <p:nvPr/>
          </p:nvGrpSpPr>
          <p:grpSpPr>
            <a:xfrm>
              <a:off x="0" y="714375"/>
              <a:ext cx="2428800" cy="400200"/>
              <a:chOff x="0" y="0"/>
              <a:chExt cx="2428800" cy="400200"/>
            </a:xfrm>
          </p:grpSpPr>
          <p:sp>
            <p:nvSpPr>
              <p:cNvPr id="352" name="Google Shape;352;p18"/>
              <p:cNvSpPr/>
              <p:nvPr/>
            </p:nvSpPr>
            <p:spPr>
              <a:xfrm>
                <a:off x="0" y="0"/>
                <a:ext cx="2428800" cy="400200"/>
              </a:xfrm>
              <a:prstGeom prst="roundRect">
                <a:avLst>
                  <a:gd name="adj" fmla="val 14285"/>
                </a:avLst>
              </a:prstGeom>
              <a:solidFill>
                <a:srgbClr val="0F172A">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3" name="Google Shape;353;p18"/>
              <p:cNvSpPr txBox="1"/>
              <p:nvPr/>
            </p:nvSpPr>
            <p:spPr>
              <a:xfrm>
                <a:off x="76200" y="38100"/>
                <a:ext cx="22764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94" b="1">
                    <a:solidFill>
                      <a:srgbClr val="00F2FE"/>
                    </a:solidFill>
                    <a:latin typeface="Poppins"/>
                    <a:ea typeface="Poppins"/>
                    <a:cs typeface="Poppins"/>
                    <a:sym typeface="Poppins"/>
                  </a:rPr>
                  <a:t>📋 Flatten Layer:</a:t>
                </a:r>
                <a:r>
                  <a:rPr lang="en-GB" sz="694" b="0">
                    <a:solidFill>
                      <a:srgbClr val="FFFFFF"/>
                    </a:solidFill>
                    <a:latin typeface="Poppins"/>
                    <a:ea typeface="Poppins"/>
                    <a:cs typeface="Poppins"/>
                    <a:sym typeface="Poppins"/>
                  </a:rPr>
                  <a:t> Strategically unrolls 2D feature maps into a structured 1D tensor array ready for classification feed.</a:t>
                </a:r>
                <a:endParaRPr sz="694" b="0">
                  <a:solidFill>
                    <a:srgbClr val="FFFFFF"/>
                  </a:solidFill>
                  <a:latin typeface="Poppins"/>
                  <a:ea typeface="Poppins"/>
                  <a:cs typeface="Poppins"/>
                  <a:sym typeface="Poppins"/>
                </a:endParaRPr>
              </a:p>
            </p:txBody>
          </p:sp>
        </p:grpSp>
        <p:grpSp>
          <p:nvGrpSpPr>
            <p:cNvPr id="354" name="Google Shape;354;p18"/>
            <p:cNvGrpSpPr/>
            <p:nvPr/>
          </p:nvGrpSpPr>
          <p:grpSpPr>
            <a:xfrm>
              <a:off x="2524125" y="714375"/>
              <a:ext cx="2428800" cy="400200"/>
              <a:chOff x="0" y="0"/>
              <a:chExt cx="2428800" cy="400200"/>
            </a:xfrm>
          </p:grpSpPr>
          <p:sp>
            <p:nvSpPr>
              <p:cNvPr id="355" name="Google Shape;355;p18"/>
              <p:cNvSpPr/>
              <p:nvPr/>
            </p:nvSpPr>
            <p:spPr>
              <a:xfrm>
                <a:off x="0" y="0"/>
                <a:ext cx="2428800" cy="400200"/>
              </a:xfrm>
              <a:prstGeom prst="roundRect">
                <a:avLst>
                  <a:gd name="adj" fmla="val 14285"/>
                </a:avLst>
              </a:prstGeom>
              <a:solidFill>
                <a:srgbClr val="0F172A">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6" name="Google Shape;356;p18"/>
              <p:cNvSpPr txBox="1"/>
              <p:nvPr/>
            </p:nvSpPr>
            <p:spPr>
              <a:xfrm>
                <a:off x="76200" y="38100"/>
                <a:ext cx="22764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94" b="1">
                    <a:solidFill>
                      <a:srgbClr val="00F2FE"/>
                    </a:solidFill>
                    <a:latin typeface="Poppins"/>
                    <a:ea typeface="Poppins"/>
                    <a:cs typeface="Poppins"/>
                    <a:sym typeface="Poppins"/>
                  </a:rPr>
                  <a:t>🎯 Softmax Output:</a:t>
                </a:r>
                <a:r>
                  <a:rPr lang="en-GB" sz="694" b="0">
                    <a:solidFill>
                      <a:srgbClr val="FFFFFF"/>
                    </a:solidFill>
                    <a:latin typeface="Poppins"/>
                    <a:ea typeface="Poppins"/>
                    <a:cs typeface="Poppins"/>
                    <a:sym typeface="Poppins"/>
                  </a:rPr>
                  <a:t> Mathematically maps neural signals to clean, normalized probability distributions over the four tumor classes.</a:t>
                </a:r>
                <a:endParaRPr sz="694" b="0">
                  <a:solidFill>
                    <a:srgbClr val="FFFFFF"/>
                  </a:solidFill>
                  <a:latin typeface="Poppins"/>
                  <a:ea typeface="Poppins"/>
                  <a:cs typeface="Poppins"/>
                  <a:sym typeface="Poppins"/>
                </a:endParaRPr>
              </a:p>
            </p:txBody>
          </p:sp>
        </p:grpSp>
      </p:grpSp>
      <p:grpSp>
        <p:nvGrpSpPr>
          <p:cNvPr id="357" name="Google Shape;357;p18"/>
          <p:cNvGrpSpPr/>
          <p:nvPr/>
        </p:nvGrpSpPr>
        <p:grpSpPr>
          <a:xfrm>
            <a:off x="5572125" y="2905125"/>
            <a:ext cx="3143400" cy="1114500"/>
            <a:chOff x="0" y="0"/>
            <a:chExt cx="3143400" cy="1114500"/>
          </a:xfrm>
        </p:grpSpPr>
        <p:sp>
          <p:nvSpPr>
            <p:cNvPr id="358" name="Google Shape;358;p18"/>
            <p:cNvSpPr/>
            <p:nvPr/>
          </p:nvSpPr>
          <p:spPr>
            <a:xfrm>
              <a:off x="0" y="0"/>
              <a:ext cx="3143400" cy="1114500"/>
            </a:xfrm>
            <a:prstGeom prst="roundRect">
              <a:avLst>
                <a:gd name="adj" fmla="val 6837"/>
              </a:avLst>
            </a:prstGeom>
            <a:solidFill>
              <a:srgbClr val="00F2FE">
                <a:alpha val="5000"/>
              </a:srgbClr>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59" name="Google Shape;359;p18"/>
            <p:cNvSpPr txBox="1"/>
            <p:nvPr/>
          </p:nvSpPr>
          <p:spPr>
            <a:xfrm>
              <a:off x="142875" y="95250"/>
              <a:ext cx="2857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1">
                  <a:solidFill>
                    <a:srgbClr val="00F2FE"/>
                  </a:solidFill>
                  <a:latin typeface="Poppins"/>
                  <a:ea typeface="Poppins"/>
                  <a:cs typeface="Poppins"/>
                  <a:sym typeface="Poppins"/>
                </a:rPr>
                <a:t>Why Choose Convolutional Networks?</a:t>
              </a:r>
              <a:endParaRPr sz="1000" b="1">
                <a:solidFill>
                  <a:srgbClr val="00F2FE"/>
                </a:solidFill>
                <a:latin typeface="Poppins"/>
                <a:ea typeface="Poppins"/>
                <a:cs typeface="Poppins"/>
                <a:sym typeface="Poppins"/>
              </a:endParaRPr>
            </a:p>
          </p:txBody>
        </p:sp>
        <p:sp>
          <p:nvSpPr>
            <p:cNvPr id="360" name="Google Shape;360;p18"/>
            <p:cNvSpPr txBox="1"/>
            <p:nvPr/>
          </p:nvSpPr>
          <p:spPr>
            <a:xfrm>
              <a:off x="142875" y="304800"/>
              <a:ext cx="2857500" cy="762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00F2FE"/>
                  </a:solidFill>
                  <a:latin typeface="Poppins"/>
                  <a:ea typeface="Poppins"/>
                  <a:cs typeface="Poppins"/>
                  <a:sym typeface="Poppins"/>
                </a:rPr>
                <a:t>✔</a:t>
              </a:r>
              <a:r>
                <a:rPr lang="en-GB" sz="740" b="0">
                  <a:solidFill>
                    <a:srgbClr val="FFFFFF"/>
                  </a:solidFill>
                  <a:latin typeface="Poppins"/>
                  <a:ea typeface="Poppins"/>
                  <a:cs typeface="Poppins"/>
                  <a:sym typeface="Poppins"/>
                </a:rPr>
                <a:t> </a:t>
              </a:r>
              <a:r>
                <a:rPr lang="en-GB" sz="740" b="1">
                  <a:solidFill>
                    <a:srgbClr val="FFFFFF"/>
                  </a:solidFill>
                  <a:latin typeface="Poppins"/>
                  <a:ea typeface="Poppins"/>
                  <a:cs typeface="Poppins"/>
                  <a:sym typeface="Poppins"/>
                </a:rPr>
                <a:t>Autonomous Feature Learning:</a:t>
              </a:r>
              <a:r>
                <a:rPr lang="en-GB" sz="740" b="0">
                  <a:solidFill>
                    <a:srgbClr val="FFFFFF"/>
                  </a:solidFill>
                  <a:latin typeface="Poppins"/>
                  <a:ea typeface="Poppins"/>
                  <a:cs typeface="Poppins"/>
                  <a:sym typeface="Poppins"/>
                </a:rPr>
                <a:t> Completely eliminates manually-engineered edge filters.</a:t>
              </a:r>
              <a:endParaRPr sz="740" b="0">
                <a:solidFill>
                  <a:srgbClr val="FFFFFF"/>
                </a:solidFill>
                <a:latin typeface="Poppins"/>
                <a:ea typeface="Poppins"/>
                <a:cs typeface="Poppins"/>
                <a:sym typeface="Poppins"/>
              </a:endParaRPr>
            </a:p>
            <a:p>
              <a:pPr marL="0" lvl="0" indent="0" algn="l" rtl="0">
                <a:spcBef>
                  <a:spcPts val="225"/>
                </a:spcBef>
                <a:spcAft>
                  <a:spcPts val="0"/>
                </a:spcAft>
                <a:buNone/>
              </a:pPr>
              <a:r>
                <a:rPr lang="en-GB" sz="740" b="0">
                  <a:solidFill>
                    <a:srgbClr val="00F2FE"/>
                  </a:solidFill>
                  <a:latin typeface="Poppins"/>
                  <a:ea typeface="Poppins"/>
                  <a:cs typeface="Poppins"/>
                  <a:sym typeface="Poppins"/>
                </a:rPr>
                <a:t>✔</a:t>
              </a:r>
              <a:r>
                <a:rPr lang="en-GB" sz="740" b="0">
                  <a:solidFill>
                    <a:srgbClr val="FFFFFF"/>
                  </a:solidFill>
                  <a:latin typeface="Poppins"/>
                  <a:ea typeface="Poppins"/>
                  <a:cs typeface="Poppins"/>
                  <a:sym typeface="Poppins"/>
                </a:rPr>
                <a:t> </a:t>
              </a:r>
              <a:r>
                <a:rPr lang="en-GB" sz="740" b="1">
                  <a:solidFill>
                    <a:srgbClr val="FFFFFF"/>
                  </a:solidFill>
                  <a:latin typeface="Poppins"/>
                  <a:ea typeface="Poppins"/>
                  <a:cs typeface="Poppins"/>
                  <a:sym typeface="Poppins"/>
                </a:rPr>
                <a:t>Spatial Invariance:</a:t>
              </a:r>
              <a:r>
                <a:rPr lang="en-GB" sz="740" b="0">
                  <a:solidFill>
                    <a:srgbClr val="FFFFFF"/>
                  </a:solidFill>
                  <a:latin typeface="Poppins"/>
                  <a:ea typeface="Poppins"/>
                  <a:cs typeface="Poppins"/>
                  <a:sym typeface="Poppins"/>
                </a:rPr>
                <a:t> Successfully captures tumor characteristics regardless of raw location.</a:t>
              </a:r>
              <a:endParaRPr sz="740" b="0">
                <a:solidFill>
                  <a:srgbClr val="FFFFFF"/>
                </a:solidFill>
                <a:latin typeface="Poppins"/>
                <a:ea typeface="Poppins"/>
                <a:cs typeface="Poppins"/>
                <a:sym typeface="Poppins"/>
              </a:endParaRPr>
            </a:p>
            <a:p>
              <a:pPr marL="0" lvl="0" indent="0" algn="l" rtl="0">
                <a:spcBef>
                  <a:spcPts val="225"/>
                </a:spcBef>
                <a:spcAft>
                  <a:spcPts val="225"/>
                </a:spcAft>
                <a:buNone/>
              </a:pPr>
              <a:r>
                <a:rPr lang="en-GB" sz="740" b="0">
                  <a:solidFill>
                    <a:srgbClr val="00F2FE"/>
                  </a:solidFill>
                  <a:latin typeface="Poppins"/>
                  <a:ea typeface="Poppins"/>
                  <a:cs typeface="Poppins"/>
                  <a:sym typeface="Poppins"/>
                </a:rPr>
                <a:t>✔</a:t>
              </a:r>
              <a:r>
                <a:rPr lang="en-GB" sz="740" b="0">
                  <a:solidFill>
                    <a:srgbClr val="FFFFFF"/>
                  </a:solidFill>
                  <a:latin typeface="Poppins"/>
                  <a:ea typeface="Poppins"/>
                  <a:cs typeface="Poppins"/>
                  <a:sym typeface="Poppins"/>
                </a:rPr>
                <a:t> </a:t>
              </a:r>
              <a:r>
                <a:rPr lang="en-GB" sz="740" b="1">
                  <a:solidFill>
                    <a:srgbClr val="FFFFFF"/>
                  </a:solidFill>
                  <a:latin typeface="Poppins"/>
                  <a:ea typeface="Poppins"/>
                  <a:cs typeface="Poppins"/>
                  <a:sym typeface="Poppins"/>
                </a:rPr>
                <a:t>Clinical SOTA Accuracy:</a:t>
              </a:r>
              <a:r>
                <a:rPr lang="en-GB" sz="740" b="0">
                  <a:solidFill>
                    <a:srgbClr val="FFFFFF"/>
                  </a:solidFill>
                  <a:latin typeface="Poppins"/>
                  <a:ea typeface="Poppins"/>
                  <a:cs typeface="Poppins"/>
                  <a:sym typeface="Poppins"/>
                </a:rPr>
                <a:t> The gold-standard neural architecture for radiology imaging tasks.</a:t>
              </a:r>
              <a:endParaRPr sz="740" b="0">
                <a:solidFill>
                  <a:srgbClr val="FFFFFF"/>
                </a:solidFill>
                <a:latin typeface="Poppins"/>
                <a:ea typeface="Poppins"/>
                <a:cs typeface="Poppins"/>
                <a:sym typeface="Poppins"/>
              </a:endParaRPr>
            </a:p>
          </p:txBody>
        </p:sp>
      </p:grpSp>
      <p:grpSp>
        <p:nvGrpSpPr>
          <p:cNvPr id="361" name="Google Shape;361;p18"/>
          <p:cNvGrpSpPr/>
          <p:nvPr/>
        </p:nvGrpSpPr>
        <p:grpSpPr>
          <a:xfrm>
            <a:off x="428625" y="4714875"/>
            <a:ext cx="8286900" cy="285750"/>
            <a:chOff x="0" y="0"/>
            <a:chExt cx="8286900" cy="285750"/>
          </a:xfrm>
        </p:grpSpPr>
        <p:cxnSp>
          <p:nvCxnSpPr>
            <p:cNvPr id="362" name="Google Shape;362;p18"/>
            <p:cNvCxnSpPr/>
            <p:nvPr/>
          </p:nvCxnSpPr>
          <p:spPr>
            <a:xfrm>
              <a:off x="0" y="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363" name="Google Shape;363;p18"/>
            <p:cNvSpPr txBox="1"/>
            <p:nvPr/>
          </p:nvSpPr>
          <p:spPr>
            <a:xfrm>
              <a:off x="0" y="95250"/>
              <a:ext cx="3810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94" b="0">
                  <a:solidFill>
                    <a:srgbClr val="94A3B8"/>
                  </a:solidFill>
                  <a:latin typeface="Poppins"/>
                  <a:ea typeface="Poppins"/>
                  <a:cs typeface="Poppins"/>
                  <a:sym typeface="Poppins"/>
                </a:rPr>
                <a:t>Department of Data Science &amp; Artificial Intelligence</a:t>
              </a:r>
              <a:endParaRPr sz="694" b="0">
                <a:solidFill>
                  <a:srgbClr val="94A3B8"/>
                </a:solidFill>
                <a:latin typeface="Poppins"/>
                <a:ea typeface="Poppins"/>
                <a:cs typeface="Poppins"/>
                <a:sym typeface="Poppins"/>
              </a:endParaRPr>
            </a:p>
          </p:txBody>
        </p:sp>
        <p:sp>
          <p:nvSpPr>
            <p:cNvPr id="364" name="Google Shape;364;p18"/>
            <p:cNvSpPr txBox="1"/>
            <p:nvPr/>
          </p:nvSpPr>
          <p:spPr>
            <a:xfrm>
              <a:off x="6381750" y="95250"/>
              <a:ext cx="19050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694" b="0">
                  <a:solidFill>
                    <a:srgbClr val="00F2FE"/>
                  </a:solidFill>
                  <a:latin typeface="Poppins"/>
                  <a:ea typeface="Poppins"/>
                  <a:cs typeface="Poppins"/>
                  <a:sym typeface="Poppins"/>
                </a:rPr>
                <a:t>Presenter: Steve Emmanuel</a:t>
              </a:r>
              <a:endParaRPr sz="694" b="0">
                <a:solidFill>
                  <a:srgbClr val="00F2FE"/>
                </a:solidFill>
                <a:latin typeface="Poppins"/>
                <a:ea typeface="Poppins"/>
                <a:cs typeface="Poppins"/>
                <a:sym typeface="Poppins"/>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8"/>
        <p:cNvGrpSpPr/>
        <p:nvPr/>
      </p:nvGrpSpPr>
      <p:grpSpPr>
        <a:xfrm>
          <a:off x="0" y="0"/>
          <a:ext cx="0" cy="0"/>
          <a:chOff x="0" y="0"/>
          <a:chExt cx="0" cy="0"/>
        </a:xfrm>
      </p:grpSpPr>
      <p:grpSp>
        <p:nvGrpSpPr>
          <p:cNvPr id="369" name="Google Shape;369;p19"/>
          <p:cNvGrpSpPr/>
          <p:nvPr/>
        </p:nvGrpSpPr>
        <p:grpSpPr>
          <a:xfrm>
            <a:off x="457200" y="1123950"/>
            <a:ext cx="8334525" cy="2810025"/>
            <a:chOff x="457200" y="1123950"/>
            <a:chExt cx="8334525" cy="2810025"/>
          </a:xfrm>
        </p:grpSpPr>
        <p:pic>
          <p:nvPicPr>
            <p:cNvPr id="370" name="Google Shape;370;p19"/>
            <p:cNvPicPr preferRelativeResize="0"/>
            <p:nvPr/>
          </p:nvPicPr>
          <p:blipFill rotWithShape="1">
            <a:blip r:embed="rId4">
              <a:alphaModFix/>
            </a:blip>
            <a:srcRect/>
            <a:stretch/>
          </p:blipFill>
          <p:spPr>
            <a:xfrm>
              <a:off x="471488" y="1138238"/>
              <a:ext cx="8296200" cy="2766900"/>
            </a:xfrm>
            <a:prstGeom prst="rect">
              <a:avLst/>
            </a:prstGeom>
            <a:noFill/>
            <a:ln>
              <a:noFill/>
            </a:ln>
          </p:spPr>
        </p:pic>
        <p:pic>
          <p:nvPicPr>
            <p:cNvPr id="371" name="Google Shape;371;p19"/>
            <p:cNvPicPr preferRelativeResize="0"/>
            <p:nvPr/>
          </p:nvPicPr>
          <p:blipFill rotWithShape="1">
            <a:blip r:embed="rId5">
              <a:alphaModFix/>
            </a:blip>
            <a:srcRect/>
            <a:stretch/>
          </p:blipFill>
          <p:spPr>
            <a:xfrm>
              <a:off x="457200" y="1409700"/>
              <a:ext cx="38100" cy="38100"/>
            </a:xfrm>
            <a:prstGeom prst="rect">
              <a:avLst/>
            </a:prstGeom>
            <a:noFill/>
            <a:ln>
              <a:noFill/>
            </a:ln>
          </p:spPr>
        </p:pic>
        <p:pic>
          <p:nvPicPr>
            <p:cNvPr id="372" name="Google Shape;372;p19"/>
            <p:cNvPicPr preferRelativeResize="0"/>
            <p:nvPr/>
          </p:nvPicPr>
          <p:blipFill rotWithShape="1">
            <a:blip r:embed="rId6">
              <a:alphaModFix/>
            </a:blip>
            <a:srcRect/>
            <a:stretch/>
          </p:blipFill>
          <p:spPr>
            <a:xfrm>
              <a:off x="1400175" y="2066925"/>
              <a:ext cx="57300" cy="57300"/>
            </a:xfrm>
            <a:prstGeom prst="rect">
              <a:avLst/>
            </a:prstGeom>
            <a:noFill/>
            <a:ln>
              <a:noFill/>
            </a:ln>
          </p:spPr>
        </p:pic>
        <p:pic>
          <p:nvPicPr>
            <p:cNvPr id="373" name="Google Shape;373;p19"/>
            <p:cNvPicPr preferRelativeResize="0"/>
            <p:nvPr/>
          </p:nvPicPr>
          <p:blipFill rotWithShape="1">
            <a:blip r:embed="rId5">
              <a:alphaModFix/>
            </a:blip>
            <a:srcRect/>
            <a:stretch/>
          </p:blipFill>
          <p:spPr>
            <a:xfrm>
              <a:off x="2362200" y="1695450"/>
              <a:ext cx="38100" cy="38100"/>
            </a:xfrm>
            <a:prstGeom prst="rect">
              <a:avLst/>
            </a:prstGeom>
            <a:noFill/>
            <a:ln>
              <a:noFill/>
            </a:ln>
          </p:spPr>
        </p:pic>
        <p:pic>
          <p:nvPicPr>
            <p:cNvPr id="374" name="Google Shape;374;p19"/>
            <p:cNvPicPr preferRelativeResize="0"/>
            <p:nvPr/>
          </p:nvPicPr>
          <p:blipFill rotWithShape="1">
            <a:blip r:embed="rId7">
              <a:alphaModFix/>
            </a:blip>
            <a:srcRect/>
            <a:stretch/>
          </p:blipFill>
          <p:spPr>
            <a:xfrm>
              <a:off x="1681163" y="2824163"/>
              <a:ext cx="66600" cy="66600"/>
            </a:xfrm>
            <a:prstGeom prst="rect">
              <a:avLst/>
            </a:prstGeom>
            <a:noFill/>
            <a:ln>
              <a:noFill/>
            </a:ln>
          </p:spPr>
        </p:pic>
        <p:pic>
          <p:nvPicPr>
            <p:cNvPr id="375" name="Google Shape;375;p19"/>
            <p:cNvPicPr preferRelativeResize="0"/>
            <p:nvPr/>
          </p:nvPicPr>
          <p:blipFill rotWithShape="1">
            <a:blip r:embed="rId5">
              <a:alphaModFix/>
            </a:blip>
            <a:srcRect/>
            <a:stretch/>
          </p:blipFill>
          <p:spPr>
            <a:xfrm>
              <a:off x="838200" y="3600450"/>
              <a:ext cx="38100" cy="38100"/>
            </a:xfrm>
            <a:prstGeom prst="rect">
              <a:avLst/>
            </a:prstGeom>
            <a:noFill/>
            <a:ln>
              <a:noFill/>
            </a:ln>
          </p:spPr>
        </p:pic>
        <p:pic>
          <p:nvPicPr>
            <p:cNvPr id="376" name="Google Shape;376;p19"/>
            <p:cNvPicPr preferRelativeResize="0"/>
            <p:nvPr/>
          </p:nvPicPr>
          <p:blipFill rotWithShape="1">
            <a:blip r:embed="rId5">
              <a:alphaModFix/>
            </a:blip>
            <a:srcRect/>
            <a:stretch/>
          </p:blipFill>
          <p:spPr>
            <a:xfrm>
              <a:off x="7600950" y="1123950"/>
              <a:ext cx="38100" cy="38100"/>
            </a:xfrm>
            <a:prstGeom prst="rect">
              <a:avLst/>
            </a:prstGeom>
            <a:noFill/>
            <a:ln>
              <a:noFill/>
            </a:ln>
          </p:spPr>
        </p:pic>
        <p:pic>
          <p:nvPicPr>
            <p:cNvPr id="377" name="Google Shape;377;p19"/>
            <p:cNvPicPr preferRelativeResize="0"/>
            <p:nvPr/>
          </p:nvPicPr>
          <p:blipFill rotWithShape="1">
            <a:blip r:embed="rId6">
              <a:alphaModFix/>
            </a:blip>
            <a:srcRect/>
            <a:stretch/>
          </p:blipFill>
          <p:spPr>
            <a:xfrm>
              <a:off x="8639175" y="1876425"/>
              <a:ext cx="57300" cy="57300"/>
            </a:xfrm>
            <a:prstGeom prst="rect">
              <a:avLst/>
            </a:prstGeom>
            <a:noFill/>
            <a:ln>
              <a:noFill/>
            </a:ln>
          </p:spPr>
        </p:pic>
        <p:pic>
          <p:nvPicPr>
            <p:cNvPr id="378" name="Google Shape;378;p19"/>
            <p:cNvPicPr preferRelativeResize="0"/>
            <p:nvPr/>
          </p:nvPicPr>
          <p:blipFill rotWithShape="1">
            <a:blip r:embed="rId8">
              <a:alphaModFix/>
            </a:blip>
            <a:srcRect/>
            <a:stretch/>
          </p:blipFill>
          <p:spPr>
            <a:xfrm>
              <a:off x="8072438" y="3024188"/>
              <a:ext cx="47700" cy="47700"/>
            </a:xfrm>
            <a:prstGeom prst="rect">
              <a:avLst/>
            </a:prstGeom>
            <a:noFill/>
            <a:ln>
              <a:noFill/>
            </a:ln>
          </p:spPr>
        </p:pic>
        <p:pic>
          <p:nvPicPr>
            <p:cNvPr id="379" name="Google Shape;379;p19"/>
            <p:cNvPicPr preferRelativeResize="0"/>
            <p:nvPr/>
          </p:nvPicPr>
          <p:blipFill rotWithShape="1">
            <a:blip r:embed="rId6">
              <a:alphaModFix/>
            </a:blip>
            <a:srcRect/>
            <a:stretch/>
          </p:blipFill>
          <p:spPr>
            <a:xfrm>
              <a:off x="8734425" y="3876675"/>
              <a:ext cx="57300" cy="57300"/>
            </a:xfrm>
            <a:prstGeom prst="rect">
              <a:avLst/>
            </a:prstGeom>
            <a:noFill/>
            <a:ln>
              <a:noFill/>
            </a:ln>
          </p:spPr>
        </p:pic>
      </p:grpSp>
      <p:sp>
        <p:nvSpPr>
          <p:cNvPr id="380" name="Google Shape;380;p19"/>
          <p:cNvSpPr txBox="1"/>
          <p:nvPr/>
        </p:nvSpPr>
        <p:spPr>
          <a:xfrm>
            <a:off x="428625" y="238125"/>
            <a:ext cx="8286900" cy="523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2000" b="1">
                <a:solidFill>
                  <a:srgbClr val="FFFFFF"/>
                </a:solidFill>
                <a:latin typeface="Poppins"/>
                <a:ea typeface="Poppins"/>
                <a:cs typeface="Poppins"/>
                <a:sym typeface="Poppins"/>
              </a:rPr>
              <a:t>Model Training &amp; Learning Process</a:t>
            </a:r>
            <a:endParaRPr sz="2000" b="1">
              <a:solidFill>
                <a:srgbClr val="FFFFFF"/>
              </a:solidFill>
              <a:latin typeface="Poppins"/>
              <a:ea typeface="Poppins"/>
              <a:cs typeface="Poppins"/>
              <a:sym typeface="Poppins"/>
            </a:endParaRPr>
          </a:p>
          <a:p>
            <a:pPr marL="0" lvl="0" indent="0" algn="l" rtl="0">
              <a:spcBef>
                <a:spcPts val="0"/>
              </a:spcBef>
              <a:spcAft>
                <a:spcPts val="0"/>
              </a:spcAft>
              <a:buNone/>
            </a:pPr>
            <a:r>
              <a:rPr lang="en-GB" sz="950" b="0">
                <a:solidFill>
                  <a:srgbClr val="A5F3FC"/>
                </a:solidFill>
                <a:latin typeface="Poppins"/>
                <a:ea typeface="Poppins"/>
                <a:cs typeface="Poppins"/>
                <a:sym typeface="Poppins"/>
              </a:rPr>
              <a:t>How the CNN learns to classify Brain MRI images through iterative optimization.</a:t>
            </a:r>
            <a:endParaRPr sz="950" b="0">
              <a:solidFill>
                <a:srgbClr val="A5F3FC"/>
              </a:solidFill>
              <a:latin typeface="Poppins"/>
              <a:ea typeface="Poppins"/>
              <a:cs typeface="Poppins"/>
              <a:sym typeface="Poppins"/>
            </a:endParaRPr>
          </a:p>
        </p:txBody>
      </p:sp>
      <p:pic>
        <p:nvPicPr>
          <p:cNvPr id="381" name="Google Shape;381;p19"/>
          <p:cNvPicPr preferRelativeResize="0"/>
          <p:nvPr/>
        </p:nvPicPr>
        <p:blipFill rotWithShape="1">
          <a:blip r:embed="rId9">
            <a:alphaModFix/>
          </a:blip>
          <a:srcRect/>
          <a:stretch/>
        </p:blipFill>
        <p:spPr>
          <a:xfrm>
            <a:off x="423863" y="900113"/>
            <a:ext cx="1771800" cy="3152700"/>
          </a:xfrm>
          <a:prstGeom prst="rect">
            <a:avLst/>
          </a:prstGeom>
          <a:noFill/>
          <a:ln>
            <a:noFill/>
          </a:ln>
        </p:spPr>
      </p:pic>
      <p:sp>
        <p:nvSpPr>
          <p:cNvPr id="382" name="Google Shape;382;p19"/>
          <p:cNvSpPr/>
          <p:nvPr/>
        </p:nvSpPr>
        <p:spPr>
          <a:xfrm>
            <a:off x="428625" y="904875"/>
            <a:ext cx="1762200" cy="381000"/>
          </a:xfrm>
          <a:prstGeom prst="roundRect">
            <a:avLst>
              <a:gd name="adj" fmla="val 30000"/>
            </a:avLst>
          </a:prstGeom>
          <a:solidFill>
            <a:srgbClr val="00F2FE">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83" name="Google Shape;383;p19"/>
          <p:cNvSpPr txBox="1"/>
          <p:nvPr/>
        </p:nvSpPr>
        <p:spPr>
          <a:xfrm>
            <a:off x="619125" y="1000125"/>
            <a:ext cx="1381200" cy="2952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000" b="1">
                <a:solidFill>
                  <a:srgbClr val="00F2FE"/>
                </a:solidFill>
                <a:latin typeface="Poppins"/>
                <a:ea typeface="Poppins"/>
                <a:cs typeface="Poppins"/>
                <a:sym typeface="Poppins"/>
              </a:rPr>
              <a:t>Training Configuration</a:t>
            </a:r>
            <a:endParaRPr sz="1000" b="1">
              <a:solidFill>
                <a:srgbClr val="00F2FE"/>
              </a:solidFill>
              <a:latin typeface="Poppins"/>
              <a:ea typeface="Poppins"/>
              <a:cs typeface="Poppins"/>
              <a:sym typeface="Poppins"/>
            </a:endParaRPr>
          </a:p>
          <a:p>
            <a:pPr marL="0" lvl="0" indent="0" algn="l" rtl="0">
              <a:spcBef>
                <a:spcPts val="1125"/>
              </a:spcBef>
              <a:spcAft>
                <a:spcPts val="0"/>
              </a:spcAft>
              <a:buNone/>
            </a:pPr>
            <a:r>
              <a:rPr lang="en-GB" sz="750" b="0">
                <a:solidFill>
                  <a:srgbClr val="94A3B8"/>
                </a:solidFill>
                <a:latin typeface="Poppins"/>
                <a:ea typeface="Poppins"/>
                <a:cs typeface="Poppins"/>
                <a:sym typeface="Poppins"/>
              </a:rPr>
              <a:t>Epochs</a:t>
            </a:r>
            <a:endParaRPr sz="750" b="0">
              <a:solidFill>
                <a:srgbClr val="94A3B8"/>
              </a:solidFill>
              <a:latin typeface="Poppins"/>
              <a:ea typeface="Poppins"/>
              <a:cs typeface="Poppins"/>
              <a:sym typeface="Poppins"/>
            </a:endParaRPr>
          </a:p>
          <a:p>
            <a:pPr marL="0" lvl="0" indent="0" algn="l" rtl="0">
              <a:spcBef>
                <a:spcPts val="150"/>
              </a:spcBef>
              <a:spcAft>
                <a:spcPts val="0"/>
              </a:spcAft>
              <a:buNone/>
            </a:pPr>
            <a:r>
              <a:rPr lang="en-GB" sz="1000" b="1">
                <a:solidFill>
                  <a:srgbClr val="FFFFFF"/>
                </a:solidFill>
                <a:latin typeface="Poppins"/>
                <a:ea typeface="Poppins"/>
                <a:cs typeface="Poppins"/>
                <a:sym typeface="Poppins"/>
              </a:rPr>
              <a:t>20</a:t>
            </a:r>
            <a:endParaRPr sz="1000" b="1">
              <a:solidFill>
                <a:srgbClr val="FFFFFF"/>
              </a:solidFill>
              <a:latin typeface="Poppins"/>
              <a:ea typeface="Poppins"/>
              <a:cs typeface="Poppins"/>
              <a:sym typeface="Poppins"/>
            </a:endParaRPr>
          </a:p>
          <a:p>
            <a:pPr marL="0" lvl="0" indent="0" algn="l" rtl="0">
              <a:spcBef>
                <a:spcPts val="900"/>
              </a:spcBef>
              <a:spcAft>
                <a:spcPts val="0"/>
              </a:spcAft>
              <a:buNone/>
            </a:pPr>
            <a:r>
              <a:rPr lang="en-GB" sz="750" b="0">
                <a:solidFill>
                  <a:srgbClr val="94A3B8"/>
                </a:solidFill>
                <a:latin typeface="Poppins"/>
                <a:ea typeface="Poppins"/>
                <a:cs typeface="Poppins"/>
                <a:sym typeface="Poppins"/>
              </a:rPr>
              <a:t>Batch Size</a:t>
            </a:r>
            <a:endParaRPr sz="750" b="0">
              <a:solidFill>
                <a:srgbClr val="94A3B8"/>
              </a:solidFill>
              <a:latin typeface="Poppins"/>
              <a:ea typeface="Poppins"/>
              <a:cs typeface="Poppins"/>
              <a:sym typeface="Poppins"/>
            </a:endParaRPr>
          </a:p>
          <a:p>
            <a:pPr marL="0" lvl="0" indent="0" algn="l" rtl="0">
              <a:spcBef>
                <a:spcPts val="150"/>
              </a:spcBef>
              <a:spcAft>
                <a:spcPts val="0"/>
              </a:spcAft>
              <a:buNone/>
            </a:pPr>
            <a:r>
              <a:rPr lang="en-GB" sz="1000" b="1">
                <a:solidFill>
                  <a:srgbClr val="FFFFFF"/>
                </a:solidFill>
                <a:latin typeface="Poppins"/>
                <a:ea typeface="Poppins"/>
                <a:cs typeface="Poppins"/>
                <a:sym typeface="Poppins"/>
              </a:rPr>
              <a:t>32</a:t>
            </a:r>
            <a:endParaRPr sz="1000" b="1">
              <a:solidFill>
                <a:srgbClr val="FFFFFF"/>
              </a:solidFill>
              <a:latin typeface="Poppins"/>
              <a:ea typeface="Poppins"/>
              <a:cs typeface="Poppins"/>
              <a:sym typeface="Poppins"/>
            </a:endParaRPr>
          </a:p>
          <a:p>
            <a:pPr marL="0" lvl="0" indent="0" algn="l" rtl="0">
              <a:spcBef>
                <a:spcPts val="900"/>
              </a:spcBef>
              <a:spcAft>
                <a:spcPts val="0"/>
              </a:spcAft>
              <a:buNone/>
            </a:pPr>
            <a:r>
              <a:rPr lang="en-GB" sz="750" b="0">
                <a:solidFill>
                  <a:srgbClr val="94A3B8"/>
                </a:solidFill>
                <a:latin typeface="Poppins"/>
                <a:ea typeface="Poppins"/>
                <a:cs typeface="Poppins"/>
                <a:sym typeface="Poppins"/>
              </a:rPr>
              <a:t>Optimizer</a:t>
            </a:r>
            <a:endParaRPr sz="750" b="0">
              <a:solidFill>
                <a:srgbClr val="94A3B8"/>
              </a:solidFill>
              <a:latin typeface="Poppins"/>
              <a:ea typeface="Poppins"/>
              <a:cs typeface="Poppins"/>
              <a:sym typeface="Poppins"/>
            </a:endParaRPr>
          </a:p>
          <a:p>
            <a:pPr marL="0" lvl="0" indent="0" algn="l" rtl="0">
              <a:spcBef>
                <a:spcPts val="150"/>
              </a:spcBef>
              <a:spcAft>
                <a:spcPts val="0"/>
              </a:spcAft>
              <a:buNone/>
            </a:pPr>
            <a:r>
              <a:rPr lang="en-GB" sz="1000" b="1">
                <a:solidFill>
                  <a:srgbClr val="FFFFFF"/>
                </a:solidFill>
                <a:latin typeface="Poppins"/>
                <a:ea typeface="Poppins"/>
                <a:cs typeface="Poppins"/>
                <a:sym typeface="Poppins"/>
              </a:rPr>
              <a:t>Adam</a:t>
            </a:r>
            <a:endParaRPr sz="1000" b="1">
              <a:solidFill>
                <a:srgbClr val="FFFFFF"/>
              </a:solidFill>
              <a:latin typeface="Poppins"/>
              <a:ea typeface="Poppins"/>
              <a:cs typeface="Poppins"/>
              <a:sym typeface="Poppins"/>
            </a:endParaRPr>
          </a:p>
          <a:p>
            <a:pPr marL="0" lvl="0" indent="0" algn="l" rtl="0">
              <a:spcBef>
                <a:spcPts val="900"/>
              </a:spcBef>
              <a:spcAft>
                <a:spcPts val="0"/>
              </a:spcAft>
              <a:buNone/>
            </a:pPr>
            <a:r>
              <a:rPr lang="en-GB" sz="750" b="0">
                <a:solidFill>
                  <a:srgbClr val="94A3B8"/>
                </a:solidFill>
                <a:latin typeface="Poppins"/>
                <a:ea typeface="Poppins"/>
                <a:cs typeface="Poppins"/>
                <a:sym typeface="Poppins"/>
              </a:rPr>
              <a:t>Loss Function</a:t>
            </a:r>
            <a:endParaRPr sz="750" b="0">
              <a:solidFill>
                <a:srgbClr val="94A3B8"/>
              </a:solidFill>
              <a:latin typeface="Poppins"/>
              <a:ea typeface="Poppins"/>
              <a:cs typeface="Poppins"/>
              <a:sym typeface="Poppins"/>
            </a:endParaRPr>
          </a:p>
          <a:p>
            <a:pPr marL="0" lvl="0" indent="0" algn="l" rtl="0">
              <a:spcBef>
                <a:spcPts val="150"/>
              </a:spcBef>
              <a:spcAft>
                <a:spcPts val="0"/>
              </a:spcAft>
              <a:buNone/>
            </a:pPr>
            <a:r>
              <a:rPr lang="en-GB" sz="850" b="1">
                <a:solidFill>
                  <a:srgbClr val="FFFFFF"/>
                </a:solidFill>
                <a:latin typeface="Poppins"/>
                <a:ea typeface="Poppins"/>
                <a:cs typeface="Poppins"/>
                <a:sym typeface="Poppins"/>
              </a:rPr>
              <a:t>Sparse Categorical</a:t>
            </a:r>
            <a:br>
              <a:rPr lang="en-GB" sz="850" b="1">
                <a:solidFill>
                  <a:srgbClr val="FFFFFF"/>
                </a:solidFill>
                <a:latin typeface="Poppins"/>
                <a:ea typeface="Poppins"/>
                <a:cs typeface="Poppins"/>
                <a:sym typeface="Poppins"/>
              </a:rPr>
            </a:br>
            <a:r>
              <a:rPr lang="en-GB" sz="850" b="1">
                <a:solidFill>
                  <a:srgbClr val="FFFFFF"/>
                </a:solidFill>
                <a:latin typeface="Poppins"/>
                <a:ea typeface="Poppins"/>
                <a:cs typeface="Poppins"/>
                <a:sym typeface="Poppins"/>
              </a:rPr>
              <a:t>Crossentropy</a:t>
            </a:r>
            <a:endParaRPr sz="850" b="1">
              <a:solidFill>
                <a:srgbClr val="FFFFFF"/>
              </a:solidFill>
              <a:latin typeface="Poppins"/>
              <a:ea typeface="Poppins"/>
              <a:cs typeface="Poppins"/>
              <a:sym typeface="Poppins"/>
            </a:endParaRPr>
          </a:p>
          <a:p>
            <a:pPr marL="0" lvl="0" indent="0" algn="l" rtl="0">
              <a:spcBef>
                <a:spcPts val="900"/>
              </a:spcBef>
              <a:spcAft>
                <a:spcPts val="0"/>
              </a:spcAft>
              <a:buNone/>
            </a:pPr>
            <a:r>
              <a:rPr lang="en-GB" sz="750" b="0">
                <a:solidFill>
                  <a:srgbClr val="94A3B8"/>
                </a:solidFill>
                <a:latin typeface="Poppins"/>
                <a:ea typeface="Poppins"/>
                <a:cs typeface="Poppins"/>
                <a:sym typeface="Poppins"/>
              </a:rPr>
              <a:t>Evaluation Metric</a:t>
            </a:r>
            <a:endParaRPr sz="750" b="0">
              <a:solidFill>
                <a:srgbClr val="94A3B8"/>
              </a:solidFill>
              <a:latin typeface="Poppins"/>
              <a:ea typeface="Poppins"/>
              <a:cs typeface="Poppins"/>
              <a:sym typeface="Poppins"/>
            </a:endParaRPr>
          </a:p>
          <a:p>
            <a:pPr marL="0" lvl="0" indent="0" algn="l" rtl="0">
              <a:spcBef>
                <a:spcPts val="150"/>
              </a:spcBef>
              <a:spcAft>
                <a:spcPts val="0"/>
              </a:spcAft>
              <a:buNone/>
            </a:pPr>
            <a:r>
              <a:rPr lang="en-GB" sz="1000" b="1">
                <a:solidFill>
                  <a:srgbClr val="00F2FE"/>
                </a:solidFill>
                <a:latin typeface="Poppins"/>
                <a:ea typeface="Poppins"/>
                <a:cs typeface="Poppins"/>
                <a:sym typeface="Poppins"/>
              </a:rPr>
              <a:t>Accuracy</a:t>
            </a:r>
            <a:endParaRPr sz="1000" b="1">
              <a:solidFill>
                <a:srgbClr val="00F2FE"/>
              </a:solidFill>
              <a:latin typeface="Poppins"/>
              <a:ea typeface="Poppins"/>
              <a:cs typeface="Poppins"/>
              <a:sym typeface="Poppins"/>
            </a:endParaRPr>
          </a:p>
        </p:txBody>
      </p:sp>
      <p:pic>
        <p:nvPicPr>
          <p:cNvPr id="384" name="Google Shape;384;p19"/>
          <p:cNvPicPr preferRelativeResize="0"/>
          <p:nvPr/>
        </p:nvPicPr>
        <p:blipFill rotWithShape="1">
          <a:blip r:embed="rId10">
            <a:alphaModFix/>
          </a:blip>
          <a:srcRect/>
          <a:stretch/>
        </p:blipFill>
        <p:spPr>
          <a:xfrm>
            <a:off x="3019425" y="876300"/>
            <a:ext cx="3105300" cy="3105300"/>
          </a:xfrm>
          <a:prstGeom prst="rect">
            <a:avLst/>
          </a:prstGeom>
          <a:noFill/>
          <a:ln>
            <a:noFill/>
          </a:ln>
        </p:spPr>
      </p:pic>
      <p:pic>
        <p:nvPicPr>
          <p:cNvPr id="385" name="Google Shape;385;p19"/>
          <p:cNvPicPr preferRelativeResize="0"/>
          <p:nvPr/>
        </p:nvPicPr>
        <p:blipFill rotWithShape="1">
          <a:blip r:embed="rId11">
            <a:alphaModFix/>
          </a:blip>
          <a:srcRect/>
          <a:stretch/>
        </p:blipFill>
        <p:spPr>
          <a:xfrm>
            <a:off x="3133725" y="990600"/>
            <a:ext cx="2876700" cy="2876700"/>
          </a:xfrm>
          <a:prstGeom prst="rect">
            <a:avLst/>
          </a:prstGeom>
          <a:noFill/>
          <a:ln>
            <a:noFill/>
          </a:ln>
        </p:spPr>
      </p:pic>
      <p:grpSp>
        <p:nvGrpSpPr>
          <p:cNvPr id="386" name="Google Shape;386;p19"/>
          <p:cNvGrpSpPr/>
          <p:nvPr/>
        </p:nvGrpSpPr>
        <p:grpSpPr>
          <a:xfrm>
            <a:off x="3343275" y="1009650"/>
            <a:ext cx="2457450" cy="2838450"/>
            <a:chOff x="-1228725" y="-1419225"/>
            <a:chExt cx="2457450" cy="2838450"/>
          </a:xfrm>
        </p:grpSpPr>
        <p:pic>
          <p:nvPicPr>
            <p:cNvPr id="387" name="Google Shape;387;p19"/>
            <p:cNvPicPr preferRelativeResize="0"/>
            <p:nvPr/>
          </p:nvPicPr>
          <p:blipFill rotWithShape="1">
            <a:blip r:embed="rId12">
              <a:alphaModFix/>
            </a:blip>
            <a:srcRect/>
            <a:stretch/>
          </p:blipFill>
          <p:spPr>
            <a:xfrm>
              <a:off x="-9525" y="-1390650"/>
              <a:ext cx="1214400" cy="709500"/>
            </a:xfrm>
            <a:prstGeom prst="rect">
              <a:avLst/>
            </a:prstGeom>
            <a:noFill/>
            <a:ln>
              <a:noFill/>
            </a:ln>
          </p:spPr>
        </p:pic>
        <p:pic>
          <p:nvPicPr>
            <p:cNvPr id="388" name="Google Shape;388;p19"/>
            <p:cNvPicPr preferRelativeResize="0"/>
            <p:nvPr/>
          </p:nvPicPr>
          <p:blipFill rotWithShape="1">
            <a:blip r:embed="rId13">
              <a:alphaModFix/>
            </a:blip>
            <a:srcRect/>
            <a:stretch/>
          </p:blipFill>
          <p:spPr>
            <a:xfrm>
              <a:off x="-9525" y="681038"/>
              <a:ext cx="1214400" cy="709500"/>
            </a:xfrm>
            <a:prstGeom prst="rect">
              <a:avLst/>
            </a:prstGeom>
            <a:noFill/>
            <a:ln>
              <a:noFill/>
            </a:ln>
          </p:spPr>
        </p:pic>
        <p:pic>
          <p:nvPicPr>
            <p:cNvPr id="389" name="Google Shape;389;p19"/>
            <p:cNvPicPr preferRelativeResize="0"/>
            <p:nvPr/>
          </p:nvPicPr>
          <p:blipFill rotWithShape="1">
            <a:blip r:embed="rId14">
              <a:alphaModFix/>
            </a:blip>
            <a:srcRect/>
            <a:stretch/>
          </p:blipFill>
          <p:spPr>
            <a:xfrm>
              <a:off x="-1204912" y="-1390650"/>
              <a:ext cx="1214400" cy="709500"/>
            </a:xfrm>
            <a:prstGeom prst="rect">
              <a:avLst/>
            </a:prstGeom>
            <a:noFill/>
            <a:ln>
              <a:noFill/>
            </a:ln>
          </p:spPr>
        </p:pic>
        <p:pic>
          <p:nvPicPr>
            <p:cNvPr id="390" name="Google Shape;390;p19"/>
            <p:cNvPicPr preferRelativeResize="0"/>
            <p:nvPr/>
          </p:nvPicPr>
          <p:blipFill rotWithShape="1">
            <a:blip r:embed="rId15">
              <a:alphaModFix/>
            </a:blip>
            <a:srcRect/>
            <a:stretch/>
          </p:blipFill>
          <p:spPr>
            <a:xfrm>
              <a:off x="-76200" y="-1419225"/>
              <a:ext cx="76200" cy="76200"/>
            </a:xfrm>
            <a:prstGeom prst="rect">
              <a:avLst/>
            </a:prstGeom>
            <a:noFill/>
            <a:ln>
              <a:noFill/>
            </a:ln>
          </p:spPr>
        </p:pic>
        <p:pic>
          <p:nvPicPr>
            <p:cNvPr id="391" name="Google Shape;391;p19"/>
            <p:cNvPicPr preferRelativeResize="0"/>
            <p:nvPr/>
          </p:nvPicPr>
          <p:blipFill rotWithShape="1">
            <a:blip r:embed="rId16">
              <a:alphaModFix/>
            </a:blip>
            <a:srcRect/>
            <a:stretch/>
          </p:blipFill>
          <p:spPr>
            <a:xfrm>
              <a:off x="1152525" y="-733425"/>
              <a:ext cx="76200" cy="95400"/>
            </a:xfrm>
            <a:prstGeom prst="rect">
              <a:avLst/>
            </a:prstGeom>
            <a:noFill/>
            <a:ln>
              <a:noFill/>
            </a:ln>
          </p:spPr>
        </p:pic>
        <p:pic>
          <p:nvPicPr>
            <p:cNvPr id="392" name="Google Shape;392;p19"/>
            <p:cNvPicPr preferRelativeResize="0"/>
            <p:nvPr/>
          </p:nvPicPr>
          <p:blipFill rotWithShape="1">
            <a:blip r:embed="rId17">
              <a:alphaModFix/>
            </a:blip>
            <a:srcRect/>
            <a:stretch/>
          </p:blipFill>
          <p:spPr>
            <a:xfrm>
              <a:off x="1152525" y="638175"/>
              <a:ext cx="76200" cy="95400"/>
            </a:xfrm>
            <a:prstGeom prst="rect">
              <a:avLst/>
            </a:prstGeom>
            <a:noFill/>
            <a:ln>
              <a:noFill/>
            </a:ln>
          </p:spPr>
        </p:pic>
        <p:pic>
          <p:nvPicPr>
            <p:cNvPr id="393" name="Google Shape;393;p19"/>
            <p:cNvPicPr preferRelativeResize="0"/>
            <p:nvPr/>
          </p:nvPicPr>
          <p:blipFill rotWithShape="1">
            <a:blip r:embed="rId15">
              <a:alphaModFix/>
            </a:blip>
            <a:srcRect/>
            <a:stretch/>
          </p:blipFill>
          <p:spPr>
            <a:xfrm>
              <a:off x="-76200" y="1343025"/>
              <a:ext cx="76200" cy="76200"/>
            </a:xfrm>
            <a:prstGeom prst="rect">
              <a:avLst/>
            </a:prstGeom>
            <a:noFill/>
            <a:ln>
              <a:noFill/>
            </a:ln>
          </p:spPr>
        </p:pic>
        <p:pic>
          <p:nvPicPr>
            <p:cNvPr id="394" name="Google Shape;394;p19"/>
            <p:cNvPicPr preferRelativeResize="0"/>
            <p:nvPr/>
          </p:nvPicPr>
          <p:blipFill rotWithShape="1">
            <a:blip r:embed="rId18">
              <a:alphaModFix/>
            </a:blip>
            <a:srcRect/>
            <a:stretch/>
          </p:blipFill>
          <p:spPr>
            <a:xfrm>
              <a:off x="-1228725" y="638175"/>
              <a:ext cx="76200" cy="95400"/>
            </a:xfrm>
            <a:prstGeom prst="rect">
              <a:avLst/>
            </a:prstGeom>
            <a:noFill/>
            <a:ln>
              <a:noFill/>
            </a:ln>
          </p:spPr>
        </p:pic>
        <p:pic>
          <p:nvPicPr>
            <p:cNvPr id="395" name="Google Shape;395;p19"/>
            <p:cNvPicPr preferRelativeResize="0"/>
            <p:nvPr/>
          </p:nvPicPr>
          <p:blipFill rotWithShape="1">
            <a:blip r:embed="rId19">
              <a:alphaModFix/>
            </a:blip>
            <a:srcRect/>
            <a:stretch/>
          </p:blipFill>
          <p:spPr>
            <a:xfrm>
              <a:off x="-1228725" y="-733425"/>
              <a:ext cx="76200" cy="95400"/>
            </a:xfrm>
            <a:prstGeom prst="rect">
              <a:avLst/>
            </a:prstGeom>
            <a:noFill/>
            <a:ln>
              <a:noFill/>
            </a:ln>
          </p:spPr>
        </p:pic>
      </p:grpSp>
      <p:grpSp>
        <p:nvGrpSpPr>
          <p:cNvPr id="396" name="Google Shape;396;p19"/>
          <p:cNvGrpSpPr/>
          <p:nvPr/>
        </p:nvGrpSpPr>
        <p:grpSpPr>
          <a:xfrm>
            <a:off x="4048125" y="790575"/>
            <a:ext cx="1047900" cy="419100"/>
            <a:chOff x="-523875" y="-209550"/>
            <a:chExt cx="1047900" cy="419100"/>
          </a:xfrm>
        </p:grpSpPr>
        <p:sp>
          <p:nvSpPr>
            <p:cNvPr id="397" name="Google Shape;397;p19"/>
            <p:cNvSpPr/>
            <p:nvPr/>
          </p:nvSpPr>
          <p:spPr>
            <a:xfrm>
              <a:off x="-523875" y="-209550"/>
              <a:ext cx="1047900" cy="419100"/>
            </a:xfrm>
            <a:prstGeom prst="roundRect">
              <a:avLst>
                <a:gd name="adj" fmla="val 18181"/>
              </a:avLst>
            </a:prstGeom>
            <a:solidFill>
              <a:srgbClr val="070F2B"/>
            </a:solidFill>
            <a:ln w="9525"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398" name="Google Shape;398;p19"/>
            <p:cNvSpPr txBox="1"/>
            <p:nvPr/>
          </p:nvSpPr>
          <p:spPr>
            <a:xfrm>
              <a:off x="-476250" y="-171450"/>
              <a:ext cx="952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00F2FE"/>
                  </a:solidFill>
                  <a:latin typeface="Poppins ExtraBold"/>
                  <a:ea typeface="Poppins ExtraBold"/>
                  <a:cs typeface="Poppins ExtraBold"/>
                  <a:sym typeface="Poppins ExtraBold"/>
                </a:rPr>
                <a:t>01</a:t>
              </a:r>
              <a:endParaRPr sz="900" b="0">
                <a:solidFill>
                  <a:srgbClr val="00F2FE"/>
                </a:solidFill>
                <a:latin typeface="Poppins ExtraBold"/>
                <a:ea typeface="Poppins ExtraBold"/>
                <a:cs typeface="Poppins ExtraBold"/>
                <a:sym typeface="Poppins ExtraBold"/>
              </a:endParaRPr>
            </a:p>
            <a:p>
              <a:pPr marL="0" lvl="0" indent="0" algn="ctr" rtl="0">
                <a:spcBef>
                  <a:spcPts val="75"/>
                </a:spcBef>
                <a:spcAft>
                  <a:spcPts val="0"/>
                </a:spcAft>
                <a:buNone/>
              </a:pPr>
              <a:r>
                <a:rPr lang="en-GB" sz="700" b="1">
                  <a:solidFill>
                    <a:srgbClr val="FFFFFF"/>
                  </a:solidFill>
                  <a:latin typeface="Poppins"/>
                  <a:ea typeface="Poppins"/>
                  <a:cs typeface="Poppins"/>
                  <a:sym typeface="Poppins"/>
                </a:rPr>
                <a:t>INPUT MRI</a:t>
              </a:r>
              <a:endParaRPr sz="700" b="1">
                <a:solidFill>
                  <a:srgbClr val="FFFFFF"/>
                </a:solidFill>
                <a:latin typeface="Poppins"/>
                <a:ea typeface="Poppins"/>
                <a:cs typeface="Poppins"/>
                <a:sym typeface="Poppins"/>
              </a:endParaRPr>
            </a:p>
          </p:txBody>
        </p:sp>
      </p:grpSp>
      <p:grpSp>
        <p:nvGrpSpPr>
          <p:cNvPr id="399" name="Google Shape;399;p19"/>
          <p:cNvGrpSpPr/>
          <p:nvPr/>
        </p:nvGrpSpPr>
        <p:grpSpPr>
          <a:xfrm>
            <a:off x="5286375" y="1504950"/>
            <a:ext cx="1047900" cy="419100"/>
            <a:chOff x="-523875" y="-209550"/>
            <a:chExt cx="1047900" cy="419100"/>
          </a:xfrm>
        </p:grpSpPr>
        <p:sp>
          <p:nvSpPr>
            <p:cNvPr id="400" name="Google Shape;400;p19"/>
            <p:cNvSpPr/>
            <p:nvPr/>
          </p:nvSpPr>
          <p:spPr>
            <a:xfrm>
              <a:off x="-523875" y="-209550"/>
              <a:ext cx="1047900" cy="419100"/>
            </a:xfrm>
            <a:prstGeom prst="roundRect">
              <a:avLst>
                <a:gd name="adj" fmla="val 18181"/>
              </a:avLst>
            </a:prstGeom>
            <a:solidFill>
              <a:srgbClr val="070F2B"/>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1" name="Google Shape;401;p19"/>
            <p:cNvSpPr txBox="1"/>
            <p:nvPr/>
          </p:nvSpPr>
          <p:spPr>
            <a:xfrm>
              <a:off x="-476250" y="-171450"/>
              <a:ext cx="952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FFFFFF"/>
                  </a:solidFill>
                  <a:latin typeface="Poppins ExtraBold"/>
                  <a:ea typeface="Poppins ExtraBold"/>
                  <a:cs typeface="Poppins ExtraBold"/>
                  <a:sym typeface="Poppins ExtraBold"/>
                </a:rPr>
                <a:t>02</a:t>
              </a:r>
              <a:endParaRPr sz="900" b="0">
                <a:solidFill>
                  <a:srgbClr val="FFFFFF"/>
                </a:solidFill>
                <a:latin typeface="Poppins ExtraBold"/>
                <a:ea typeface="Poppins ExtraBold"/>
                <a:cs typeface="Poppins ExtraBold"/>
                <a:sym typeface="Poppins ExtraBold"/>
              </a:endParaRPr>
            </a:p>
            <a:p>
              <a:pPr marL="0" lvl="0" indent="0" algn="ctr" rtl="0">
                <a:spcBef>
                  <a:spcPts val="75"/>
                </a:spcBef>
                <a:spcAft>
                  <a:spcPts val="0"/>
                </a:spcAft>
                <a:buNone/>
              </a:pPr>
              <a:r>
                <a:rPr lang="en-GB" sz="700" b="1">
                  <a:solidFill>
                    <a:srgbClr val="FFFFFF"/>
                  </a:solidFill>
                  <a:latin typeface="Poppins"/>
                  <a:ea typeface="Poppins"/>
                  <a:cs typeface="Poppins"/>
                  <a:sym typeface="Poppins"/>
                </a:rPr>
                <a:t>FORWARD PROP</a:t>
              </a:r>
              <a:endParaRPr sz="700" b="1">
                <a:solidFill>
                  <a:srgbClr val="FFFFFF"/>
                </a:solidFill>
                <a:latin typeface="Poppins"/>
                <a:ea typeface="Poppins"/>
                <a:cs typeface="Poppins"/>
                <a:sym typeface="Poppins"/>
              </a:endParaRPr>
            </a:p>
          </p:txBody>
        </p:sp>
      </p:grpSp>
      <p:grpSp>
        <p:nvGrpSpPr>
          <p:cNvPr id="402" name="Google Shape;402;p19"/>
          <p:cNvGrpSpPr/>
          <p:nvPr/>
        </p:nvGrpSpPr>
        <p:grpSpPr>
          <a:xfrm>
            <a:off x="5286375" y="2933700"/>
            <a:ext cx="1047900" cy="419100"/>
            <a:chOff x="-523875" y="-209550"/>
            <a:chExt cx="1047900" cy="419100"/>
          </a:xfrm>
        </p:grpSpPr>
        <p:sp>
          <p:nvSpPr>
            <p:cNvPr id="403" name="Google Shape;403;p19"/>
            <p:cNvSpPr/>
            <p:nvPr/>
          </p:nvSpPr>
          <p:spPr>
            <a:xfrm>
              <a:off x="-523875" y="-209550"/>
              <a:ext cx="1047900" cy="419100"/>
            </a:xfrm>
            <a:prstGeom prst="roundRect">
              <a:avLst>
                <a:gd name="adj" fmla="val 18181"/>
              </a:avLst>
            </a:prstGeom>
            <a:solidFill>
              <a:srgbClr val="070F2B"/>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4" name="Google Shape;404;p19"/>
            <p:cNvSpPr txBox="1"/>
            <p:nvPr/>
          </p:nvSpPr>
          <p:spPr>
            <a:xfrm>
              <a:off x="-476250" y="-171450"/>
              <a:ext cx="952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FFFFFF"/>
                  </a:solidFill>
                  <a:latin typeface="Poppins ExtraBold"/>
                  <a:ea typeface="Poppins ExtraBold"/>
                  <a:cs typeface="Poppins ExtraBold"/>
                  <a:sym typeface="Poppins ExtraBold"/>
                </a:rPr>
                <a:t>03</a:t>
              </a:r>
              <a:endParaRPr sz="900" b="0">
                <a:solidFill>
                  <a:srgbClr val="FFFFFF"/>
                </a:solidFill>
                <a:latin typeface="Poppins ExtraBold"/>
                <a:ea typeface="Poppins ExtraBold"/>
                <a:cs typeface="Poppins ExtraBold"/>
                <a:sym typeface="Poppins ExtraBold"/>
              </a:endParaRPr>
            </a:p>
            <a:p>
              <a:pPr marL="0" lvl="0" indent="0" algn="ctr" rtl="0">
                <a:spcBef>
                  <a:spcPts val="75"/>
                </a:spcBef>
                <a:spcAft>
                  <a:spcPts val="0"/>
                </a:spcAft>
                <a:buNone/>
              </a:pPr>
              <a:r>
                <a:rPr lang="en-GB" sz="700" b="1">
                  <a:solidFill>
                    <a:srgbClr val="FFFFFF"/>
                  </a:solidFill>
                  <a:latin typeface="Poppins"/>
                  <a:ea typeface="Poppins"/>
                  <a:cs typeface="Poppins"/>
                  <a:sym typeface="Poppins"/>
                </a:rPr>
                <a:t>LOSS CALC</a:t>
              </a:r>
              <a:endParaRPr sz="700" b="1">
                <a:solidFill>
                  <a:srgbClr val="FFFFFF"/>
                </a:solidFill>
                <a:latin typeface="Poppins"/>
                <a:ea typeface="Poppins"/>
                <a:cs typeface="Poppins"/>
                <a:sym typeface="Poppins"/>
              </a:endParaRPr>
            </a:p>
          </p:txBody>
        </p:sp>
      </p:grpSp>
      <p:grpSp>
        <p:nvGrpSpPr>
          <p:cNvPr id="405" name="Google Shape;405;p19"/>
          <p:cNvGrpSpPr/>
          <p:nvPr/>
        </p:nvGrpSpPr>
        <p:grpSpPr>
          <a:xfrm>
            <a:off x="4048125" y="3648075"/>
            <a:ext cx="1047900" cy="419100"/>
            <a:chOff x="-523875" y="-209550"/>
            <a:chExt cx="1047900" cy="419100"/>
          </a:xfrm>
        </p:grpSpPr>
        <p:sp>
          <p:nvSpPr>
            <p:cNvPr id="406" name="Google Shape;406;p19"/>
            <p:cNvSpPr/>
            <p:nvPr/>
          </p:nvSpPr>
          <p:spPr>
            <a:xfrm>
              <a:off x="-523875" y="-209550"/>
              <a:ext cx="1047900" cy="419100"/>
            </a:xfrm>
            <a:prstGeom prst="roundRect">
              <a:avLst>
                <a:gd name="adj" fmla="val 18181"/>
              </a:avLst>
            </a:prstGeom>
            <a:solidFill>
              <a:srgbClr val="070F2B"/>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07" name="Google Shape;407;p19"/>
            <p:cNvSpPr txBox="1"/>
            <p:nvPr/>
          </p:nvSpPr>
          <p:spPr>
            <a:xfrm>
              <a:off x="-476250" y="-171450"/>
              <a:ext cx="952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FFFFFF"/>
                  </a:solidFill>
                  <a:latin typeface="Poppins ExtraBold"/>
                  <a:ea typeface="Poppins ExtraBold"/>
                  <a:cs typeface="Poppins ExtraBold"/>
                  <a:sym typeface="Poppins ExtraBold"/>
                </a:rPr>
                <a:t>04</a:t>
              </a:r>
              <a:endParaRPr sz="900" b="0">
                <a:solidFill>
                  <a:srgbClr val="FFFFFF"/>
                </a:solidFill>
                <a:latin typeface="Poppins ExtraBold"/>
                <a:ea typeface="Poppins ExtraBold"/>
                <a:cs typeface="Poppins ExtraBold"/>
                <a:sym typeface="Poppins ExtraBold"/>
              </a:endParaRPr>
            </a:p>
            <a:p>
              <a:pPr marL="0" lvl="0" indent="0" algn="ctr" rtl="0">
                <a:spcBef>
                  <a:spcPts val="75"/>
                </a:spcBef>
                <a:spcAft>
                  <a:spcPts val="0"/>
                </a:spcAft>
                <a:buNone/>
              </a:pPr>
              <a:r>
                <a:rPr lang="en-GB" sz="700" b="1">
                  <a:solidFill>
                    <a:srgbClr val="FFFFFF"/>
                  </a:solidFill>
                  <a:latin typeface="Poppins"/>
                  <a:ea typeface="Poppins"/>
                  <a:cs typeface="Poppins"/>
                  <a:sym typeface="Poppins"/>
                </a:rPr>
                <a:t>BACKPROP</a:t>
              </a:r>
              <a:endParaRPr sz="700" b="1">
                <a:solidFill>
                  <a:srgbClr val="FFFFFF"/>
                </a:solidFill>
                <a:latin typeface="Poppins"/>
                <a:ea typeface="Poppins"/>
                <a:cs typeface="Poppins"/>
                <a:sym typeface="Poppins"/>
              </a:endParaRPr>
            </a:p>
          </p:txBody>
        </p:sp>
      </p:grpSp>
      <p:grpSp>
        <p:nvGrpSpPr>
          <p:cNvPr id="408" name="Google Shape;408;p19"/>
          <p:cNvGrpSpPr/>
          <p:nvPr/>
        </p:nvGrpSpPr>
        <p:grpSpPr>
          <a:xfrm>
            <a:off x="2809875" y="2933700"/>
            <a:ext cx="1047900" cy="419100"/>
            <a:chOff x="-523875" y="-209550"/>
            <a:chExt cx="1047900" cy="419100"/>
          </a:xfrm>
        </p:grpSpPr>
        <p:sp>
          <p:nvSpPr>
            <p:cNvPr id="409" name="Google Shape;409;p19"/>
            <p:cNvSpPr/>
            <p:nvPr/>
          </p:nvSpPr>
          <p:spPr>
            <a:xfrm>
              <a:off x="-523875" y="-209550"/>
              <a:ext cx="1047900" cy="419100"/>
            </a:xfrm>
            <a:prstGeom prst="roundRect">
              <a:avLst>
                <a:gd name="adj" fmla="val 18181"/>
              </a:avLst>
            </a:prstGeom>
            <a:solidFill>
              <a:srgbClr val="070F2B"/>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0" name="Google Shape;410;p19"/>
            <p:cNvSpPr txBox="1"/>
            <p:nvPr/>
          </p:nvSpPr>
          <p:spPr>
            <a:xfrm>
              <a:off x="-476250" y="-171450"/>
              <a:ext cx="952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FFFFFF"/>
                  </a:solidFill>
                  <a:latin typeface="Poppins ExtraBold"/>
                  <a:ea typeface="Poppins ExtraBold"/>
                  <a:cs typeface="Poppins ExtraBold"/>
                  <a:sym typeface="Poppins ExtraBold"/>
                </a:rPr>
                <a:t>05</a:t>
              </a:r>
              <a:endParaRPr sz="900" b="0">
                <a:solidFill>
                  <a:srgbClr val="FFFFFF"/>
                </a:solidFill>
                <a:latin typeface="Poppins ExtraBold"/>
                <a:ea typeface="Poppins ExtraBold"/>
                <a:cs typeface="Poppins ExtraBold"/>
                <a:sym typeface="Poppins ExtraBold"/>
              </a:endParaRPr>
            </a:p>
            <a:p>
              <a:pPr marL="0" lvl="0" indent="0" algn="ctr" rtl="0">
                <a:spcBef>
                  <a:spcPts val="75"/>
                </a:spcBef>
                <a:spcAft>
                  <a:spcPts val="0"/>
                </a:spcAft>
                <a:buNone/>
              </a:pPr>
              <a:r>
                <a:rPr lang="en-GB" sz="700" b="1">
                  <a:solidFill>
                    <a:srgbClr val="FFFFFF"/>
                  </a:solidFill>
                  <a:latin typeface="Poppins"/>
                  <a:ea typeface="Poppins"/>
                  <a:cs typeface="Poppins"/>
                  <a:sym typeface="Poppins"/>
                </a:rPr>
                <a:t>ADAM OPT</a:t>
              </a:r>
              <a:endParaRPr sz="700" b="1">
                <a:solidFill>
                  <a:srgbClr val="FFFFFF"/>
                </a:solidFill>
                <a:latin typeface="Poppins"/>
                <a:ea typeface="Poppins"/>
                <a:cs typeface="Poppins"/>
                <a:sym typeface="Poppins"/>
              </a:endParaRPr>
            </a:p>
          </p:txBody>
        </p:sp>
      </p:grpSp>
      <p:grpSp>
        <p:nvGrpSpPr>
          <p:cNvPr id="411" name="Google Shape;411;p19"/>
          <p:cNvGrpSpPr/>
          <p:nvPr/>
        </p:nvGrpSpPr>
        <p:grpSpPr>
          <a:xfrm>
            <a:off x="2809875" y="1504950"/>
            <a:ext cx="1047900" cy="419100"/>
            <a:chOff x="-523875" y="-209550"/>
            <a:chExt cx="1047900" cy="419100"/>
          </a:xfrm>
        </p:grpSpPr>
        <p:sp>
          <p:nvSpPr>
            <p:cNvPr id="412" name="Google Shape;412;p19"/>
            <p:cNvSpPr/>
            <p:nvPr/>
          </p:nvSpPr>
          <p:spPr>
            <a:xfrm>
              <a:off x="-523875" y="-209550"/>
              <a:ext cx="1047900" cy="419100"/>
            </a:xfrm>
            <a:prstGeom prst="roundRect">
              <a:avLst>
                <a:gd name="adj" fmla="val 18181"/>
              </a:avLst>
            </a:prstGeom>
            <a:solidFill>
              <a:srgbClr val="070F2B"/>
            </a:solidFill>
            <a:ln w="9525"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3" name="Google Shape;413;p19"/>
            <p:cNvSpPr txBox="1"/>
            <p:nvPr/>
          </p:nvSpPr>
          <p:spPr>
            <a:xfrm>
              <a:off x="-476250" y="-171450"/>
              <a:ext cx="952500" cy="342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00F2FE"/>
                  </a:solidFill>
                  <a:latin typeface="Poppins ExtraBold"/>
                  <a:ea typeface="Poppins ExtraBold"/>
                  <a:cs typeface="Poppins ExtraBold"/>
                  <a:sym typeface="Poppins ExtraBold"/>
                </a:rPr>
                <a:t>06</a:t>
              </a:r>
              <a:endParaRPr sz="900" b="0">
                <a:solidFill>
                  <a:srgbClr val="00F2FE"/>
                </a:solidFill>
                <a:latin typeface="Poppins ExtraBold"/>
                <a:ea typeface="Poppins ExtraBold"/>
                <a:cs typeface="Poppins ExtraBold"/>
                <a:sym typeface="Poppins ExtraBold"/>
              </a:endParaRPr>
            </a:p>
            <a:p>
              <a:pPr marL="0" lvl="0" indent="0" algn="ctr" rtl="0">
                <a:spcBef>
                  <a:spcPts val="75"/>
                </a:spcBef>
                <a:spcAft>
                  <a:spcPts val="0"/>
                </a:spcAft>
                <a:buNone/>
              </a:pPr>
              <a:r>
                <a:rPr lang="en-GB" sz="700" b="1">
                  <a:solidFill>
                    <a:srgbClr val="FFFFFF"/>
                  </a:solidFill>
                  <a:latin typeface="Poppins"/>
                  <a:ea typeface="Poppins"/>
                  <a:cs typeface="Poppins"/>
                  <a:sym typeface="Poppins"/>
                </a:rPr>
                <a:t>BETTER PRED</a:t>
              </a:r>
              <a:endParaRPr sz="700" b="1">
                <a:solidFill>
                  <a:srgbClr val="FFFFFF"/>
                </a:solidFill>
                <a:latin typeface="Poppins"/>
                <a:ea typeface="Poppins"/>
                <a:cs typeface="Poppins"/>
                <a:sym typeface="Poppins"/>
              </a:endParaRPr>
            </a:p>
          </p:txBody>
        </p:sp>
      </p:grpSp>
      <p:sp>
        <p:nvSpPr>
          <p:cNvPr id="414" name="Google Shape;414;p19"/>
          <p:cNvSpPr txBox="1"/>
          <p:nvPr/>
        </p:nvSpPr>
        <p:spPr>
          <a:xfrm>
            <a:off x="3524250" y="2143125"/>
            <a:ext cx="2095500" cy="571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1">
                <a:solidFill>
                  <a:srgbClr val="00F2FE"/>
                </a:solidFill>
                <a:latin typeface="Poppins"/>
                <a:ea typeface="Poppins"/>
                <a:cs typeface="Poppins"/>
                <a:sym typeface="Poppins"/>
              </a:rPr>
              <a:t>Continuous Triage Loop</a:t>
            </a:r>
            <a:endParaRPr sz="850" b="1">
              <a:solidFill>
                <a:srgbClr val="00F2FE"/>
              </a:solidFill>
              <a:latin typeface="Poppins"/>
              <a:ea typeface="Poppins"/>
              <a:cs typeface="Poppins"/>
              <a:sym typeface="Poppins"/>
            </a:endParaRPr>
          </a:p>
          <a:p>
            <a:pPr marL="0" lvl="0" indent="0" algn="ctr" rtl="0">
              <a:spcBef>
                <a:spcPts val="300"/>
              </a:spcBef>
              <a:spcAft>
                <a:spcPts val="0"/>
              </a:spcAft>
              <a:buNone/>
            </a:pPr>
            <a:r>
              <a:rPr lang="en-GB" sz="650" b="0">
                <a:solidFill>
                  <a:srgbClr val="8E9AA6"/>
                </a:solidFill>
                <a:latin typeface="Poppins"/>
                <a:ea typeface="Poppins"/>
                <a:cs typeface="Poppins"/>
                <a:sym typeface="Poppins"/>
              </a:rPr>
              <a:t>Model iterates dynamically over epochs &amp; batches to minimize errors.</a:t>
            </a:r>
            <a:endParaRPr sz="650" b="0">
              <a:solidFill>
                <a:srgbClr val="8E9AA6"/>
              </a:solidFill>
              <a:latin typeface="Poppins"/>
              <a:ea typeface="Poppins"/>
              <a:cs typeface="Poppins"/>
              <a:sym typeface="Poppins"/>
            </a:endParaRPr>
          </a:p>
        </p:txBody>
      </p:sp>
      <p:grpSp>
        <p:nvGrpSpPr>
          <p:cNvPr id="415" name="Google Shape;415;p19"/>
          <p:cNvGrpSpPr/>
          <p:nvPr/>
        </p:nvGrpSpPr>
        <p:grpSpPr>
          <a:xfrm>
            <a:off x="6948488" y="900113"/>
            <a:ext cx="1771800" cy="561900"/>
            <a:chOff x="-4762" y="-4762"/>
            <a:chExt cx="1771800" cy="561900"/>
          </a:xfrm>
        </p:grpSpPr>
        <p:pic>
          <p:nvPicPr>
            <p:cNvPr id="416" name="Google Shape;416;p19"/>
            <p:cNvPicPr preferRelativeResize="0"/>
            <p:nvPr/>
          </p:nvPicPr>
          <p:blipFill rotWithShape="1">
            <a:blip r:embed="rId20">
              <a:alphaModFix/>
            </a:blip>
            <a:srcRect/>
            <a:stretch/>
          </p:blipFill>
          <p:spPr>
            <a:xfrm>
              <a:off x="-4762" y="-4762"/>
              <a:ext cx="1771800" cy="561900"/>
            </a:xfrm>
            <a:prstGeom prst="rect">
              <a:avLst/>
            </a:prstGeom>
            <a:noFill/>
            <a:ln>
              <a:noFill/>
            </a:ln>
          </p:spPr>
        </p:pic>
        <p:sp>
          <p:nvSpPr>
            <p:cNvPr id="417" name="Google Shape;417;p19"/>
            <p:cNvSpPr/>
            <p:nvPr/>
          </p:nvSpPr>
          <p:spPr>
            <a:xfrm>
              <a:off x="0" y="0"/>
              <a:ext cx="38100" cy="5526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18" name="Google Shape;418;p19"/>
            <p:cNvSpPr txBox="1"/>
            <p:nvPr/>
          </p:nvSpPr>
          <p:spPr>
            <a:xfrm>
              <a:off x="142875" y="76200"/>
              <a:ext cx="14763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Forward Propagation</a:t>
              </a:r>
              <a:endParaRPr sz="750" b="1">
                <a:solidFill>
                  <a:srgbClr val="00F2FE"/>
                </a:solidFill>
                <a:latin typeface="Poppins"/>
                <a:ea typeface="Poppins"/>
                <a:cs typeface="Poppins"/>
                <a:sym typeface="Poppins"/>
              </a:endParaRPr>
            </a:p>
            <a:p>
              <a:pPr marL="0" lvl="0" indent="0" algn="l" rtl="0">
                <a:spcBef>
                  <a:spcPts val="150"/>
                </a:spcBef>
                <a:spcAft>
                  <a:spcPts val="0"/>
                </a:spcAft>
                <a:buNone/>
              </a:pPr>
              <a:r>
                <a:rPr lang="en-GB" sz="650" b="0">
                  <a:solidFill>
                    <a:srgbClr val="94A3B8"/>
                  </a:solidFill>
                  <a:latin typeface="Poppins"/>
                  <a:ea typeface="Poppins"/>
                  <a:cs typeface="Poppins"/>
                  <a:sym typeface="Poppins"/>
                </a:rPr>
                <a:t>Makes predictions using current network weights.</a:t>
              </a:r>
              <a:endParaRPr sz="650" b="0">
                <a:solidFill>
                  <a:srgbClr val="94A3B8"/>
                </a:solidFill>
                <a:latin typeface="Poppins"/>
                <a:ea typeface="Poppins"/>
                <a:cs typeface="Poppins"/>
                <a:sym typeface="Poppins"/>
              </a:endParaRPr>
            </a:p>
          </p:txBody>
        </p:sp>
      </p:grpSp>
      <p:grpSp>
        <p:nvGrpSpPr>
          <p:cNvPr id="419" name="Google Shape;419;p19"/>
          <p:cNvGrpSpPr/>
          <p:nvPr/>
        </p:nvGrpSpPr>
        <p:grpSpPr>
          <a:xfrm>
            <a:off x="6948488" y="1547813"/>
            <a:ext cx="1771800" cy="561900"/>
            <a:chOff x="-4762" y="-4762"/>
            <a:chExt cx="1771800" cy="561900"/>
          </a:xfrm>
        </p:grpSpPr>
        <p:pic>
          <p:nvPicPr>
            <p:cNvPr id="420" name="Google Shape;420;p19"/>
            <p:cNvPicPr preferRelativeResize="0"/>
            <p:nvPr/>
          </p:nvPicPr>
          <p:blipFill rotWithShape="1">
            <a:blip r:embed="rId20">
              <a:alphaModFix/>
            </a:blip>
            <a:srcRect/>
            <a:stretch/>
          </p:blipFill>
          <p:spPr>
            <a:xfrm>
              <a:off x="-4762" y="-4762"/>
              <a:ext cx="1771800" cy="561900"/>
            </a:xfrm>
            <a:prstGeom prst="rect">
              <a:avLst/>
            </a:prstGeom>
            <a:noFill/>
            <a:ln>
              <a:noFill/>
            </a:ln>
          </p:spPr>
        </p:pic>
        <p:sp>
          <p:nvSpPr>
            <p:cNvPr id="421" name="Google Shape;421;p19"/>
            <p:cNvSpPr/>
            <p:nvPr/>
          </p:nvSpPr>
          <p:spPr>
            <a:xfrm>
              <a:off x="0" y="0"/>
              <a:ext cx="38100" cy="5526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2" name="Google Shape;422;p19"/>
            <p:cNvSpPr txBox="1"/>
            <p:nvPr/>
          </p:nvSpPr>
          <p:spPr>
            <a:xfrm>
              <a:off x="142875" y="76200"/>
              <a:ext cx="14763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FFFFFF"/>
                  </a:solidFill>
                  <a:latin typeface="Poppins"/>
                  <a:ea typeface="Poppins"/>
                  <a:cs typeface="Poppins"/>
                  <a:sym typeface="Poppins"/>
                </a:rPr>
                <a:t>📉 Loss Function</a:t>
              </a:r>
              <a:endParaRPr sz="750" b="1">
                <a:solidFill>
                  <a:srgbClr val="FFFFFF"/>
                </a:solidFill>
                <a:latin typeface="Poppins"/>
                <a:ea typeface="Poppins"/>
                <a:cs typeface="Poppins"/>
                <a:sym typeface="Poppins"/>
              </a:endParaRPr>
            </a:p>
            <a:p>
              <a:pPr marL="0" lvl="0" indent="0" algn="l" rtl="0">
                <a:spcBef>
                  <a:spcPts val="150"/>
                </a:spcBef>
                <a:spcAft>
                  <a:spcPts val="0"/>
                </a:spcAft>
                <a:buNone/>
              </a:pPr>
              <a:r>
                <a:rPr lang="en-GB" sz="650" b="0">
                  <a:solidFill>
                    <a:srgbClr val="94A3B8"/>
                  </a:solidFill>
                  <a:latin typeface="Poppins"/>
                  <a:ea typeface="Poppins"/>
                  <a:cs typeface="Poppins"/>
                  <a:sym typeface="Poppins"/>
                </a:rPr>
                <a:t>Measures categorical prediction error mathematically.</a:t>
              </a:r>
              <a:endParaRPr sz="650" b="0">
                <a:solidFill>
                  <a:srgbClr val="94A3B8"/>
                </a:solidFill>
                <a:latin typeface="Poppins"/>
                <a:ea typeface="Poppins"/>
                <a:cs typeface="Poppins"/>
                <a:sym typeface="Poppins"/>
              </a:endParaRPr>
            </a:p>
          </p:txBody>
        </p:sp>
      </p:grpSp>
      <p:grpSp>
        <p:nvGrpSpPr>
          <p:cNvPr id="423" name="Google Shape;423;p19"/>
          <p:cNvGrpSpPr/>
          <p:nvPr/>
        </p:nvGrpSpPr>
        <p:grpSpPr>
          <a:xfrm>
            <a:off x="6948488" y="2195513"/>
            <a:ext cx="1771800" cy="561900"/>
            <a:chOff x="-4762" y="-4762"/>
            <a:chExt cx="1771800" cy="561900"/>
          </a:xfrm>
        </p:grpSpPr>
        <p:pic>
          <p:nvPicPr>
            <p:cNvPr id="424" name="Google Shape;424;p19"/>
            <p:cNvPicPr preferRelativeResize="0"/>
            <p:nvPr/>
          </p:nvPicPr>
          <p:blipFill rotWithShape="1">
            <a:blip r:embed="rId20">
              <a:alphaModFix/>
            </a:blip>
            <a:srcRect/>
            <a:stretch/>
          </p:blipFill>
          <p:spPr>
            <a:xfrm>
              <a:off x="-4762" y="-4762"/>
              <a:ext cx="1771800" cy="561900"/>
            </a:xfrm>
            <a:prstGeom prst="rect">
              <a:avLst/>
            </a:prstGeom>
            <a:noFill/>
            <a:ln>
              <a:noFill/>
            </a:ln>
          </p:spPr>
        </p:pic>
        <p:sp>
          <p:nvSpPr>
            <p:cNvPr id="425" name="Google Shape;425;p19"/>
            <p:cNvSpPr/>
            <p:nvPr/>
          </p:nvSpPr>
          <p:spPr>
            <a:xfrm>
              <a:off x="0" y="0"/>
              <a:ext cx="38100" cy="5526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26" name="Google Shape;426;p19"/>
            <p:cNvSpPr txBox="1"/>
            <p:nvPr/>
          </p:nvSpPr>
          <p:spPr>
            <a:xfrm>
              <a:off x="142875" y="76200"/>
              <a:ext cx="14763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FFFFFF"/>
                  </a:solidFill>
                  <a:latin typeface="Poppins"/>
                  <a:ea typeface="Poppins"/>
                  <a:cs typeface="Poppins"/>
                  <a:sym typeface="Poppins"/>
                </a:rPr>
                <a:t>🔄 Backpropagation</a:t>
              </a:r>
              <a:endParaRPr sz="750" b="1">
                <a:solidFill>
                  <a:srgbClr val="FFFFFF"/>
                </a:solidFill>
                <a:latin typeface="Poppins"/>
                <a:ea typeface="Poppins"/>
                <a:cs typeface="Poppins"/>
                <a:sym typeface="Poppins"/>
              </a:endParaRPr>
            </a:p>
            <a:p>
              <a:pPr marL="0" lvl="0" indent="0" algn="l" rtl="0">
                <a:spcBef>
                  <a:spcPts val="150"/>
                </a:spcBef>
                <a:spcAft>
                  <a:spcPts val="0"/>
                </a:spcAft>
                <a:buNone/>
              </a:pPr>
              <a:r>
                <a:rPr lang="en-GB" sz="650" b="0">
                  <a:solidFill>
                    <a:srgbClr val="94A3B8"/>
                  </a:solidFill>
                  <a:latin typeface="Poppins"/>
                  <a:ea typeface="Poppins"/>
                  <a:cs typeface="Poppins"/>
                  <a:sym typeface="Poppins"/>
                </a:rPr>
                <a:t>Calculates gradients to learn from past mistakes.</a:t>
              </a:r>
              <a:endParaRPr sz="650" b="0">
                <a:solidFill>
                  <a:srgbClr val="94A3B8"/>
                </a:solidFill>
                <a:latin typeface="Poppins"/>
                <a:ea typeface="Poppins"/>
                <a:cs typeface="Poppins"/>
                <a:sym typeface="Poppins"/>
              </a:endParaRPr>
            </a:p>
          </p:txBody>
        </p:sp>
      </p:grpSp>
      <p:grpSp>
        <p:nvGrpSpPr>
          <p:cNvPr id="427" name="Google Shape;427;p19"/>
          <p:cNvGrpSpPr/>
          <p:nvPr/>
        </p:nvGrpSpPr>
        <p:grpSpPr>
          <a:xfrm>
            <a:off x="6948488" y="2843213"/>
            <a:ext cx="1771800" cy="561900"/>
            <a:chOff x="-4762" y="-4762"/>
            <a:chExt cx="1771800" cy="561900"/>
          </a:xfrm>
        </p:grpSpPr>
        <p:pic>
          <p:nvPicPr>
            <p:cNvPr id="428" name="Google Shape;428;p19"/>
            <p:cNvPicPr preferRelativeResize="0"/>
            <p:nvPr/>
          </p:nvPicPr>
          <p:blipFill rotWithShape="1">
            <a:blip r:embed="rId20">
              <a:alphaModFix/>
            </a:blip>
            <a:srcRect/>
            <a:stretch/>
          </p:blipFill>
          <p:spPr>
            <a:xfrm>
              <a:off x="-4762" y="-4762"/>
              <a:ext cx="1771800" cy="561900"/>
            </a:xfrm>
            <a:prstGeom prst="rect">
              <a:avLst/>
            </a:prstGeom>
            <a:noFill/>
            <a:ln>
              <a:noFill/>
            </a:ln>
          </p:spPr>
        </p:pic>
        <p:sp>
          <p:nvSpPr>
            <p:cNvPr id="429" name="Google Shape;429;p19"/>
            <p:cNvSpPr/>
            <p:nvPr/>
          </p:nvSpPr>
          <p:spPr>
            <a:xfrm>
              <a:off x="0" y="0"/>
              <a:ext cx="38100" cy="5526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0" name="Google Shape;430;p19"/>
            <p:cNvSpPr txBox="1"/>
            <p:nvPr/>
          </p:nvSpPr>
          <p:spPr>
            <a:xfrm>
              <a:off x="142875" y="76200"/>
              <a:ext cx="14763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Adam Optimizer</a:t>
              </a:r>
              <a:endParaRPr sz="750" b="1">
                <a:solidFill>
                  <a:srgbClr val="00F2FE"/>
                </a:solidFill>
                <a:latin typeface="Poppins"/>
                <a:ea typeface="Poppins"/>
                <a:cs typeface="Poppins"/>
                <a:sym typeface="Poppins"/>
              </a:endParaRPr>
            </a:p>
            <a:p>
              <a:pPr marL="0" lvl="0" indent="0" algn="l" rtl="0">
                <a:spcBef>
                  <a:spcPts val="150"/>
                </a:spcBef>
                <a:spcAft>
                  <a:spcPts val="0"/>
                </a:spcAft>
                <a:buNone/>
              </a:pPr>
              <a:r>
                <a:rPr lang="en-GB" sz="650" b="0">
                  <a:solidFill>
                    <a:srgbClr val="94A3B8"/>
                  </a:solidFill>
                  <a:latin typeface="Poppins"/>
                  <a:ea typeface="Poppins"/>
                  <a:cs typeface="Poppins"/>
                  <a:sym typeface="Poppins"/>
                </a:rPr>
                <a:t>Updates network weights dynamically &amp; efficiently.</a:t>
              </a:r>
              <a:endParaRPr sz="650" b="0">
                <a:solidFill>
                  <a:srgbClr val="94A3B8"/>
                </a:solidFill>
                <a:latin typeface="Poppins"/>
                <a:ea typeface="Poppins"/>
                <a:cs typeface="Poppins"/>
                <a:sym typeface="Poppins"/>
              </a:endParaRPr>
            </a:p>
          </p:txBody>
        </p:sp>
      </p:grpSp>
      <p:grpSp>
        <p:nvGrpSpPr>
          <p:cNvPr id="431" name="Google Shape;431;p19"/>
          <p:cNvGrpSpPr/>
          <p:nvPr/>
        </p:nvGrpSpPr>
        <p:grpSpPr>
          <a:xfrm>
            <a:off x="6948488" y="3490913"/>
            <a:ext cx="1771800" cy="561900"/>
            <a:chOff x="-4762" y="-4762"/>
            <a:chExt cx="1771800" cy="561900"/>
          </a:xfrm>
        </p:grpSpPr>
        <p:pic>
          <p:nvPicPr>
            <p:cNvPr id="432" name="Google Shape;432;p19"/>
            <p:cNvPicPr preferRelativeResize="0"/>
            <p:nvPr/>
          </p:nvPicPr>
          <p:blipFill rotWithShape="1">
            <a:blip r:embed="rId20">
              <a:alphaModFix/>
            </a:blip>
            <a:srcRect/>
            <a:stretch/>
          </p:blipFill>
          <p:spPr>
            <a:xfrm>
              <a:off x="-4762" y="-4762"/>
              <a:ext cx="1771800" cy="561900"/>
            </a:xfrm>
            <a:prstGeom prst="rect">
              <a:avLst/>
            </a:prstGeom>
            <a:noFill/>
            <a:ln>
              <a:noFill/>
            </a:ln>
          </p:spPr>
        </p:pic>
        <p:sp>
          <p:nvSpPr>
            <p:cNvPr id="433" name="Google Shape;433;p19"/>
            <p:cNvSpPr/>
            <p:nvPr/>
          </p:nvSpPr>
          <p:spPr>
            <a:xfrm>
              <a:off x="0" y="0"/>
              <a:ext cx="38100" cy="5526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34" name="Google Shape;434;p19"/>
            <p:cNvSpPr txBox="1"/>
            <p:nvPr/>
          </p:nvSpPr>
          <p:spPr>
            <a:xfrm>
              <a:off x="142875" y="76200"/>
              <a:ext cx="1476300" cy="400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FFFFFF"/>
                  </a:solidFill>
                  <a:latin typeface="Poppins"/>
                  <a:ea typeface="Poppins"/>
                  <a:cs typeface="Poppins"/>
                  <a:sym typeface="Poppins"/>
                </a:rPr>
                <a:t>📈 Epoch Completion</a:t>
              </a:r>
              <a:endParaRPr sz="750" b="1">
                <a:solidFill>
                  <a:srgbClr val="FFFFFF"/>
                </a:solidFill>
                <a:latin typeface="Poppins"/>
                <a:ea typeface="Poppins"/>
                <a:cs typeface="Poppins"/>
                <a:sym typeface="Poppins"/>
              </a:endParaRPr>
            </a:p>
            <a:p>
              <a:pPr marL="0" lvl="0" indent="0" algn="l" rtl="0">
                <a:spcBef>
                  <a:spcPts val="150"/>
                </a:spcBef>
                <a:spcAft>
                  <a:spcPts val="0"/>
                </a:spcAft>
                <a:buNone/>
              </a:pPr>
              <a:r>
                <a:rPr lang="en-GB" sz="650" b="0">
                  <a:solidFill>
                    <a:srgbClr val="94A3B8"/>
                  </a:solidFill>
                  <a:latin typeface="Poppins"/>
                  <a:ea typeface="Poppins"/>
                  <a:cs typeface="Poppins"/>
                  <a:sym typeface="Poppins"/>
                </a:rPr>
                <a:t>One complete, optimized pass through the training dataset.</a:t>
              </a:r>
              <a:endParaRPr sz="650" b="0">
                <a:solidFill>
                  <a:srgbClr val="94A3B8"/>
                </a:solidFill>
                <a:latin typeface="Poppins"/>
                <a:ea typeface="Poppins"/>
                <a:cs typeface="Poppins"/>
                <a:sym typeface="Poppins"/>
              </a:endParaRPr>
            </a:p>
          </p:txBody>
        </p:sp>
      </p:grpSp>
      <p:pic>
        <p:nvPicPr>
          <p:cNvPr id="435" name="Google Shape;435;p19"/>
          <p:cNvPicPr preferRelativeResize="0"/>
          <p:nvPr/>
        </p:nvPicPr>
        <p:blipFill rotWithShape="1">
          <a:blip r:embed="rId21">
            <a:alphaModFix/>
          </a:blip>
          <a:srcRect/>
          <a:stretch/>
        </p:blipFill>
        <p:spPr>
          <a:xfrm>
            <a:off x="423863" y="4233863"/>
            <a:ext cx="8296200" cy="533400"/>
          </a:xfrm>
          <a:prstGeom prst="rect">
            <a:avLst/>
          </a:prstGeom>
          <a:noFill/>
          <a:ln>
            <a:noFill/>
          </a:ln>
        </p:spPr>
      </p:pic>
      <p:pic>
        <p:nvPicPr>
          <p:cNvPr id="436" name="Google Shape;436;p19"/>
          <p:cNvPicPr preferRelativeResize="0"/>
          <p:nvPr/>
        </p:nvPicPr>
        <p:blipFill rotWithShape="1">
          <a:blip r:embed="rId22">
            <a:alphaModFix/>
          </a:blip>
          <a:srcRect/>
          <a:stretch/>
        </p:blipFill>
        <p:spPr>
          <a:xfrm>
            <a:off x="414338" y="4224338"/>
            <a:ext cx="28500" cy="552600"/>
          </a:xfrm>
          <a:prstGeom prst="rect">
            <a:avLst/>
          </a:prstGeom>
          <a:noFill/>
          <a:ln>
            <a:noFill/>
          </a:ln>
        </p:spPr>
      </p:pic>
      <p:sp>
        <p:nvSpPr>
          <p:cNvPr id="437" name="Google Shape;437;p19"/>
          <p:cNvSpPr txBox="1"/>
          <p:nvPr/>
        </p:nvSpPr>
        <p:spPr>
          <a:xfrm>
            <a:off x="619125" y="4305300"/>
            <a:ext cx="7905900" cy="3906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1">
                <a:solidFill>
                  <a:srgbClr val="00F2FE"/>
                </a:solidFill>
                <a:latin typeface="Poppins"/>
                <a:ea typeface="Poppins"/>
                <a:cs typeface="Poppins"/>
                <a:sym typeface="Poppins"/>
              </a:rPr>
              <a:t>Key Insight:</a:t>
            </a:r>
            <a:r>
              <a:rPr lang="en-GB" sz="800" b="0">
                <a:solidFill>
                  <a:srgbClr val="E2E8F0"/>
                </a:solidFill>
                <a:latin typeface="Poppins"/>
                <a:ea typeface="Poppins"/>
                <a:cs typeface="Poppins"/>
                <a:sym typeface="Poppins"/>
              </a:rPr>
              <a:t> The CNN gradually improves its performance by repeatedly learning from prediction errors. With every epoch, the model adjusts its internal parameters, resulting in more accurate tumor classification.</a:t>
            </a:r>
            <a:endParaRPr sz="800" b="0">
              <a:solidFill>
                <a:srgbClr val="E2E8F0"/>
              </a:solidFill>
              <a:latin typeface="Poppins"/>
              <a:ea typeface="Poppins"/>
              <a:cs typeface="Poppins"/>
              <a:sym typeface="Poppins"/>
            </a:endParaRPr>
          </a:p>
        </p:txBody>
      </p:sp>
      <p:cxnSp>
        <p:nvCxnSpPr>
          <p:cNvPr id="438" name="Google Shape;438;p19"/>
          <p:cNvCxnSpPr/>
          <p:nvPr/>
        </p:nvCxnSpPr>
        <p:spPr>
          <a:xfrm>
            <a:off x="428625" y="4905375"/>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439" name="Google Shape;439;p19"/>
          <p:cNvSpPr txBox="1"/>
          <p:nvPr/>
        </p:nvSpPr>
        <p:spPr>
          <a:xfrm>
            <a:off x="428625" y="4953000"/>
            <a:ext cx="28575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00" b="0">
                <a:solidFill>
                  <a:srgbClr val="475569"/>
                </a:solidFill>
                <a:latin typeface="Poppins"/>
                <a:ea typeface="Poppins"/>
                <a:cs typeface="Poppins"/>
                <a:sym typeface="Poppins"/>
              </a:rPr>
              <a:t>Department of Data Science &amp; Artificial Intelligence</a:t>
            </a:r>
            <a:endParaRPr sz="600" b="0">
              <a:solidFill>
                <a:srgbClr val="475569"/>
              </a:solidFill>
              <a:latin typeface="Poppins"/>
              <a:ea typeface="Poppins"/>
              <a:cs typeface="Poppins"/>
              <a:sym typeface="Poppins"/>
            </a:endParaRPr>
          </a:p>
        </p:txBody>
      </p:sp>
      <p:sp>
        <p:nvSpPr>
          <p:cNvPr id="440" name="Google Shape;440;p19"/>
          <p:cNvSpPr txBox="1"/>
          <p:nvPr/>
        </p:nvSpPr>
        <p:spPr>
          <a:xfrm>
            <a:off x="6810375" y="4953000"/>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600" b="0">
                <a:solidFill>
                  <a:srgbClr val="00F2FE"/>
                </a:solidFill>
                <a:latin typeface="Poppins"/>
                <a:ea typeface="Poppins"/>
                <a:cs typeface="Poppins"/>
                <a:sym typeface="Poppins"/>
              </a:rPr>
              <a:t>Presenter: Steve Emmanuel</a:t>
            </a:r>
            <a:endParaRPr sz="600" b="0">
              <a:solidFill>
                <a:srgbClr val="00F2FE"/>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44"/>
        <p:cNvGrpSpPr/>
        <p:nvPr/>
      </p:nvGrpSpPr>
      <p:grpSpPr>
        <a:xfrm>
          <a:off x="0" y="0"/>
          <a:ext cx="0" cy="0"/>
          <a:chOff x="0" y="0"/>
          <a:chExt cx="0" cy="0"/>
        </a:xfrm>
      </p:grpSpPr>
      <p:sp>
        <p:nvSpPr>
          <p:cNvPr id="445" name="Google Shape;445;p20"/>
          <p:cNvSpPr txBox="1"/>
          <p:nvPr/>
        </p:nvSpPr>
        <p:spPr>
          <a:xfrm>
            <a:off x="428625" y="238125"/>
            <a:ext cx="82869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Model Performance &amp; Training Results</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950" b="0">
                <a:solidFill>
                  <a:srgbClr val="A5F3FC"/>
                </a:solidFill>
                <a:latin typeface="Poppins"/>
                <a:ea typeface="Poppins"/>
                <a:cs typeface="Poppins"/>
                <a:sym typeface="Poppins"/>
              </a:rPr>
              <a:t>Evaluating how well the CNN learned to classify Brain MRI images.</a:t>
            </a:r>
            <a:endParaRPr sz="950" b="0">
              <a:solidFill>
                <a:srgbClr val="A5F3FC"/>
              </a:solidFill>
              <a:latin typeface="Poppins"/>
              <a:ea typeface="Poppins"/>
              <a:cs typeface="Poppins"/>
              <a:sym typeface="Poppins"/>
            </a:endParaRPr>
          </a:p>
        </p:txBody>
      </p:sp>
      <p:grpSp>
        <p:nvGrpSpPr>
          <p:cNvPr id="446" name="Google Shape;446;p20"/>
          <p:cNvGrpSpPr/>
          <p:nvPr/>
        </p:nvGrpSpPr>
        <p:grpSpPr>
          <a:xfrm>
            <a:off x="419100" y="895350"/>
            <a:ext cx="1590600" cy="705000"/>
            <a:chOff x="-9525" y="-9525"/>
            <a:chExt cx="1590600" cy="705000"/>
          </a:xfrm>
        </p:grpSpPr>
        <p:pic>
          <p:nvPicPr>
            <p:cNvPr id="447" name="Google Shape;447;p20"/>
            <p:cNvPicPr preferRelativeResize="0"/>
            <p:nvPr/>
          </p:nvPicPr>
          <p:blipFill rotWithShape="1">
            <a:blip r:embed="rId4">
              <a:alphaModFix/>
            </a:blip>
            <a:srcRect/>
            <a:stretch/>
          </p:blipFill>
          <p:spPr>
            <a:xfrm>
              <a:off x="-9525" y="-9525"/>
              <a:ext cx="1590600" cy="705000"/>
            </a:xfrm>
            <a:prstGeom prst="rect">
              <a:avLst/>
            </a:prstGeom>
            <a:noFill/>
            <a:ln>
              <a:noFill/>
            </a:ln>
          </p:spPr>
        </p:pic>
        <p:sp>
          <p:nvSpPr>
            <p:cNvPr id="448" name="Google Shape;448;p20"/>
            <p:cNvSpPr txBox="1"/>
            <p:nvPr/>
          </p:nvSpPr>
          <p:spPr>
            <a:xfrm>
              <a:off x="114300" y="95250"/>
              <a:ext cx="13431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94A3B8"/>
                  </a:solidFill>
                  <a:latin typeface="Poppins SemiBold"/>
                  <a:ea typeface="Poppins SemiBold"/>
                  <a:cs typeface="Poppins SemiBold"/>
                  <a:sym typeface="Poppins SemiBold"/>
                </a:rPr>
                <a:t>🎯 Training Accuracy</a:t>
              </a:r>
              <a:endParaRPr sz="740" b="0">
                <a:solidFill>
                  <a:srgbClr val="94A3B8"/>
                </a:solidFill>
                <a:latin typeface="Poppins SemiBold"/>
                <a:ea typeface="Poppins SemiBold"/>
                <a:cs typeface="Poppins SemiBold"/>
                <a:sym typeface="Poppins SemiBold"/>
              </a:endParaRPr>
            </a:p>
            <a:p>
              <a:pPr marL="0" lvl="0" indent="0" algn="l" rtl="0">
                <a:spcBef>
                  <a:spcPts val="150"/>
                </a:spcBef>
                <a:spcAft>
                  <a:spcPts val="0"/>
                </a:spcAft>
                <a:buNone/>
              </a:pPr>
              <a:r>
                <a:rPr lang="en-GB" sz="1480" b="1">
                  <a:solidFill>
                    <a:srgbClr val="FFFFFF"/>
                  </a:solidFill>
                  <a:latin typeface="Poppins"/>
                  <a:ea typeface="Poppins"/>
                  <a:cs typeface="Poppins"/>
                  <a:sym typeface="Poppins"/>
                </a:rPr>
                <a:t>100%</a:t>
              </a:r>
              <a:endParaRPr sz="1480" b="1">
                <a:solidFill>
                  <a:srgbClr val="FFFFFF"/>
                </a:solidFill>
                <a:latin typeface="Poppins"/>
                <a:ea typeface="Poppins"/>
                <a:cs typeface="Poppins"/>
                <a:sym typeface="Poppins"/>
              </a:endParaRPr>
            </a:p>
            <a:p>
              <a:pPr marL="0" lvl="0" indent="0" algn="l" rtl="0">
                <a:spcBef>
                  <a:spcPts val="150"/>
                </a:spcBef>
                <a:spcAft>
                  <a:spcPts val="0"/>
                </a:spcAft>
                <a:buNone/>
              </a:pPr>
              <a:r>
                <a:rPr lang="en-GB" sz="601" b="0">
                  <a:solidFill>
                    <a:srgbClr val="64748B"/>
                  </a:solidFill>
                  <a:latin typeface="Poppins"/>
                  <a:ea typeface="Poppins"/>
                  <a:cs typeface="Poppins"/>
                  <a:sym typeface="Poppins"/>
                </a:rPr>
                <a:t>Excellent learning on dataset.</a:t>
              </a:r>
              <a:endParaRPr sz="601" b="0">
                <a:solidFill>
                  <a:srgbClr val="64748B"/>
                </a:solidFill>
                <a:latin typeface="Poppins"/>
                <a:ea typeface="Poppins"/>
                <a:cs typeface="Poppins"/>
                <a:sym typeface="Poppins"/>
              </a:endParaRPr>
            </a:p>
          </p:txBody>
        </p:sp>
      </p:grpSp>
      <p:grpSp>
        <p:nvGrpSpPr>
          <p:cNvPr id="449" name="Google Shape;449;p20"/>
          <p:cNvGrpSpPr/>
          <p:nvPr/>
        </p:nvGrpSpPr>
        <p:grpSpPr>
          <a:xfrm>
            <a:off x="2133600" y="895350"/>
            <a:ext cx="1590600" cy="705000"/>
            <a:chOff x="-9525" y="-9525"/>
            <a:chExt cx="1590600" cy="705000"/>
          </a:xfrm>
        </p:grpSpPr>
        <p:pic>
          <p:nvPicPr>
            <p:cNvPr id="450" name="Google Shape;450;p20"/>
            <p:cNvPicPr preferRelativeResize="0"/>
            <p:nvPr/>
          </p:nvPicPr>
          <p:blipFill rotWithShape="1">
            <a:blip r:embed="rId4">
              <a:alphaModFix/>
            </a:blip>
            <a:srcRect/>
            <a:stretch/>
          </p:blipFill>
          <p:spPr>
            <a:xfrm>
              <a:off x="-9525" y="-9525"/>
              <a:ext cx="1590600" cy="705000"/>
            </a:xfrm>
            <a:prstGeom prst="rect">
              <a:avLst/>
            </a:prstGeom>
            <a:noFill/>
            <a:ln>
              <a:noFill/>
            </a:ln>
          </p:spPr>
        </p:pic>
        <p:sp>
          <p:nvSpPr>
            <p:cNvPr id="451" name="Google Shape;451;p20"/>
            <p:cNvSpPr txBox="1"/>
            <p:nvPr/>
          </p:nvSpPr>
          <p:spPr>
            <a:xfrm>
              <a:off x="114300" y="95250"/>
              <a:ext cx="13431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94A3B8"/>
                  </a:solidFill>
                  <a:latin typeface="Poppins SemiBold"/>
                  <a:ea typeface="Poppins SemiBold"/>
                  <a:cs typeface="Poppins SemiBold"/>
                  <a:sym typeface="Poppins SemiBold"/>
                </a:rPr>
                <a:t>✅ Validation Accuracy</a:t>
              </a:r>
              <a:endParaRPr sz="740" b="0">
                <a:solidFill>
                  <a:srgbClr val="94A3B8"/>
                </a:solidFill>
                <a:latin typeface="Poppins SemiBold"/>
                <a:ea typeface="Poppins SemiBold"/>
                <a:cs typeface="Poppins SemiBold"/>
                <a:sym typeface="Poppins SemiBold"/>
              </a:endParaRPr>
            </a:p>
            <a:p>
              <a:pPr marL="0" lvl="0" indent="0" algn="l" rtl="0">
                <a:spcBef>
                  <a:spcPts val="150"/>
                </a:spcBef>
                <a:spcAft>
                  <a:spcPts val="0"/>
                </a:spcAft>
                <a:buNone/>
              </a:pPr>
              <a:r>
                <a:rPr lang="en-GB" sz="1480" b="1">
                  <a:solidFill>
                    <a:srgbClr val="22D3EE"/>
                  </a:solidFill>
                  <a:latin typeface="Poppins"/>
                  <a:ea typeface="Poppins"/>
                  <a:cs typeface="Poppins"/>
                  <a:sym typeface="Poppins"/>
                </a:rPr>
                <a:t>93.84%</a:t>
              </a:r>
              <a:endParaRPr sz="1480" b="1">
                <a:solidFill>
                  <a:srgbClr val="22D3EE"/>
                </a:solidFill>
                <a:latin typeface="Poppins"/>
                <a:ea typeface="Poppins"/>
                <a:cs typeface="Poppins"/>
                <a:sym typeface="Poppins"/>
              </a:endParaRPr>
            </a:p>
            <a:p>
              <a:pPr marL="0" lvl="0" indent="0" algn="l" rtl="0">
                <a:spcBef>
                  <a:spcPts val="150"/>
                </a:spcBef>
                <a:spcAft>
                  <a:spcPts val="0"/>
                </a:spcAft>
                <a:buNone/>
              </a:pPr>
              <a:r>
                <a:rPr lang="en-GB" sz="601" b="0">
                  <a:solidFill>
                    <a:srgbClr val="64748B"/>
                  </a:solidFill>
                  <a:latin typeface="Poppins"/>
                  <a:ea typeface="Poppins"/>
                  <a:cs typeface="Poppins"/>
                  <a:sym typeface="Poppins"/>
                </a:rPr>
                <a:t>Strong generalization on data.</a:t>
              </a:r>
              <a:endParaRPr sz="601" b="0">
                <a:solidFill>
                  <a:srgbClr val="64748B"/>
                </a:solidFill>
                <a:latin typeface="Poppins"/>
                <a:ea typeface="Poppins"/>
                <a:cs typeface="Poppins"/>
                <a:sym typeface="Poppins"/>
              </a:endParaRPr>
            </a:p>
          </p:txBody>
        </p:sp>
      </p:grpSp>
      <p:grpSp>
        <p:nvGrpSpPr>
          <p:cNvPr id="452" name="Google Shape;452;p20"/>
          <p:cNvGrpSpPr/>
          <p:nvPr/>
        </p:nvGrpSpPr>
        <p:grpSpPr>
          <a:xfrm>
            <a:off x="3848100" y="895350"/>
            <a:ext cx="1590600" cy="705000"/>
            <a:chOff x="-9525" y="-9525"/>
            <a:chExt cx="1590600" cy="705000"/>
          </a:xfrm>
        </p:grpSpPr>
        <p:pic>
          <p:nvPicPr>
            <p:cNvPr id="453" name="Google Shape;453;p20"/>
            <p:cNvPicPr preferRelativeResize="0"/>
            <p:nvPr/>
          </p:nvPicPr>
          <p:blipFill rotWithShape="1">
            <a:blip r:embed="rId4">
              <a:alphaModFix/>
            </a:blip>
            <a:srcRect/>
            <a:stretch/>
          </p:blipFill>
          <p:spPr>
            <a:xfrm>
              <a:off x="-9525" y="-9525"/>
              <a:ext cx="1590600" cy="705000"/>
            </a:xfrm>
            <a:prstGeom prst="rect">
              <a:avLst/>
            </a:prstGeom>
            <a:noFill/>
            <a:ln>
              <a:noFill/>
            </a:ln>
          </p:spPr>
        </p:pic>
        <p:sp>
          <p:nvSpPr>
            <p:cNvPr id="454" name="Google Shape;454;p20"/>
            <p:cNvSpPr txBox="1"/>
            <p:nvPr/>
          </p:nvSpPr>
          <p:spPr>
            <a:xfrm>
              <a:off x="114300" y="95250"/>
              <a:ext cx="13431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94A3B8"/>
                  </a:solidFill>
                  <a:latin typeface="Poppins SemiBold"/>
                  <a:ea typeface="Poppins SemiBold"/>
                  <a:cs typeface="Poppins SemiBold"/>
                  <a:sym typeface="Poppins SemiBold"/>
                </a:rPr>
                <a:t>📉 Validation Loss</a:t>
              </a:r>
              <a:endParaRPr sz="740" b="0">
                <a:solidFill>
                  <a:srgbClr val="94A3B8"/>
                </a:solidFill>
                <a:latin typeface="Poppins SemiBold"/>
                <a:ea typeface="Poppins SemiBold"/>
                <a:cs typeface="Poppins SemiBold"/>
                <a:sym typeface="Poppins SemiBold"/>
              </a:endParaRPr>
            </a:p>
            <a:p>
              <a:pPr marL="0" lvl="0" indent="0" algn="l" rtl="0">
                <a:spcBef>
                  <a:spcPts val="150"/>
                </a:spcBef>
                <a:spcAft>
                  <a:spcPts val="0"/>
                </a:spcAft>
                <a:buNone/>
              </a:pPr>
              <a:r>
                <a:rPr lang="en-GB" sz="1480" b="1">
                  <a:solidFill>
                    <a:srgbClr val="F43F5E"/>
                  </a:solidFill>
                  <a:latin typeface="Poppins"/>
                  <a:ea typeface="Poppins"/>
                  <a:cs typeface="Poppins"/>
                  <a:sym typeface="Poppins"/>
                </a:rPr>
                <a:t>0.3953</a:t>
              </a:r>
              <a:endParaRPr sz="1480" b="1">
                <a:solidFill>
                  <a:srgbClr val="F43F5E"/>
                </a:solidFill>
                <a:latin typeface="Poppins"/>
                <a:ea typeface="Poppins"/>
                <a:cs typeface="Poppins"/>
                <a:sym typeface="Poppins"/>
              </a:endParaRPr>
            </a:p>
            <a:p>
              <a:pPr marL="0" lvl="0" indent="0" algn="l" rtl="0">
                <a:spcBef>
                  <a:spcPts val="150"/>
                </a:spcBef>
                <a:spcAft>
                  <a:spcPts val="0"/>
                </a:spcAft>
                <a:buNone/>
              </a:pPr>
              <a:r>
                <a:rPr lang="en-GB" sz="601" b="0">
                  <a:solidFill>
                    <a:srgbClr val="64748B"/>
                  </a:solidFill>
                  <a:latin typeface="Poppins"/>
                  <a:ea typeface="Poppins"/>
                  <a:cs typeface="Poppins"/>
                  <a:sym typeface="Poppins"/>
                </a:rPr>
                <a:t>Low prediction error rate.</a:t>
              </a:r>
              <a:endParaRPr sz="601" b="0">
                <a:solidFill>
                  <a:srgbClr val="64748B"/>
                </a:solidFill>
                <a:latin typeface="Poppins"/>
                <a:ea typeface="Poppins"/>
                <a:cs typeface="Poppins"/>
                <a:sym typeface="Poppins"/>
              </a:endParaRPr>
            </a:p>
          </p:txBody>
        </p:sp>
      </p:grpSp>
      <p:grpSp>
        <p:nvGrpSpPr>
          <p:cNvPr id="455" name="Google Shape;455;p20"/>
          <p:cNvGrpSpPr/>
          <p:nvPr/>
        </p:nvGrpSpPr>
        <p:grpSpPr>
          <a:xfrm>
            <a:off x="5562600" y="895350"/>
            <a:ext cx="3162300" cy="705000"/>
            <a:chOff x="-9525" y="-9525"/>
            <a:chExt cx="3162300" cy="705000"/>
          </a:xfrm>
        </p:grpSpPr>
        <p:pic>
          <p:nvPicPr>
            <p:cNvPr id="456" name="Google Shape;456;p20"/>
            <p:cNvPicPr preferRelativeResize="0"/>
            <p:nvPr/>
          </p:nvPicPr>
          <p:blipFill rotWithShape="1">
            <a:blip r:embed="rId5">
              <a:alphaModFix/>
            </a:blip>
            <a:srcRect/>
            <a:stretch/>
          </p:blipFill>
          <p:spPr>
            <a:xfrm>
              <a:off x="-9525" y="-9525"/>
              <a:ext cx="3162300" cy="705000"/>
            </a:xfrm>
            <a:prstGeom prst="rect">
              <a:avLst/>
            </a:prstGeom>
            <a:noFill/>
            <a:ln>
              <a:noFill/>
            </a:ln>
          </p:spPr>
        </p:pic>
        <p:sp>
          <p:nvSpPr>
            <p:cNvPr id="457" name="Google Shape;457;p20"/>
            <p:cNvSpPr txBox="1"/>
            <p:nvPr/>
          </p:nvSpPr>
          <p:spPr>
            <a:xfrm>
              <a:off x="152400" y="95250"/>
              <a:ext cx="28386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94A3B8"/>
                  </a:solidFill>
                  <a:latin typeface="Poppins SemiBold"/>
                  <a:ea typeface="Poppins SemiBold"/>
                  <a:cs typeface="Poppins SemiBold"/>
                  <a:sym typeface="Poppins SemiBold"/>
                </a:rPr>
                <a:t>🧠 Model Status</a:t>
              </a:r>
              <a:endParaRPr sz="740" b="0">
                <a:solidFill>
                  <a:srgbClr val="94A3B8"/>
                </a:solidFill>
                <a:latin typeface="Poppins SemiBold"/>
                <a:ea typeface="Poppins SemiBold"/>
                <a:cs typeface="Poppins SemiBold"/>
                <a:sym typeface="Poppins SemiBold"/>
              </a:endParaRPr>
            </a:p>
            <a:p>
              <a:pPr marL="0" lvl="0" indent="0" algn="l" rtl="0">
                <a:spcBef>
                  <a:spcPts val="150"/>
                </a:spcBef>
                <a:spcAft>
                  <a:spcPts val="0"/>
                </a:spcAft>
                <a:buNone/>
              </a:pPr>
              <a:r>
                <a:rPr lang="en-GB" sz="1018" b="1">
                  <a:solidFill>
                    <a:srgbClr val="34D399"/>
                  </a:solidFill>
                  <a:latin typeface="Poppins"/>
                  <a:ea typeface="Poppins"/>
                  <a:cs typeface="Poppins"/>
                  <a:sym typeface="Poppins"/>
                </a:rPr>
                <a:t>Successfully Trained</a:t>
              </a:r>
              <a:endParaRPr sz="1018" b="1">
                <a:solidFill>
                  <a:srgbClr val="34D399"/>
                </a:solidFill>
                <a:latin typeface="Poppins"/>
                <a:ea typeface="Poppins"/>
                <a:cs typeface="Poppins"/>
                <a:sym typeface="Poppins"/>
              </a:endParaRPr>
            </a:p>
            <a:p>
              <a:pPr marL="0" lvl="0" indent="0" algn="l" rtl="0">
                <a:spcBef>
                  <a:spcPts val="300"/>
                </a:spcBef>
                <a:spcAft>
                  <a:spcPts val="0"/>
                </a:spcAft>
                <a:buNone/>
              </a:pPr>
              <a:r>
                <a:rPr lang="en-GB" sz="601" b="0">
                  <a:solidFill>
                    <a:srgbClr val="64748B"/>
                  </a:solidFill>
                  <a:latin typeface="Poppins"/>
                  <a:ea typeface="Poppins"/>
                  <a:cs typeface="Poppins"/>
                  <a:sym typeface="Poppins"/>
                </a:rPr>
                <a:t>Ready for deployment and clinical testing on unseen brain MRI scans.</a:t>
              </a:r>
              <a:endParaRPr sz="601" b="0">
                <a:solidFill>
                  <a:srgbClr val="64748B"/>
                </a:solidFill>
                <a:latin typeface="Poppins"/>
                <a:ea typeface="Poppins"/>
                <a:cs typeface="Poppins"/>
                <a:sym typeface="Poppins"/>
              </a:endParaRPr>
            </a:p>
          </p:txBody>
        </p:sp>
      </p:grpSp>
      <p:sp>
        <p:nvSpPr>
          <p:cNvPr id="458" name="Google Shape;458;p20"/>
          <p:cNvSpPr/>
          <p:nvPr/>
        </p:nvSpPr>
        <p:spPr>
          <a:xfrm>
            <a:off x="552425" y="1762225"/>
            <a:ext cx="5019600" cy="2406600"/>
          </a:xfrm>
          <a:prstGeom prst="roundRect">
            <a:avLst>
              <a:gd name="adj" fmla="val 4897"/>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59" name="Google Shape;459;p20"/>
          <p:cNvSpPr txBox="1"/>
          <p:nvPr/>
        </p:nvSpPr>
        <p:spPr>
          <a:xfrm>
            <a:off x="671999" y="2102812"/>
            <a:ext cx="4637400" cy="177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1">
                <a:solidFill>
                  <a:srgbClr val="00F2FE"/>
                </a:solidFill>
                <a:latin typeface="Poppins"/>
                <a:ea typeface="Poppins"/>
                <a:cs typeface="Poppins"/>
                <a:sym typeface="Poppins"/>
              </a:rPr>
              <a:t>Training Progress Across Epochs</a:t>
            </a:r>
            <a:endParaRPr>
              <a:latin typeface="Poppins"/>
              <a:ea typeface="Poppins"/>
              <a:cs typeface="Poppins"/>
              <a:sym typeface="Poppins"/>
            </a:endParaRPr>
          </a:p>
        </p:txBody>
      </p:sp>
      <p:grpSp>
        <p:nvGrpSpPr>
          <p:cNvPr id="460" name="Google Shape;460;p20"/>
          <p:cNvGrpSpPr/>
          <p:nvPr/>
        </p:nvGrpSpPr>
        <p:grpSpPr>
          <a:xfrm>
            <a:off x="600226" y="2571751"/>
            <a:ext cx="4780788" cy="1375179"/>
            <a:chOff x="-333382" y="80963"/>
            <a:chExt cx="4762690" cy="1395413"/>
          </a:xfrm>
        </p:grpSpPr>
        <p:cxnSp>
          <p:nvCxnSpPr>
            <p:cNvPr id="461" name="Google Shape;461;p20"/>
            <p:cNvCxnSpPr/>
            <p:nvPr/>
          </p:nvCxnSpPr>
          <p:spPr>
            <a:xfrm>
              <a:off x="0" y="1238250"/>
              <a:ext cx="4095900" cy="0"/>
            </a:xfrm>
            <a:prstGeom prst="straightConnector1">
              <a:avLst/>
            </a:prstGeom>
            <a:solidFill>
              <a:srgbClr val="FFFFFF"/>
            </a:solidFill>
            <a:ln w="9525" cap="flat" cmpd="sng">
              <a:solidFill>
                <a:srgbClr val="334155"/>
              </a:solidFill>
              <a:prstDash val="solid"/>
              <a:round/>
              <a:headEnd type="none" w="sm" len="sm"/>
              <a:tailEnd type="none" w="sm" len="sm"/>
            </a:ln>
          </p:spPr>
        </p:cxnSp>
        <p:cxnSp>
          <p:nvCxnSpPr>
            <p:cNvPr id="462" name="Google Shape;462;p20"/>
            <p:cNvCxnSpPr/>
            <p:nvPr/>
          </p:nvCxnSpPr>
          <p:spPr>
            <a:xfrm>
              <a:off x="0" y="95250"/>
              <a:ext cx="0" cy="1143000"/>
            </a:xfrm>
            <a:prstGeom prst="straightConnector1">
              <a:avLst/>
            </a:prstGeom>
            <a:solidFill>
              <a:srgbClr val="FFFFFF"/>
            </a:solidFill>
            <a:ln w="9525" cap="flat" cmpd="sng">
              <a:solidFill>
                <a:srgbClr val="334155"/>
              </a:solidFill>
              <a:prstDash val="solid"/>
              <a:round/>
              <a:headEnd type="none" w="sm" len="sm"/>
              <a:tailEnd type="none" w="sm" len="sm"/>
            </a:ln>
          </p:spPr>
        </p:cxnSp>
        <p:cxnSp>
          <p:nvCxnSpPr>
            <p:cNvPr id="463" name="Google Shape;463;p20"/>
            <p:cNvCxnSpPr/>
            <p:nvPr/>
          </p:nvCxnSpPr>
          <p:spPr>
            <a:xfrm>
              <a:off x="4095750" y="95250"/>
              <a:ext cx="0" cy="1143000"/>
            </a:xfrm>
            <a:prstGeom prst="straightConnector1">
              <a:avLst/>
            </a:prstGeom>
            <a:solidFill>
              <a:srgbClr val="FFFFFF"/>
            </a:solidFill>
            <a:ln w="9525" cap="flat" cmpd="sng">
              <a:solidFill>
                <a:srgbClr val="334155"/>
              </a:solidFill>
              <a:prstDash val="solid"/>
              <a:round/>
              <a:headEnd type="none" w="sm" len="sm"/>
              <a:tailEnd type="none" w="sm" len="sm"/>
            </a:ln>
          </p:spPr>
        </p:cxnSp>
        <p:pic>
          <p:nvPicPr>
            <p:cNvPr id="464" name="Google Shape;464;p20"/>
            <p:cNvPicPr preferRelativeResize="0"/>
            <p:nvPr/>
          </p:nvPicPr>
          <p:blipFill rotWithShape="1">
            <a:blip r:embed="rId6">
              <a:alphaModFix/>
            </a:blip>
            <a:srcRect/>
            <a:stretch/>
          </p:blipFill>
          <p:spPr>
            <a:xfrm>
              <a:off x="0" y="90488"/>
              <a:ext cx="4095900" cy="9600"/>
            </a:xfrm>
            <a:prstGeom prst="rect">
              <a:avLst/>
            </a:prstGeom>
            <a:noFill/>
            <a:ln>
              <a:noFill/>
            </a:ln>
          </p:spPr>
        </p:pic>
        <p:pic>
          <p:nvPicPr>
            <p:cNvPr id="465" name="Google Shape;465;p20"/>
            <p:cNvPicPr preferRelativeResize="0"/>
            <p:nvPr/>
          </p:nvPicPr>
          <p:blipFill rotWithShape="1">
            <a:blip r:embed="rId6">
              <a:alphaModFix/>
            </a:blip>
            <a:srcRect/>
            <a:stretch/>
          </p:blipFill>
          <p:spPr>
            <a:xfrm>
              <a:off x="0" y="376238"/>
              <a:ext cx="4095900" cy="9600"/>
            </a:xfrm>
            <a:prstGeom prst="rect">
              <a:avLst/>
            </a:prstGeom>
            <a:noFill/>
            <a:ln>
              <a:noFill/>
            </a:ln>
          </p:spPr>
        </p:pic>
        <p:pic>
          <p:nvPicPr>
            <p:cNvPr id="466" name="Google Shape;466;p20"/>
            <p:cNvPicPr preferRelativeResize="0"/>
            <p:nvPr/>
          </p:nvPicPr>
          <p:blipFill rotWithShape="1">
            <a:blip r:embed="rId6">
              <a:alphaModFix/>
            </a:blip>
            <a:srcRect/>
            <a:stretch/>
          </p:blipFill>
          <p:spPr>
            <a:xfrm>
              <a:off x="0" y="661988"/>
              <a:ext cx="4095900" cy="9600"/>
            </a:xfrm>
            <a:prstGeom prst="rect">
              <a:avLst/>
            </a:prstGeom>
            <a:noFill/>
            <a:ln>
              <a:noFill/>
            </a:ln>
          </p:spPr>
        </p:pic>
        <p:pic>
          <p:nvPicPr>
            <p:cNvPr id="467" name="Google Shape;467;p20"/>
            <p:cNvPicPr preferRelativeResize="0"/>
            <p:nvPr/>
          </p:nvPicPr>
          <p:blipFill rotWithShape="1">
            <a:blip r:embed="rId6">
              <a:alphaModFix/>
            </a:blip>
            <a:srcRect/>
            <a:stretch/>
          </p:blipFill>
          <p:spPr>
            <a:xfrm>
              <a:off x="0" y="947738"/>
              <a:ext cx="4095900" cy="9600"/>
            </a:xfrm>
            <a:prstGeom prst="rect">
              <a:avLst/>
            </a:prstGeom>
            <a:noFill/>
            <a:ln>
              <a:noFill/>
            </a:ln>
          </p:spPr>
        </p:pic>
        <p:sp>
          <p:nvSpPr>
            <p:cNvPr id="468" name="Google Shape;468;p20"/>
            <p:cNvSpPr txBox="1"/>
            <p:nvPr/>
          </p:nvSpPr>
          <p:spPr>
            <a:xfrm>
              <a:off x="-333382" y="285873"/>
              <a:ext cx="285900" cy="952500"/>
            </a:xfrm>
            <a:prstGeom prst="rect">
              <a:avLst/>
            </a:prstGeom>
            <a:noFill/>
            <a:ln>
              <a:noFill/>
            </a:ln>
          </p:spPr>
          <p:txBody>
            <a:bodyPr spcFirstLastPara="1" wrap="square" lIns="0" tIns="0" rIns="0" bIns="0" anchor="ctr" anchorCtr="0">
              <a:normAutofit/>
            </a:bodyPr>
            <a:lstStyle/>
            <a:p>
              <a:pPr marL="0" lvl="0" indent="0" algn="r" rtl="0">
                <a:spcBef>
                  <a:spcPts val="0"/>
                </a:spcBef>
                <a:spcAft>
                  <a:spcPts val="0"/>
                </a:spcAft>
                <a:buNone/>
              </a:pPr>
              <a:r>
                <a:rPr lang="en-GB" sz="601" b="0">
                  <a:solidFill>
                    <a:srgbClr val="64748B"/>
                  </a:solidFill>
                  <a:latin typeface="Poppins Medium"/>
                  <a:ea typeface="Poppins Medium"/>
                  <a:cs typeface="Poppins Medium"/>
                  <a:sym typeface="Poppins Medium"/>
                </a:rPr>
                <a:t>100%</a:t>
              </a:r>
              <a:endParaRPr sz="601" b="0">
                <a:solidFill>
                  <a:srgbClr val="64748B"/>
                </a:solidFill>
                <a:latin typeface="Poppins Medium"/>
                <a:ea typeface="Poppins Medium"/>
                <a:cs typeface="Poppins Medium"/>
                <a:sym typeface="Poppins Medium"/>
              </a:endParaRPr>
            </a:p>
            <a:p>
              <a:pPr marL="0" lvl="0" indent="0" algn="r" rtl="0">
                <a:spcBef>
                  <a:spcPts val="0"/>
                </a:spcBef>
                <a:spcAft>
                  <a:spcPts val="0"/>
                </a:spcAft>
                <a:buNone/>
              </a:pPr>
              <a:r>
                <a:rPr lang="en-GB" sz="601" b="0">
                  <a:solidFill>
                    <a:srgbClr val="64748B"/>
                  </a:solidFill>
                  <a:latin typeface="Poppins Medium"/>
                  <a:ea typeface="Poppins Medium"/>
                  <a:cs typeface="Poppins Medium"/>
                  <a:sym typeface="Poppins Medium"/>
                </a:rPr>
                <a:t>75%</a:t>
              </a:r>
              <a:endParaRPr sz="601" b="0">
                <a:solidFill>
                  <a:srgbClr val="64748B"/>
                </a:solidFill>
                <a:latin typeface="Poppins Medium"/>
                <a:ea typeface="Poppins Medium"/>
                <a:cs typeface="Poppins Medium"/>
                <a:sym typeface="Poppins Medium"/>
              </a:endParaRPr>
            </a:p>
            <a:p>
              <a:pPr marL="0" lvl="0" indent="0" algn="r" rtl="0">
                <a:spcBef>
                  <a:spcPts val="0"/>
                </a:spcBef>
                <a:spcAft>
                  <a:spcPts val="0"/>
                </a:spcAft>
                <a:buNone/>
              </a:pPr>
              <a:r>
                <a:rPr lang="en-GB" sz="601" b="0">
                  <a:solidFill>
                    <a:srgbClr val="64748B"/>
                  </a:solidFill>
                  <a:latin typeface="Poppins Medium"/>
                  <a:ea typeface="Poppins Medium"/>
                  <a:cs typeface="Poppins Medium"/>
                  <a:sym typeface="Poppins Medium"/>
                </a:rPr>
                <a:t>50%</a:t>
              </a:r>
              <a:endParaRPr sz="601" b="0">
                <a:solidFill>
                  <a:srgbClr val="64748B"/>
                </a:solidFill>
                <a:latin typeface="Poppins Medium"/>
                <a:ea typeface="Poppins Medium"/>
                <a:cs typeface="Poppins Medium"/>
                <a:sym typeface="Poppins Medium"/>
              </a:endParaRPr>
            </a:p>
            <a:p>
              <a:pPr marL="0" lvl="0" indent="0" algn="r" rtl="0">
                <a:spcBef>
                  <a:spcPts val="0"/>
                </a:spcBef>
                <a:spcAft>
                  <a:spcPts val="0"/>
                </a:spcAft>
                <a:buNone/>
              </a:pPr>
              <a:r>
                <a:rPr lang="en-GB" sz="601" b="0">
                  <a:solidFill>
                    <a:srgbClr val="64748B"/>
                  </a:solidFill>
                  <a:latin typeface="Poppins Medium"/>
                  <a:ea typeface="Poppins Medium"/>
                  <a:cs typeface="Poppins Medium"/>
                  <a:sym typeface="Poppins Medium"/>
                </a:rPr>
                <a:t>25%</a:t>
              </a:r>
              <a:endParaRPr sz="601" b="0">
                <a:solidFill>
                  <a:srgbClr val="64748B"/>
                </a:solidFill>
                <a:latin typeface="Poppins Medium"/>
                <a:ea typeface="Poppins Medium"/>
                <a:cs typeface="Poppins Medium"/>
                <a:sym typeface="Poppins Medium"/>
              </a:endParaRPr>
            </a:p>
            <a:p>
              <a:pPr marL="0" lvl="0" indent="0" algn="r" rtl="0">
                <a:spcBef>
                  <a:spcPts val="0"/>
                </a:spcBef>
                <a:spcAft>
                  <a:spcPts val="0"/>
                </a:spcAft>
                <a:buNone/>
              </a:pPr>
              <a:r>
                <a:rPr lang="en-GB" sz="601" b="0">
                  <a:solidFill>
                    <a:srgbClr val="64748B"/>
                  </a:solidFill>
                  <a:latin typeface="Poppins Medium"/>
                  <a:ea typeface="Poppins Medium"/>
                  <a:cs typeface="Poppins Medium"/>
                  <a:sym typeface="Poppins Medium"/>
                </a:rPr>
                <a:t>0%</a:t>
              </a:r>
              <a:endParaRPr sz="601" b="0">
                <a:solidFill>
                  <a:srgbClr val="64748B"/>
                </a:solidFill>
                <a:latin typeface="Poppins Medium"/>
                <a:ea typeface="Poppins Medium"/>
                <a:cs typeface="Poppins Medium"/>
                <a:sym typeface="Poppins Medium"/>
              </a:endParaRPr>
            </a:p>
          </p:txBody>
        </p:sp>
        <p:sp>
          <p:nvSpPr>
            <p:cNvPr id="469" name="Google Shape;469;p20"/>
            <p:cNvSpPr txBox="1"/>
            <p:nvPr/>
          </p:nvSpPr>
          <p:spPr>
            <a:xfrm>
              <a:off x="4143408" y="102120"/>
              <a:ext cx="285900" cy="1238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01" b="0">
                  <a:solidFill>
                    <a:srgbClr val="F43F5E"/>
                  </a:solidFill>
                  <a:latin typeface="Poppins Medium"/>
                  <a:ea typeface="Poppins Medium"/>
                  <a:cs typeface="Poppins Medium"/>
                  <a:sym typeface="Poppins Medium"/>
                </a:rPr>
                <a:t>2.0</a:t>
              </a:r>
              <a:endParaRPr sz="601" b="0">
                <a:solidFill>
                  <a:srgbClr val="F43F5E"/>
                </a:solidFill>
                <a:latin typeface="Poppins Medium"/>
                <a:ea typeface="Poppins Medium"/>
                <a:cs typeface="Poppins Medium"/>
                <a:sym typeface="Poppins Medium"/>
              </a:endParaRPr>
            </a:p>
            <a:p>
              <a:pPr marL="0" lvl="0" indent="0" algn="l" rtl="0">
                <a:spcBef>
                  <a:spcPts val="0"/>
                </a:spcBef>
                <a:spcAft>
                  <a:spcPts val="0"/>
                </a:spcAft>
                <a:buNone/>
              </a:pPr>
              <a:r>
                <a:rPr lang="en-GB" sz="601" b="0">
                  <a:solidFill>
                    <a:srgbClr val="F43F5E"/>
                  </a:solidFill>
                  <a:latin typeface="Poppins Medium"/>
                  <a:ea typeface="Poppins Medium"/>
                  <a:cs typeface="Poppins Medium"/>
                  <a:sym typeface="Poppins Medium"/>
                </a:rPr>
                <a:t>1.5</a:t>
              </a:r>
              <a:endParaRPr sz="601" b="0">
                <a:solidFill>
                  <a:srgbClr val="F43F5E"/>
                </a:solidFill>
                <a:latin typeface="Poppins Medium"/>
                <a:ea typeface="Poppins Medium"/>
                <a:cs typeface="Poppins Medium"/>
                <a:sym typeface="Poppins Medium"/>
              </a:endParaRPr>
            </a:p>
            <a:p>
              <a:pPr marL="0" lvl="0" indent="0" algn="l" rtl="0">
                <a:spcBef>
                  <a:spcPts val="0"/>
                </a:spcBef>
                <a:spcAft>
                  <a:spcPts val="0"/>
                </a:spcAft>
                <a:buNone/>
              </a:pPr>
              <a:r>
                <a:rPr lang="en-GB" sz="601" b="0">
                  <a:solidFill>
                    <a:srgbClr val="F43F5E"/>
                  </a:solidFill>
                  <a:latin typeface="Poppins Medium"/>
                  <a:ea typeface="Poppins Medium"/>
                  <a:cs typeface="Poppins Medium"/>
                  <a:sym typeface="Poppins Medium"/>
                </a:rPr>
                <a:t>1.0</a:t>
              </a:r>
              <a:endParaRPr sz="601" b="0">
                <a:solidFill>
                  <a:srgbClr val="F43F5E"/>
                </a:solidFill>
                <a:latin typeface="Poppins Medium"/>
                <a:ea typeface="Poppins Medium"/>
                <a:cs typeface="Poppins Medium"/>
                <a:sym typeface="Poppins Medium"/>
              </a:endParaRPr>
            </a:p>
            <a:p>
              <a:pPr marL="0" lvl="0" indent="0" algn="l" rtl="0">
                <a:spcBef>
                  <a:spcPts val="0"/>
                </a:spcBef>
                <a:spcAft>
                  <a:spcPts val="0"/>
                </a:spcAft>
                <a:buNone/>
              </a:pPr>
              <a:r>
                <a:rPr lang="en-GB" sz="601" b="0">
                  <a:solidFill>
                    <a:srgbClr val="F43F5E"/>
                  </a:solidFill>
                  <a:latin typeface="Poppins Medium"/>
                  <a:ea typeface="Poppins Medium"/>
                  <a:cs typeface="Poppins Medium"/>
                  <a:sym typeface="Poppins Medium"/>
                </a:rPr>
                <a:t>0.5</a:t>
              </a:r>
              <a:endParaRPr sz="601" b="0">
                <a:solidFill>
                  <a:srgbClr val="F43F5E"/>
                </a:solidFill>
                <a:latin typeface="Poppins Medium"/>
                <a:ea typeface="Poppins Medium"/>
                <a:cs typeface="Poppins Medium"/>
                <a:sym typeface="Poppins Medium"/>
              </a:endParaRPr>
            </a:p>
            <a:p>
              <a:pPr marL="0" lvl="0" indent="0" algn="l" rtl="0">
                <a:spcBef>
                  <a:spcPts val="0"/>
                </a:spcBef>
                <a:spcAft>
                  <a:spcPts val="0"/>
                </a:spcAft>
                <a:buNone/>
              </a:pPr>
              <a:r>
                <a:rPr lang="en-GB" sz="601" b="0">
                  <a:solidFill>
                    <a:srgbClr val="F43F5E"/>
                  </a:solidFill>
                  <a:latin typeface="Poppins Medium"/>
                  <a:ea typeface="Poppins Medium"/>
                  <a:cs typeface="Poppins Medium"/>
                  <a:sym typeface="Poppins Medium"/>
                </a:rPr>
                <a:t>0.0</a:t>
              </a:r>
              <a:endParaRPr sz="601" b="0">
                <a:solidFill>
                  <a:srgbClr val="F43F5E"/>
                </a:solidFill>
                <a:latin typeface="Poppins Medium"/>
                <a:ea typeface="Poppins Medium"/>
                <a:cs typeface="Poppins Medium"/>
                <a:sym typeface="Poppins Medium"/>
              </a:endParaRPr>
            </a:p>
          </p:txBody>
        </p:sp>
        <p:sp>
          <p:nvSpPr>
            <p:cNvPr id="470" name="Google Shape;470;p20"/>
            <p:cNvSpPr txBox="1"/>
            <p:nvPr/>
          </p:nvSpPr>
          <p:spPr>
            <a:xfrm>
              <a:off x="0" y="1285875"/>
              <a:ext cx="40959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01" b="0">
                  <a:solidFill>
                    <a:srgbClr val="64748B"/>
                  </a:solidFill>
                  <a:latin typeface="Poppins Medium"/>
                  <a:ea typeface="Poppins Medium"/>
                  <a:cs typeface="Poppins Medium"/>
                  <a:sym typeface="Poppins Medium"/>
                </a:rPr>
                <a:t>Epoch 1Epoch 5Epoch 10Epoch 15Epoch 20</a:t>
              </a:r>
              <a:endParaRPr>
                <a:latin typeface="Poppins"/>
                <a:ea typeface="Poppins"/>
                <a:cs typeface="Poppins"/>
                <a:sym typeface="Poppins"/>
              </a:endParaRPr>
            </a:p>
          </p:txBody>
        </p:sp>
        <p:pic>
          <p:nvPicPr>
            <p:cNvPr id="471" name="Google Shape;471;p20"/>
            <p:cNvPicPr preferRelativeResize="0"/>
            <p:nvPr/>
          </p:nvPicPr>
          <p:blipFill rotWithShape="1">
            <a:blip r:embed="rId7">
              <a:alphaModFix/>
            </a:blip>
            <a:srcRect/>
            <a:stretch/>
          </p:blipFill>
          <p:spPr>
            <a:xfrm>
              <a:off x="-4762" y="80963"/>
              <a:ext cx="4100400" cy="885900"/>
            </a:xfrm>
            <a:prstGeom prst="rect">
              <a:avLst/>
            </a:prstGeom>
            <a:noFill/>
            <a:ln>
              <a:noFill/>
            </a:ln>
          </p:spPr>
        </p:pic>
        <p:pic>
          <p:nvPicPr>
            <p:cNvPr id="472" name="Google Shape;472;p20"/>
            <p:cNvPicPr preferRelativeResize="0"/>
            <p:nvPr/>
          </p:nvPicPr>
          <p:blipFill rotWithShape="1">
            <a:blip r:embed="rId8">
              <a:alphaModFix/>
            </a:blip>
            <a:srcRect/>
            <a:stretch/>
          </p:blipFill>
          <p:spPr>
            <a:xfrm>
              <a:off x="-4762" y="195263"/>
              <a:ext cx="4100400" cy="866700"/>
            </a:xfrm>
            <a:prstGeom prst="rect">
              <a:avLst/>
            </a:prstGeom>
            <a:noFill/>
            <a:ln>
              <a:noFill/>
            </a:ln>
          </p:spPr>
        </p:pic>
        <p:pic>
          <p:nvPicPr>
            <p:cNvPr id="473" name="Google Shape;473;p20"/>
            <p:cNvPicPr preferRelativeResize="0"/>
            <p:nvPr/>
          </p:nvPicPr>
          <p:blipFill rotWithShape="1">
            <a:blip r:embed="rId9">
              <a:alphaModFix/>
            </a:blip>
            <a:srcRect/>
            <a:stretch/>
          </p:blipFill>
          <p:spPr>
            <a:xfrm>
              <a:off x="-4755" y="285880"/>
              <a:ext cx="4081500" cy="866700"/>
            </a:xfrm>
            <a:prstGeom prst="rect">
              <a:avLst/>
            </a:prstGeom>
            <a:noFill/>
            <a:ln>
              <a:noFill/>
            </a:ln>
          </p:spPr>
        </p:pic>
      </p:grpSp>
      <p:grpSp>
        <p:nvGrpSpPr>
          <p:cNvPr id="474" name="Google Shape;474;p20"/>
          <p:cNvGrpSpPr/>
          <p:nvPr/>
        </p:nvGrpSpPr>
        <p:grpSpPr>
          <a:xfrm>
            <a:off x="934873" y="3988233"/>
            <a:ext cx="3164756" cy="88522"/>
            <a:chOff x="0" y="-28575"/>
            <a:chExt cx="3152775" cy="142800"/>
          </a:xfrm>
        </p:grpSpPr>
        <p:sp>
          <p:nvSpPr>
            <p:cNvPr id="475" name="Google Shape;475;p20"/>
            <p:cNvSpPr/>
            <p:nvPr/>
          </p:nvSpPr>
          <p:spPr>
            <a:xfrm>
              <a:off x="0" y="0"/>
              <a:ext cx="76200" cy="76200"/>
            </a:xfrm>
            <a:prstGeom prst="roundRect">
              <a:avLst>
                <a:gd name="adj" fmla="val 25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6" name="Google Shape;476;p20"/>
            <p:cNvSpPr txBox="1"/>
            <p:nvPr/>
          </p:nvSpPr>
          <p:spPr>
            <a:xfrm>
              <a:off x="133350" y="-28575"/>
              <a:ext cx="9525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0">
                  <a:solidFill>
                    <a:srgbClr val="94A3B8"/>
                  </a:solidFill>
                  <a:latin typeface="Poppins Medium"/>
                  <a:ea typeface="Poppins Medium"/>
                  <a:cs typeface="Poppins Medium"/>
                  <a:sym typeface="Poppins Medium"/>
                </a:rPr>
                <a:t>Train Acc</a:t>
              </a:r>
              <a:endParaRPr sz="700" b="0">
                <a:solidFill>
                  <a:srgbClr val="94A3B8"/>
                </a:solidFill>
                <a:latin typeface="Poppins Medium"/>
                <a:ea typeface="Poppins Medium"/>
                <a:cs typeface="Poppins Medium"/>
                <a:sym typeface="Poppins Medium"/>
              </a:endParaRPr>
            </a:p>
          </p:txBody>
        </p:sp>
        <p:sp>
          <p:nvSpPr>
            <p:cNvPr id="477" name="Google Shape;477;p20"/>
            <p:cNvSpPr/>
            <p:nvPr/>
          </p:nvSpPr>
          <p:spPr>
            <a:xfrm>
              <a:off x="1047750" y="0"/>
              <a:ext cx="76200" cy="76200"/>
            </a:xfrm>
            <a:prstGeom prst="roundRect">
              <a:avLst>
                <a:gd name="adj" fmla="val 25000"/>
              </a:avLst>
            </a:prstGeom>
            <a:solidFill>
              <a:srgbClr val="22D3E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78" name="Google Shape;478;p20"/>
            <p:cNvSpPr txBox="1"/>
            <p:nvPr/>
          </p:nvSpPr>
          <p:spPr>
            <a:xfrm>
              <a:off x="1181100" y="-28575"/>
              <a:ext cx="9525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0">
                  <a:solidFill>
                    <a:srgbClr val="94A3B8"/>
                  </a:solidFill>
                  <a:latin typeface="Poppins Medium"/>
                  <a:ea typeface="Poppins Medium"/>
                  <a:cs typeface="Poppins Medium"/>
                  <a:sym typeface="Poppins Medium"/>
                </a:rPr>
                <a:t>Val Acc</a:t>
              </a:r>
              <a:endParaRPr sz="700" b="0">
                <a:solidFill>
                  <a:srgbClr val="94A3B8"/>
                </a:solidFill>
                <a:latin typeface="Poppins Medium"/>
                <a:ea typeface="Poppins Medium"/>
                <a:cs typeface="Poppins Medium"/>
                <a:sym typeface="Poppins Medium"/>
              </a:endParaRPr>
            </a:p>
          </p:txBody>
        </p:sp>
        <p:pic>
          <p:nvPicPr>
            <p:cNvPr id="479" name="Google Shape;479;p20"/>
            <p:cNvPicPr preferRelativeResize="0"/>
            <p:nvPr/>
          </p:nvPicPr>
          <p:blipFill rotWithShape="1">
            <a:blip r:embed="rId10">
              <a:alphaModFix/>
            </a:blip>
            <a:srcRect/>
            <a:stretch/>
          </p:blipFill>
          <p:spPr>
            <a:xfrm>
              <a:off x="2000250" y="28575"/>
              <a:ext cx="133500" cy="19200"/>
            </a:xfrm>
            <a:prstGeom prst="rect">
              <a:avLst/>
            </a:prstGeom>
            <a:noFill/>
            <a:ln>
              <a:noFill/>
            </a:ln>
          </p:spPr>
        </p:pic>
        <p:sp>
          <p:nvSpPr>
            <p:cNvPr id="480" name="Google Shape;480;p20"/>
            <p:cNvSpPr txBox="1"/>
            <p:nvPr/>
          </p:nvSpPr>
          <p:spPr>
            <a:xfrm>
              <a:off x="2200275" y="-28575"/>
              <a:ext cx="9525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0">
                  <a:solidFill>
                    <a:srgbClr val="94A3B8"/>
                  </a:solidFill>
                  <a:latin typeface="Poppins Medium"/>
                  <a:ea typeface="Poppins Medium"/>
                  <a:cs typeface="Poppins Medium"/>
                  <a:sym typeface="Poppins Medium"/>
                </a:rPr>
                <a:t>Val Loss</a:t>
              </a:r>
              <a:endParaRPr sz="700" b="0">
                <a:solidFill>
                  <a:srgbClr val="94A3B8"/>
                </a:solidFill>
                <a:latin typeface="Poppins Medium"/>
                <a:ea typeface="Poppins Medium"/>
                <a:cs typeface="Poppins Medium"/>
                <a:sym typeface="Poppins Medium"/>
              </a:endParaRPr>
            </a:p>
          </p:txBody>
        </p:sp>
      </p:grpSp>
      <p:grpSp>
        <p:nvGrpSpPr>
          <p:cNvPr id="481" name="Google Shape;481;p20"/>
          <p:cNvGrpSpPr/>
          <p:nvPr/>
        </p:nvGrpSpPr>
        <p:grpSpPr>
          <a:xfrm>
            <a:off x="5572125" y="1762125"/>
            <a:ext cx="3143400" cy="2333700"/>
            <a:chOff x="0" y="0"/>
            <a:chExt cx="3143400" cy="2333700"/>
          </a:xfrm>
        </p:grpSpPr>
        <p:sp>
          <p:nvSpPr>
            <p:cNvPr id="482" name="Google Shape;482;p20"/>
            <p:cNvSpPr/>
            <p:nvPr/>
          </p:nvSpPr>
          <p:spPr>
            <a:xfrm>
              <a:off x="0" y="0"/>
              <a:ext cx="3143400" cy="2333700"/>
            </a:xfrm>
            <a:prstGeom prst="roundRect">
              <a:avLst>
                <a:gd name="adj" fmla="val 4897"/>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3" name="Google Shape;483;p20"/>
            <p:cNvSpPr/>
            <p:nvPr/>
          </p:nvSpPr>
          <p:spPr>
            <a:xfrm>
              <a:off x="0" y="0"/>
              <a:ext cx="3143400" cy="342900"/>
            </a:xfrm>
            <a:prstGeom prst="roundRect">
              <a:avLst>
                <a:gd name="adj" fmla="val 33333"/>
              </a:avLst>
            </a:prstGeom>
            <a:solidFill>
              <a:srgbClr val="22D3EE">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4" name="Google Shape;484;p20"/>
            <p:cNvSpPr txBox="1"/>
            <p:nvPr/>
          </p:nvSpPr>
          <p:spPr>
            <a:xfrm>
              <a:off x="190500" y="95250"/>
              <a:ext cx="2762400" cy="2143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900" b="1">
                  <a:solidFill>
                    <a:srgbClr val="00F2FE"/>
                  </a:solidFill>
                  <a:latin typeface="Poppins"/>
                  <a:ea typeface="Poppins"/>
                  <a:cs typeface="Poppins"/>
                  <a:sym typeface="Poppins"/>
                </a:rPr>
                <a:t>📋 Key Observations</a:t>
              </a:r>
              <a:endParaRPr sz="900" b="1">
                <a:solidFill>
                  <a:srgbClr val="00F2FE"/>
                </a:solidFill>
                <a:latin typeface="Poppins"/>
                <a:ea typeface="Poppins"/>
                <a:cs typeface="Poppins"/>
                <a:sym typeface="Poppins"/>
              </a:endParaRPr>
            </a:p>
            <a:p>
              <a:pPr marL="457200" lvl="0" indent="-276225" algn="l" rtl="0">
                <a:spcBef>
                  <a:spcPts val="1125"/>
                </a:spcBef>
                <a:spcAft>
                  <a:spcPts val="0"/>
                </a:spcAft>
                <a:buClr>
                  <a:srgbClr val="E2E8F0"/>
                </a:buClr>
                <a:buSzPts val="750"/>
                <a:buFont typeface="Poppins"/>
                <a:buChar char="●"/>
              </a:pPr>
              <a:r>
                <a:rPr lang="en-GB" sz="750" b="0">
                  <a:solidFill>
                    <a:srgbClr val="E2E8F0"/>
                  </a:solidFill>
                  <a:latin typeface="Poppins"/>
                  <a:ea typeface="Poppins"/>
                  <a:cs typeface="Poppins"/>
                  <a:sym typeface="Poppins"/>
                </a:rPr>
                <a:t>✔ </a:t>
              </a:r>
              <a:r>
                <a:rPr lang="en-GB" sz="750" b="0">
                  <a:solidFill>
                    <a:srgbClr val="FFFFFF"/>
                  </a:solidFill>
                  <a:latin typeface="Poppins SemiBold"/>
                  <a:ea typeface="Poppins SemiBold"/>
                  <a:cs typeface="Poppins SemiBold"/>
                  <a:sym typeface="Poppins SemiBold"/>
                </a:rPr>
                <a:t>Model Converged:</a:t>
              </a:r>
              <a:r>
                <a:rPr lang="en-GB" sz="750" b="0">
                  <a:solidFill>
                    <a:srgbClr val="E2E8F0"/>
                  </a:solidFill>
                  <a:latin typeface="Poppins"/>
                  <a:ea typeface="Poppins"/>
                  <a:cs typeface="Poppins"/>
                  <a:sym typeface="Poppins"/>
                </a:rPr>
                <a:t> Training stabilized efficiently within the scheduled 20 epochs.</a:t>
              </a:r>
              <a:endParaRPr sz="750" b="0">
                <a:solidFill>
                  <a:srgbClr val="E2E8F0"/>
                </a:solidFill>
                <a:latin typeface="Poppins"/>
                <a:ea typeface="Poppins"/>
                <a:cs typeface="Poppins"/>
                <a:sym typeface="Poppins"/>
              </a:endParaRPr>
            </a:p>
            <a:p>
              <a:pPr marL="457200" lvl="0" indent="-276225" algn="l" rtl="0">
                <a:spcBef>
                  <a:spcPts val="600"/>
                </a:spcBef>
                <a:spcAft>
                  <a:spcPts val="0"/>
                </a:spcAft>
                <a:buClr>
                  <a:srgbClr val="E2E8F0"/>
                </a:buClr>
                <a:buSzPts val="750"/>
                <a:buFont typeface="Poppins"/>
                <a:buChar char="●"/>
              </a:pPr>
              <a:r>
                <a:rPr lang="en-GB" sz="750" b="0">
                  <a:solidFill>
                    <a:srgbClr val="E2E8F0"/>
                  </a:solidFill>
                  <a:latin typeface="Poppins"/>
                  <a:ea typeface="Poppins"/>
                  <a:cs typeface="Poppins"/>
                  <a:sym typeface="Poppins"/>
                </a:rPr>
                <a:t>✔ </a:t>
              </a:r>
              <a:r>
                <a:rPr lang="en-GB" sz="750" b="0">
                  <a:solidFill>
                    <a:srgbClr val="FFFFFF"/>
                  </a:solidFill>
                  <a:latin typeface="Poppins SemiBold"/>
                  <a:ea typeface="Poppins SemiBold"/>
                  <a:cs typeface="Poppins SemiBold"/>
                  <a:sym typeface="Poppins SemiBold"/>
                </a:rPr>
                <a:t>High Accuracy:</a:t>
              </a:r>
              <a:r>
                <a:rPr lang="en-GB" sz="750" b="0">
                  <a:solidFill>
                    <a:srgbClr val="E2E8F0"/>
                  </a:solidFill>
                  <a:latin typeface="Poppins"/>
                  <a:ea typeface="Poppins"/>
                  <a:cs typeface="Poppins"/>
                  <a:sym typeface="Poppins"/>
                </a:rPr>
                <a:t> Validation accuracy remained consistently above 93%.</a:t>
              </a:r>
              <a:endParaRPr sz="750" b="0">
                <a:solidFill>
                  <a:srgbClr val="E2E8F0"/>
                </a:solidFill>
                <a:latin typeface="Poppins"/>
                <a:ea typeface="Poppins"/>
                <a:cs typeface="Poppins"/>
                <a:sym typeface="Poppins"/>
              </a:endParaRPr>
            </a:p>
            <a:p>
              <a:pPr marL="457200" lvl="0" indent="-276225" algn="l" rtl="0">
                <a:spcBef>
                  <a:spcPts val="600"/>
                </a:spcBef>
                <a:spcAft>
                  <a:spcPts val="0"/>
                </a:spcAft>
                <a:buClr>
                  <a:srgbClr val="E2E8F0"/>
                </a:buClr>
                <a:buSzPts val="750"/>
                <a:buFont typeface="Poppins"/>
                <a:buChar char="●"/>
              </a:pPr>
              <a:r>
                <a:rPr lang="en-GB" sz="750" b="0">
                  <a:solidFill>
                    <a:srgbClr val="E2E8F0"/>
                  </a:solidFill>
                  <a:latin typeface="Poppins"/>
                  <a:ea typeface="Poppins"/>
                  <a:cs typeface="Poppins"/>
                  <a:sym typeface="Poppins"/>
                </a:rPr>
                <a:t>✔ </a:t>
              </a:r>
              <a:r>
                <a:rPr lang="en-GB" sz="750" b="0">
                  <a:solidFill>
                    <a:srgbClr val="FFFFFF"/>
                  </a:solidFill>
                  <a:latin typeface="Poppins SemiBold"/>
                  <a:ea typeface="Poppins SemiBold"/>
                  <a:cs typeface="Poppins SemiBold"/>
                  <a:sym typeface="Poppins SemiBold"/>
                </a:rPr>
                <a:t>Minimal Loss:</a:t>
              </a:r>
              <a:r>
                <a:rPr lang="en-GB" sz="750" b="0">
                  <a:solidFill>
                    <a:srgbClr val="E2E8F0"/>
                  </a:solidFill>
                  <a:latin typeface="Poppins"/>
                  <a:ea typeface="Poppins"/>
                  <a:cs typeface="Poppins"/>
                  <a:sym typeface="Poppins"/>
                </a:rPr>
                <a:t> Validation loss stabilized at 0.3953 without significant spikes.</a:t>
              </a:r>
              <a:endParaRPr sz="750" b="0">
                <a:solidFill>
                  <a:srgbClr val="E2E8F0"/>
                </a:solidFill>
                <a:latin typeface="Poppins"/>
                <a:ea typeface="Poppins"/>
                <a:cs typeface="Poppins"/>
                <a:sym typeface="Poppins"/>
              </a:endParaRPr>
            </a:p>
            <a:p>
              <a:pPr marL="457200" lvl="0" indent="-276225" algn="l" rtl="0">
                <a:spcBef>
                  <a:spcPts val="600"/>
                </a:spcBef>
                <a:spcAft>
                  <a:spcPts val="600"/>
                </a:spcAft>
                <a:buClr>
                  <a:srgbClr val="E2E8F0"/>
                </a:buClr>
                <a:buSzPts val="750"/>
                <a:buFont typeface="Poppins"/>
                <a:buChar char="●"/>
              </a:pPr>
              <a:r>
                <a:rPr lang="en-GB" sz="750" b="0">
                  <a:solidFill>
                    <a:srgbClr val="E2E8F0"/>
                  </a:solidFill>
                  <a:latin typeface="Poppins"/>
                  <a:ea typeface="Poppins"/>
                  <a:cs typeface="Poppins"/>
                  <a:sym typeface="Poppins"/>
                </a:rPr>
                <a:t>✔ </a:t>
              </a:r>
              <a:r>
                <a:rPr lang="en-GB" sz="750" b="0">
                  <a:solidFill>
                    <a:srgbClr val="FFFFFF"/>
                  </a:solidFill>
                  <a:latin typeface="Poppins SemiBold"/>
                  <a:ea typeface="Poppins SemiBold"/>
                  <a:cs typeface="Poppins SemiBold"/>
                  <a:sym typeface="Poppins SemiBold"/>
                </a:rPr>
                <a:t>No Overfitting:</a:t>
              </a:r>
              <a:r>
                <a:rPr lang="en-GB" sz="750" b="0">
                  <a:solidFill>
                    <a:srgbClr val="E2E8F0"/>
                  </a:solidFill>
                  <a:latin typeface="Poppins"/>
                  <a:ea typeface="Poppins"/>
                  <a:cs typeface="Poppins"/>
                  <a:sym typeface="Poppins"/>
                </a:rPr>
                <a:t> Tight gap between training and validation metrics indicates solid robustness.</a:t>
              </a:r>
              <a:endParaRPr sz="750" b="0">
                <a:solidFill>
                  <a:srgbClr val="E2E8F0"/>
                </a:solidFill>
                <a:latin typeface="Poppins"/>
                <a:ea typeface="Poppins"/>
                <a:cs typeface="Poppins"/>
                <a:sym typeface="Poppins"/>
              </a:endParaRPr>
            </a:p>
          </p:txBody>
        </p:sp>
      </p:grpSp>
      <p:grpSp>
        <p:nvGrpSpPr>
          <p:cNvPr id="485" name="Google Shape;485;p20"/>
          <p:cNvGrpSpPr/>
          <p:nvPr/>
        </p:nvGrpSpPr>
        <p:grpSpPr>
          <a:xfrm>
            <a:off x="428625" y="4238625"/>
            <a:ext cx="8286900" cy="476400"/>
            <a:chOff x="0" y="0"/>
            <a:chExt cx="8286900" cy="476400"/>
          </a:xfrm>
        </p:grpSpPr>
        <p:sp>
          <p:nvSpPr>
            <p:cNvPr id="486" name="Google Shape;486;p20"/>
            <p:cNvSpPr/>
            <p:nvPr/>
          </p:nvSpPr>
          <p:spPr>
            <a:xfrm>
              <a:off x="0" y="0"/>
              <a:ext cx="8286900" cy="476400"/>
            </a:xfrm>
            <a:prstGeom prst="roundRect">
              <a:avLst>
                <a:gd name="adj" fmla="val 16000"/>
              </a:avLst>
            </a:prstGeom>
            <a:solidFill>
              <a:srgbClr val="0F172A"/>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7" name="Google Shape;487;p20"/>
            <p:cNvSpPr/>
            <p:nvPr/>
          </p:nvSpPr>
          <p:spPr>
            <a:xfrm>
              <a:off x="0" y="0"/>
              <a:ext cx="38100" cy="4764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488" name="Google Shape;488;p20"/>
            <p:cNvSpPr txBox="1"/>
            <p:nvPr/>
          </p:nvSpPr>
          <p:spPr>
            <a:xfrm>
              <a:off x="190500" y="76200"/>
              <a:ext cx="79059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1">
                  <a:solidFill>
                    <a:srgbClr val="00F2FE"/>
                  </a:solidFill>
                  <a:latin typeface="Poppins"/>
                  <a:ea typeface="Poppins"/>
                  <a:cs typeface="Poppins"/>
                  <a:sym typeface="Poppins"/>
                </a:rPr>
                <a:t>Key Takeaway:</a:t>
              </a:r>
              <a:r>
                <a:rPr lang="en-GB" sz="740" b="0">
                  <a:solidFill>
                    <a:srgbClr val="E2E8F0"/>
                  </a:solidFill>
                  <a:latin typeface="Poppins"/>
                  <a:ea typeface="Poppins"/>
                  <a:cs typeface="Poppins"/>
                  <a:sym typeface="Poppins"/>
                </a:rPr>
                <a:t> The CNN successfully learned meaningful MRI features and achieved strong validation performance, demonstrating its exceptional ability to generalize and make highly accurate predictions on entirely unseen patient brain scans.</a:t>
              </a:r>
              <a:endParaRPr sz="740" b="0">
                <a:solidFill>
                  <a:srgbClr val="E2E8F0"/>
                </a:solidFill>
                <a:latin typeface="Poppins"/>
                <a:ea typeface="Poppins"/>
                <a:cs typeface="Poppins"/>
                <a:sym typeface="Poppins"/>
              </a:endParaRPr>
            </a:p>
          </p:txBody>
        </p:sp>
      </p:grpSp>
      <p:sp>
        <p:nvSpPr>
          <p:cNvPr id="489" name="Google Shape;489;p20"/>
          <p:cNvSpPr txBox="1"/>
          <p:nvPr/>
        </p:nvSpPr>
        <p:spPr>
          <a:xfrm>
            <a:off x="428625" y="4876800"/>
            <a:ext cx="38100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00" b="0">
                <a:solidFill>
                  <a:srgbClr val="475569"/>
                </a:solidFill>
                <a:latin typeface="Poppins"/>
                <a:ea typeface="Poppins"/>
                <a:cs typeface="Poppins"/>
                <a:sym typeface="Poppins"/>
              </a:rPr>
              <a:t>Department of Data Science &amp; Artificial Intelligence | Global AI Summit</a:t>
            </a:r>
            <a:endParaRPr sz="600" b="0">
              <a:solidFill>
                <a:srgbClr val="475569"/>
              </a:solidFill>
              <a:latin typeface="Poppins"/>
              <a:ea typeface="Poppins"/>
              <a:cs typeface="Poppins"/>
              <a:sym typeface="Poppins"/>
            </a:endParaRPr>
          </a:p>
        </p:txBody>
      </p:sp>
      <p:sp>
        <p:nvSpPr>
          <p:cNvPr id="490" name="Google Shape;490;p20"/>
          <p:cNvSpPr txBox="1"/>
          <p:nvPr/>
        </p:nvSpPr>
        <p:spPr>
          <a:xfrm>
            <a:off x="6810375" y="4876800"/>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600" b="0">
                <a:solidFill>
                  <a:srgbClr val="00F2FE"/>
                </a:solidFill>
                <a:latin typeface="Poppins"/>
                <a:ea typeface="Poppins"/>
                <a:cs typeface="Poppins"/>
                <a:sym typeface="Poppins"/>
              </a:rPr>
              <a:t>Presenter: Steve Emmanuel</a:t>
            </a:r>
            <a:endParaRPr sz="600" b="0">
              <a:solidFill>
                <a:srgbClr val="00F2FE"/>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94"/>
        <p:cNvGrpSpPr/>
        <p:nvPr/>
      </p:nvGrpSpPr>
      <p:grpSpPr>
        <a:xfrm>
          <a:off x="0" y="0"/>
          <a:ext cx="0" cy="0"/>
          <a:chOff x="0" y="0"/>
          <a:chExt cx="0" cy="0"/>
        </a:xfrm>
      </p:grpSpPr>
      <p:grpSp>
        <p:nvGrpSpPr>
          <p:cNvPr id="495" name="Google Shape;495;p21"/>
          <p:cNvGrpSpPr/>
          <p:nvPr/>
        </p:nvGrpSpPr>
        <p:grpSpPr>
          <a:xfrm>
            <a:off x="952500" y="280988"/>
            <a:ext cx="7239000" cy="4581600"/>
            <a:chOff x="952500" y="280988"/>
            <a:chExt cx="7239000" cy="4581600"/>
          </a:xfrm>
        </p:grpSpPr>
        <p:pic>
          <p:nvPicPr>
            <p:cNvPr id="496" name="Google Shape;496;p21"/>
            <p:cNvPicPr preferRelativeResize="0"/>
            <p:nvPr/>
          </p:nvPicPr>
          <p:blipFill rotWithShape="1">
            <a:blip r:embed="rId4">
              <a:alphaModFix/>
            </a:blip>
            <a:srcRect/>
            <a:stretch/>
          </p:blipFill>
          <p:spPr>
            <a:xfrm>
              <a:off x="2281238" y="280988"/>
              <a:ext cx="4581600" cy="4581600"/>
            </a:xfrm>
            <a:prstGeom prst="rect">
              <a:avLst/>
            </a:prstGeom>
            <a:noFill/>
            <a:ln>
              <a:noFill/>
            </a:ln>
          </p:spPr>
        </p:pic>
        <p:pic>
          <p:nvPicPr>
            <p:cNvPr id="497" name="Google Shape;497;p21"/>
            <p:cNvPicPr preferRelativeResize="0"/>
            <p:nvPr/>
          </p:nvPicPr>
          <p:blipFill rotWithShape="1">
            <a:blip r:embed="rId5">
              <a:alphaModFix/>
            </a:blip>
            <a:srcRect/>
            <a:stretch/>
          </p:blipFill>
          <p:spPr>
            <a:xfrm>
              <a:off x="3043238" y="1042988"/>
              <a:ext cx="3057600" cy="3057600"/>
            </a:xfrm>
            <a:prstGeom prst="rect">
              <a:avLst/>
            </a:prstGeom>
            <a:noFill/>
            <a:ln>
              <a:noFill/>
            </a:ln>
          </p:spPr>
        </p:pic>
        <p:pic>
          <p:nvPicPr>
            <p:cNvPr id="498" name="Google Shape;498;p21"/>
            <p:cNvPicPr preferRelativeResize="0"/>
            <p:nvPr/>
          </p:nvPicPr>
          <p:blipFill rotWithShape="1">
            <a:blip r:embed="rId6">
              <a:alphaModFix/>
            </a:blip>
            <a:srcRect/>
            <a:stretch/>
          </p:blipFill>
          <p:spPr>
            <a:xfrm>
              <a:off x="952500" y="476250"/>
              <a:ext cx="7239000" cy="4191000"/>
            </a:xfrm>
            <a:prstGeom prst="rect">
              <a:avLst/>
            </a:prstGeom>
            <a:noFill/>
            <a:ln>
              <a:noFill/>
            </a:ln>
          </p:spPr>
        </p:pic>
      </p:grpSp>
      <p:sp>
        <p:nvSpPr>
          <p:cNvPr id="499" name="Google Shape;499;p21"/>
          <p:cNvSpPr txBox="1"/>
          <p:nvPr/>
        </p:nvSpPr>
        <p:spPr>
          <a:xfrm>
            <a:off x="428625" y="238125"/>
            <a:ext cx="82869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Model Evaluation on Test Dataset</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850" b="0">
                <a:solidFill>
                  <a:srgbClr val="A5F3FC"/>
                </a:solidFill>
                <a:latin typeface="Poppins"/>
                <a:ea typeface="Poppins"/>
                <a:cs typeface="Poppins"/>
                <a:sym typeface="Poppins"/>
              </a:rPr>
              <a:t>Measuring the CNN's performance on completely unseen Brain MRI images.</a:t>
            </a:r>
            <a:endParaRPr sz="850" b="0">
              <a:solidFill>
                <a:srgbClr val="A5F3FC"/>
              </a:solidFill>
              <a:latin typeface="Poppins"/>
              <a:ea typeface="Poppins"/>
              <a:cs typeface="Poppins"/>
              <a:sym typeface="Poppins"/>
            </a:endParaRPr>
          </a:p>
        </p:txBody>
      </p:sp>
      <p:grpSp>
        <p:nvGrpSpPr>
          <p:cNvPr id="500" name="Google Shape;500;p21"/>
          <p:cNvGrpSpPr/>
          <p:nvPr/>
        </p:nvGrpSpPr>
        <p:grpSpPr>
          <a:xfrm>
            <a:off x="428625" y="809625"/>
            <a:ext cx="1924200" cy="619200"/>
            <a:chOff x="428625" y="809625"/>
            <a:chExt cx="1924200" cy="619200"/>
          </a:xfrm>
        </p:grpSpPr>
        <p:sp>
          <p:nvSpPr>
            <p:cNvPr id="501" name="Google Shape;501;p21"/>
            <p:cNvSpPr/>
            <p:nvPr/>
          </p:nvSpPr>
          <p:spPr>
            <a:xfrm>
              <a:off x="428625" y="809625"/>
              <a:ext cx="1924200" cy="619200"/>
            </a:xfrm>
            <a:prstGeom prst="roundRect">
              <a:avLst>
                <a:gd name="adj" fmla="val 12307"/>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2" name="Google Shape;502;p21"/>
            <p:cNvSpPr txBox="1"/>
            <p:nvPr/>
          </p:nvSpPr>
          <p:spPr>
            <a:xfrm>
              <a:off x="542925" y="885825"/>
              <a:ext cx="1695600" cy="466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SemiBold"/>
                  <a:ea typeface="Poppins SemiBold"/>
                  <a:cs typeface="Poppins SemiBold"/>
                  <a:sym typeface="Poppins SemiBold"/>
                </a:rPr>
                <a:t>🎯 Test Accuracy</a:t>
              </a:r>
              <a:endParaRPr sz="750" b="0">
                <a:solidFill>
                  <a:srgbClr val="94A3B8"/>
                </a:solidFill>
                <a:latin typeface="Poppins SemiBold"/>
                <a:ea typeface="Poppins SemiBold"/>
                <a:cs typeface="Poppins SemiBold"/>
                <a:sym typeface="Poppins SemiBold"/>
              </a:endParaRPr>
            </a:p>
            <a:p>
              <a:pPr marL="0" lvl="0" indent="0" algn="l" rtl="0">
                <a:spcBef>
                  <a:spcPts val="0"/>
                </a:spcBef>
                <a:spcAft>
                  <a:spcPts val="0"/>
                </a:spcAft>
                <a:buNone/>
              </a:pPr>
              <a:r>
                <a:rPr lang="en-GB" sz="1190" b="1">
                  <a:solidFill>
                    <a:srgbClr val="00F2FE"/>
                  </a:solidFill>
                  <a:latin typeface="Poppins"/>
                  <a:ea typeface="Poppins"/>
                  <a:cs typeface="Poppins"/>
                  <a:sym typeface="Poppins"/>
                </a:rPr>
                <a:t>87.12%</a:t>
              </a:r>
              <a:endParaRPr sz="1190" b="1">
                <a:solidFill>
                  <a:srgbClr val="00F2FE"/>
                </a:solidFill>
                <a:latin typeface="Poppins"/>
                <a:ea typeface="Poppins"/>
                <a:cs typeface="Poppins"/>
                <a:sym typeface="Poppins"/>
              </a:endParaRPr>
            </a:p>
            <a:p>
              <a:pPr marL="0" lvl="0" indent="0" algn="l" rtl="0">
                <a:spcBef>
                  <a:spcPts val="0"/>
                </a:spcBef>
                <a:spcAft>
                  <a:spcPts val="0"/>
                </a:spcAft>
                <a:buNone/>
              </a:pPr>
              <a:r>
                <a:rPr lang="en-GB" sz="600" b="0">
                  <a:solidFill>
                    <a:srgbClr val="64748B"/>
                  </a:solidFill>
                  <a:latin typeface="Poppins"/>
                  <a:ea typeface="Poppins"/>
                  <a:cs typeface="Poppins"/>
                  <a:sym typeface="Poppins"/>
                </a:rPr>
                <a:t>Correct predictions on unseen MRI images.</a:t>
              </a:r>
              <a:endParaRPr sz="600" b="0">
                <a:solidFill>
                  <a:srgbClr val="64748B"/>
                </a:solidFill>
                <a:latin typeface="Poppins"/>
                <a:ea typeface="Poppins"/>
                <a:cs typeface="Poppins"/>
                <a:sym typeface="Poppins"/>
              </a:endParaRPr>
            </a:p>
          </p:txBody>
        </p:sp>
      </p:grpSp>
      <p:grpSp>
        <p:nvGrpSpPr>
          <p:cNvPr id="503" name="Google Shape;503;p21"/>
          <p:cNvGrpSpPr/>
          <p:nvPr/>
        </p:nvGrpSpPr>
        <p:grpSpPr>
          <a:xfrm>
            <a:off x="2495550" y="809625"/>
            <a:ext cx="1924200" cy="619200"/>
            <a:chOff x="2495550" y="809625"/>
            <a:chExt cx="1924200" cy="619200"/>
          </a:xfrm>
        </p:grpSpPr>
        <p:sp>
          <p:nvSpPr>
            <p:cNvPr id="504" name="Google Shape;504;p21"/>
            <p:cNvSpPr/>
            <p:nvPr/>
          </p:nvSpPr>
          <p:spPr>
            <a:xfrm>
              <a:off x="2495550" y="809625"/>
              <a:ext cx="1924200" cy="619200"/>
            </a:xfrm>
            <a:prstGeom prst="roundRect">
              <a:avLst>
                <a:gd name="adj" fmla="val 12307"/>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5" name="Google Shape;505;p21"/>
            <p:cNvSpPr txBox="1"/>
            <p:nvPr/>
          </p:nvSpPr>
          <p:spPr>
            <a:xfrm>
              <a:off x="2609850" y="885825"/>
              <a:ext cx="1695600" cy="466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dirty="0">
                  <a:solidFill>
                    <a:srgbClr val="94A3B8"/>
                  </a:solidFill>
                  <a:latin typeface="Poppins SemiBold"/>
                  <a:ea typeface="Poppins SemiBold"/>
                  <a:cs typeface="Poppins SemiBold"/>
                  <a:sym typeface="Poppins SemiBold"/>
                </a:rPr>
                <a:t>📉 Test Loss</a:t>
              </a:r>
              <a:endParaRPr sz="750" b="0" dirty="0">
                <a:solidFill>
                  <a:srgbClr val="94A3B8"/>
                </a:solidFill>
                <a:latin typeface="Poppins SemiBold"/>
                <a:ea typeface="Poppins SemiBold"/>
                <a:cs typeface="Poppins SemiBold"/>
                <a:sym typeface="Poppins SemiBold"/>
              </a:endParaRPr>
            </a:p>
            <a:p>
              <a:pPr marL="0" lvl="0" indent="0" algn="l" rtl="0">
                <a:spcBef>
                  <a:spcPts val="0"/>
                </a:spcBef>
                <a:spcAft>
                  <a:spcPts val="0"/>
                </a:spcAft>
                <a:buNone/>
              </a:pPr>
              <a:r>
                <a:rPr lang="en-GB" sz="1190" b="1" dirty="0">
                  <a:solidFill>
                    <a:srgbClr val="F43F5E"/>
                  </a:solidFill>
                  <a:latin typeface="Poppins"/>
                  <a:ea typeface="Poppins"/>
                  <a:cs typeface="Poppins"/>
                  <a:sym typeface="Poppins"/>
                </a:rPr>
                <a:t>2.1771</a:t>
              </a:r>
              <a:endParaRPr sz="1190" b="1" dirty="0">
                <a:solidFill>
                  <a:srgbClr val="F43F5E"/>
                </a:solidFill>
                <a:latin typeface="Poppins"/>
                <a:ea typeface="Poppins"/>
                <a:cs typeface="Poppins"/>
                <a:sym typeface="Poppins"/>
              </a:endParaRPr>
            </a:p>
            <a:p>
              <a:pPr marL="0" lvl="0" indent="0" algn="l" rtl="0">
                <a:spcBef>
                  <a:spcPts val="0"/>
                </a:spcBef>
                <a:spcAft>
                  <a:spcPts val="0"/>
                </a:spcAft>
                <a:buNone/>
              </a:pPr>
              <a:r>
                <a:rPr lang="en-GB" sz="600" b="0" dirty="0">
                  <a:solidFill>
                    <a:srgbClr val="64748B"/>
                  </a:solidFill>
                  <a:latin typeface="Poppins"/>
                  <a:ea typeface="Poppins"/>
                  <a:cs typeface="Poppins"/>
                  <a:sym typeface="Poppins"/>
                </a:rPr>
                <a:t>Prediction error on the test dataset.</a:t>
              </a:r>
              <a:endParaRPr sz="600" b="0" dirty="0">
                <a:solidFill>
                  <a:srgbClr val="64748B"/>
                </a:solidFill>
                <a:latin typeface="Poppins"/>
                <a:ea typeface="Poppins"/>
                <a:cs typeface="Poppins"/>
                <a:sym typeface="Poppins"/>
              </a:endParaRPr>
            </a:p>
          </p:txBody>
        </p:sp>
      </p:grpSp>
      <p:grpSp>
        <p:nvGrpSpPr>
          <p:cNvPr id="506" name="Google Shape;506;p21"/>
          <p:cNvGrpSpPr/>
          <p:nvPr/>
        </p:nvGrpSpPr>
        <p:grpSpPr>
          <a:xfrm>
            <a:off x="4562475" y="809625"/>
            <a:ext cx="1924200" cy="619200"/>
            <a:chOff x="4562475" y="809625"/>
            <a:chExt cx="1924200" cy="619200"/>
          </a:xfrm>
        </p:grpSpPr>
        <p:sp>
          <p:nvSpPr>
            <p:cNvPr id="507" name="Google Shape;507;p21"/>
            <p:cNvSpPr/>
            <p:nvPr/>
          </p:nvSpPr>
          <p:spPr>
            <a:xfrm>
              <a:off x="4562475" y="809625"/>
              <a:ext cx="1924200" cy="619200"/>
            </a:xfrm>
            <a:prstGeom prst="roundRect">
              <a:avLst>
                <a:gd name="adj" fmla="val 12307"/>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08" name="Google Shape;508;p21"/>
            <p:cNvSpPr txBox="1"/>
            <p:nvPr/>
          </p:nvSpPr>
          <p:spPr>
            <a:xfrm>
              <a:off x="4676775" y="885825"/>
              <a:ext cx="1695600" cy="466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SemiBold"/>
                  <a:ea typeface="Poppins SemiBold"/>
                  <a:cs typeface="Poppins SemiBold"/>
                  <a:sym typeface="Poppins SemiBold"/>
                </a:rPr>
                <a:t>🧪 Evaluation Dataset</a:t>
              </a:r>
              <a:endParaRPr sz="750" b="0">
                <a:solidFill>
                  <a:srgbClr val="94A3B8"/>
                </a:solidFill>
                <a:latin typeface="Poppins SemiBold"/>
                <a:ea typeface="Poppins SemiBold"/>
                <a:cs typeface="Poppins SemiBold"/>
                <a:sym typeface="Poppins SemiBold"/>
              </a:endParaRPr>
            </a:p>
            <a:p>
              <a:pPr marL="0" lvl="0" indent="0" algn="l" rtl="0">
                <a:spcBef>
                  <a:spcPts val="300"/>
                </a:spcBef>
                <a:spcAft>
                  <a:spcPts val="0"/>
                </a:spcAft>
                <a:buNone/>
              </a:pPr>
              <a:r>
                <a:rPr lang="en-GB" sz="1100" b="1">
                  <a:solidFill>
                    <a:srgbClr val="FFFFFF"/>
                  </a:solidFill>
                  <a:latin typeface="Poppins"/>
                  <a:ea typeface="Poppins"/>
                  <a:cs typeface="Poppins"/>
                  <a:sym typeface="Poppins"/>
                </a:rPr>
                <a:t>Unseen Test Images</a:t>
              </a:r>
              <a:endParaRPr sz="1100" b="1">
                <a:solidFill>
                  <a:srgbClr val="FFFFFF"/>
                </a:solidFill>
                <a:latin typeface="Poppins"/>
                <a:ea typeface="Poppins"/>
                <a:cs typeface="Poppins"/>
                <a:sym typeface="Poppins"/>
              </a:endParaRPr>
            </a:p>
            <a:p>
              <a:pPr marL="0" lvl="0" indent="0" algn="l" rtl="0">
                <a:spcBef>
                  <a:spcPts val="300"/>
                </a:spcBef>
                <a:spcAft>
                  <a:spcPts val="0"/>
                </a:spcAft>
                <a:buNone/>
              </a:pPr>
              <a:r>
                <a:rPr lang="en-GB" sz="600" b="0">
                  <a:solidFill>
                    <a:srgbClr val="64748B"/>
                  </a:solidFill>
                  <a:latin typeface="Poppins"/>
                  <a:ea typeface="Poppins"/>
                  <a:cs typeface="Poppins"/>
                  <a:sym typeface="Poppins"/>
                </a:rPr>
                <a:t>Images never used during training.</a:t>
              </a:r>
              <a:endParaRPr sz="600" b="0">
                <a:solidFill>
                  <a:srgbClr val="64748B"/>
                </a:solidFill>
                <a:latin typeface="Poppins"/>
                <a:ea typeface="Poppins"/>
                <a:cs typeface="Poppins"/>
                <a:sym typeface="Poppins"/>
              </a:endParaRPr>
            </a:p>
          </p:txBody>
        </p:sp>
      </p:grpSp>
      <p:grpSp>
        <p:nvGrpSpPr>
          <p:cNvPr id="509" name="Google Shape;509;p21"/>
          <p:cNvGrpSpPr/>
          <p:nvPr/>
        </p:nvGrpSpPr>
        <p:grpSpPr>
          <a:xfrm>
            <a:off x="6629400" y="809625"/>
            <a:ext cx="2085900" cy="619200"/>
            <a:chOff x="6629400" y="809625"/>
            <a:chExt cx="2085900" cy="619200"/>
          </a:xfrm>
        </p:grpSpPr>
        <p:sp>
          <p:nvSpPr>
            <p:cNvPr id="510" name="Google Shape;510;p21"/>
            <p:cNvSpPr/>
            <p:nvPr/>
          </p:nvSpPr>
          <p:spPr>
            <a:xfrm>
              <a:off x="6629400" y="809625"/>
              <a:ext cx="2085900" cy="619200"/>
            </a:xfrm>
            <a:prstGeom prst="roundRect">
              <a:avLst>
                <a:gd name="adj" fmla="val 12307"/>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1" name="Google Shape;511;p21"/>
            <p:cNvSpPr txBox="1"/>
            <p:nvPr/>
          </p:nvSpPr>
          <p:spPr>
            <a:xfrm>
              <a:off x="6743700" y="885825"/>
              <a:ext cx="1857300" cy="466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SemiBold"/>
                  <a:ea typeface="Poppins SemiBold"/>
                  <a:cs typeface="Poppins SemiBold"/>
                  <a:sym typeface="Poppins SemiBold"/>
                </a:rPr>
                <a:t>🌍 Real-World Readiness</a:t>
              </a:r>
              <a:endParaRPr sz="750" b="0">
                <a:solidFill>
                  <a:srgbClr val="94A3B8"/>
                </a:solidFill>
                <a:latin typeface="Poppins SemiBold"/>
                <a:ea typeface="Poppins SemiBold"/>
                <a:cs typeface="Poppins SemiBold"/>
                <a:sym typeface="Poppins SemiBold"/>
              </a:endParaRPr>
            </a:p>
            <a:p>
              <a:pPr marL="0" lvl="0" indent="0" algn="l" rtl="0">
                <a:spcBef>
                  <a:spcPts val="300"/>
                </a:spcBef>
                <a:spcAft>
                  <a:spcPts val="0"/>
                </a:spcAft>
                <a:buNone/>
              </a:pPr>
              <a:r>
                <a:rPr lang="en-GB" sz="1100" b="1">
                  <a:solidFill>
                    <a:srgbClr val="34D399"/>
                  </a:solidFill>
                  <a:latin typeface="Poppins"/>
                  <a:ea typeface="Poppins"/>
                  <a:cs typeface="Poppins"/>
                  <a:sym typeface="Poppins"/>
                </a:rPr>
                <a:t>Promising Performance</a:t>
              </a:r>
              <a:endParaRPr sz="1100" b="1">
                <a:solidFill>
                  <a:srgbClr val="34D399"/>
                </a:solidFill>
                <a:latin typeface="Poppins"/>
                <a:ea typeface="Poppins"/>
                <a:cs typeface="Poppins"/>
                <a:sym typeface="Poppins"/>
              </a:endParaRPr>
            </a:p>
            <a:p>
              <a:pPr marL="0" lvl="0" indent="0" algn="l" rtl="0">
                <a:spcBef>
                  <a:spcPts val="300"/>
                </a:spcBef>
                <a:spcAft>
                  <a:spcPts val="0"/>
                </a:spcAft>
                <a:buNone/>
              </a:pPr>
              <a:r>
                <a:rPr lang="en-GB" sz="600" b="0">
                  <a:solidFill>
                    <a:srgbClr val="64748B"/>
                  </a:solidFill>
                  <a:latin typeface="Poppins"/>
                  <a:ea typeface="Poppins"/>
                  <a:cs typeface="Poppins"/>
                  <a:sym typeface="Poppins"/>
                </a:rPr>
                <a:t>Demonstrates the model's ability to generalize.</a:t>
              </a:r>
              <a:endParaRPr sz="600" b="0">
                <a:solidFill>
                  <a:srgbClr val="64748B"/>
                </a:solidFill>
                <a:latin typeface="Poppins"/>
                <a:ea typeface="Poppins"/>
                <a:cs typeface="Poppins"/>
                <a:sym typeface="Poppins"/>
              </a:endParaRPr>
            </a:p>
          </p:txBody>
        </p:sp>
      </p:grpSp>
      <p:grpSp>
        <p:nvGrpSpPr>
          <p:cNvPr id="512" name="Google Shape;512;p21"/>
          <p:cNvGrpSpPr/>
          <p:nvPr/>
        </p:nvGrpSpPr>
        <p:grpSpPr>
          <a:xfrm>
            <a:off x="428625" y="1571625"/>
            <a:ext cx="5095800" cy="2524200"/>
            <a:chOff x="428625" y="1571625"/>
            <a:chExt cx="5095800" cy="2524200"/>
          </a:xfrm>
        </p:grpSpPr>
        <p:sp>
          <p:nvSpPr>
            <p:cNvPr id="513" name="Google Shape;513;p21"/>
            <p:cNvSpPr/>
            <p:nvPr/>
          </p:nvSpPr>
          <p:spPr>
            <a:xfrm>
              <a:off x="428625" y="1571625"/>
              <a:ext cx="5095800" cy="2524200"/>
            </a:xfrm>
            <a:prstGeom prst="roundRect">
              <a:avLst>
                <a:gd name="adj" fmla="val 377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514" name="Google Shape;514;p21"/>
            <p:cNvPicPr preferRelativeResize="0"/>
            <p:nvPr/>
          </p:nvPicPr>
          <p:blipFill rotWithShape="1">
            <a:blip r:embed="rId7">
              <a:alphaModFix/>
            </a:blip>
            <a:srcRect/>
            <a:stretch/>
          </p:blipFill>
          <p:spPr>
            <a:xfrm>
              <a:off x="1571625" y="2133600"/>
              <a:ext cx="2000100" cy="19200"/>
            </a:xfrm>
            <a:prstGeom prst="rect">
              <a:avLst/>
            </a:prstGeom>
            <a:noFill/>
            <a:ln>
              <a:noFill/>
            </a:ln>
          </p:spPr>
        </p:pic>
        <p:grpSp>
          <p:nvGrpSpPr>
            <p:cNvPr id="515" name="Google Shape;515;p21"/>
            <p:cNvGrpSpPr/>
            <p:nvPr/>
          </p:nvGrpSpPr>
          <p:grpSpPr>
            <a:xfrm>
              <a:off x="2019300" y="2114550"/>
              <a:ext cx="1581300" cy="57300"/>
              <a:chOff x="2019300" y="2114550"/>
              <a:chExt cx="1581300" cy="57300"/>
            </a:xfrm>
          </p:grpSpPr>
          <p:sp>
            <p:nvSpPr>
              <p:cNvPr id="516" name="Google Shape;516;p21"/>
              <p:cNvSpPr/>
              <p:nvPr/>
            </p:nvSpPr>
            <p:spPr>
              <a:xfrm>
                <a:off x="2019300" y="2114550"/>
                <a:ext cx="57300" cy="57300"/>
              </a:xfrm>
              <a:prstGeom prst="ellipse">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17" name="Google Shape;517;p21"/>
              <p:cNvSpPr/>
              <p:nvPr/>
            </p:nvSpPr>
            <p:spPr>
              <a:xfrm>
                <a:off x="3543300" y="2114550"/>
                <a:ext cx="57300" cy="57300"/>
              </a:xfrm>
              <a:prstGeom prst="ellipse">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nvGrpSpPr>
            <p:cNvPr id="518" name="Google Shape;518;p21"/>
            <p:cNvGrpSpPr/>
            <p:nvPr/>
          </p:nvGrpSpPr>
          <p:grpSpPr>
            <a:xfrm>
              <a:off x="523875" y="1857375"/>
              <a:ext cx="1047900" cy="571500"/>
              <a:chOff x="523875" y="1857375"/>
              <a:chExt cx="1047900" cy="571500"/>
            </a:xfrm>
          </p:grpSpPr>
          <p:sp>
            <p:nvSpPr>
              <p:cNvPr id="519" name="Google Shape;519;p21"/>
              <p:cNvSpPr/>
              <p:nvPr/>
            </p:nvSpPr>
            <p:spPr>
              <a:xfrm>
                <a:off x="523875" y="1857375"/>
                <a:ext cx="1047900" cy="571500"/>
              </a:xfrm>
              <a:prstGeom prst="roundRect">
                <a:avLst>
                  <a:gd name="adj" fmla="val 10000"/>
                </a:avLst>
              </a:prstGeom>
              <a:solidFill>
                <a:srgbClr val="0B1329"/>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0" name="Google Shape;520;p21"/>
              <p:cNvSpPr txBox="1"/>
              <p:nvPr/>
            </p:nvSpPr>
            <p:spPr>
              <a:xfrm>
                <a:off x="571500" y="1905000"/>
                <a:ext cx="9525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0">
                    <a:solidFill>
                      <a:srgbClr val="00F2FE"/>
                    </a:solidFill>
                    <a:latin typeface="Poppins Medium"/>
                    <a:ea typeface="Poppins Medium"/>
                    <a:cs typeface="Poppins Medium"/>
                    <a:sym typeface="Poppins Medium"/>
                  </a:rPr>
                  <a:t>TRAINING</a:t>
                </a:r>
                <a:endParaRPr sz="650" b="0">
                  <a:solidFill>
                    <a:srgbClr val="00F2FE"/>
                  </a:solidFill>
                  <a:latin typeface="Poppins Medium"/>
                  <a:ea typeface="Poppins Medium"/>
                  <a:cs typeface="Poppins Medium"/>
                  <a:sym typeface="Poppins Medium"/>
                </a:endParaRPr>
              </a:p>
              <a:p>
                <a:pPr marL="0" lvl="0" indent="0" algn="ctr" rtl="0">
                  <a:spcBef>
                    <a:spcPts val="0"/>
                  </a:spcBef>
                  <a:spcAft>
                    <a:spcPts val="0"/>
                  </a:spcAft>
                  <a:buNone/>
                </a:pPr>
                <a:r>
                  <a:rPr lang="en-GB" sz="1200" b="1">
                    <a:solidFill>
                      <a:srgbClr val="94A3B8"/>
                    </a:solidFill>
                    <a:latin typeface="Poppins"/>
                    <a:ea typeface="Poppins"/>
                    <a:cs typeface="Poppins"/>
                    <a:sym typeface="Poppins"/>
                  </a:rPr>
                  <a:t>100%</a:t>
                </a:r>
                <a:endParaRPr sz="1200" b="1">
                  <a:solidFill>
                    <a:srgbClr val="94A3B8"/>
                  </a:solidFill>
                  <a:latin typeface="Poppins"/>
                  <a:ea typeface="Poppins"/>
                  <a:cs typeface="Poppins"/>
                  <a:sym typeface="Poppins"/>
                </a:endParaRPr>
              </a:p>
              <a:p>
                <a:pPr marL="0" lvl="0" indent="0" algn="ctr" rtl="0">
                  <a:spcBef>
                    <a:spcPts val="0"/>
                  </a:spcBef>
                  <a:spcAft>
                    <a:spcPts val="0"/>
                  </a:spcAft>
                  <a:buNone/>
                </a:pPr>
                <a:r>
                  <a:rPr lang="en-GB" sz="600" b="0">
                    <a:solidFill>
                      <a:srgbClr val="94A3B8"/>
                    </a:solidFill>
                    <a:latin typeface="Poppins"/>
                    <a:ea typeface="Poppins"/>
                    <a:cs typeface="Poppins"/>
                    <a:sym typeface="Poppins"/>
                  </a:rPr>
                  <a:t>Baseline learning</a:t>
                </a:r>
                <a:endParaRPr sz="600" b="0">
                  <a:solidFill>
                    <a:srgbClr val="94A3B8"/>
                  </a:solidFill>
                  <a:latin typeface="Poppins"/>
                  <a:ea typeface="Poppins"/>
                  <a:cs typeface="Poppins"/>
                  <a:sym typeface="Poppins"/>
                </a:endParaRPr>
              </a:p>
            </p:txBody>
          </p:sp>
        </p:grpSp>
        <p:grpSp>
          <p:nvGrpSpPr>
            <p:cNvPr id="521" name="Google Shape;521;p21"/>
            <p:cNvGrpSpPr/>
            <p:nvPr/>
          </p:nvGrpSpPr>
          <p:grpSpPr>
            <a:xfrm>
              <a:off x="2047875" y="1857375"/>
              <a:ext cx="1047900" cy="571500"/>
              <a:chOff x="2047875" y="1857375"/>
              <a:chExt cx="1047900" cy="571500"/>
            </a:xfrm>
          </p:grpSpPr>
          <p:sp>
            <p:nvSpPr>
              <p:cNvPr id="522" name="Google Shape;522;p21"/>
              <p:cNvSpPr/>
              <p:nvPr/>
            </p:nvSpPr>
            <p:spPr>
              <a:xfrm>
                <a:off x="2047875" y="1857375"/>
                <a:ext cx="1047900" cy="571500"/>
              </a:xfrm>
              <a:prstGeom prst="roundRect">
                <a:avLst>
                  <a:gd name="adj" fmla="val 10000"/>
                </a:avLst>
              </a:prstGeom>
              <a:solidFill>
                <a:srgbClr val="0B1329"/>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3" name="Google Shape;523;p21"/>
              <p:cNvSpPr txBox="1"/>
              <p:nvPr/>
            </p:nvSpPr>
            <p:spPr>
              <a:xfrm>
                <a:off x="2095500" y="1905000"/>
                <a:ext cx="9525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0">
                    <a:solidFill>
                      <a:srgbClr val="00F2FE"/>
                    </a:solidFill>
                    <a:latin typeface="Poppins Medium"/>
                    <a:ea typeface="Poppins Medium"/>
                    <a:cs typeface="Poppins Medium"/>
                    <a:sym typeface="Poppins Medium"/>
                  </a:rPr>
                  <a:t>VALIDATION</a:t>
                </a:r>
                <a:endParaRPr sz="650" b="0">
                  <a:solidFill>
                    <a:srgbClr val="00F2FE"/>
                  </a:solidFill>
                  <a:latin typeface="Poppins Medium"/>
                  <a:ea typeface="Poppins Medium"/>
                  <a:cs typeface="Poppins Medium"/>
                  <a:sym typeface="Poppins Medium"/>
                </a:endParaRPr>
              </a:p>
              <a:p>
                <a:pPr marL="0" lvl="0" indent="0" algn="ctr" rtl="0">
                  <a:spcBef>
                    <a:spcPts val="0"/>
                  </a:spcBef>
                  <a:spcAft>
                    <a:spcPts val="0"/>
                  </a:spcAft>
                  <a:buNone/>
                </a:pPr>
                <a:r>
                  <a:rPr lang="en-GB" sz="1200" b="1">
                    <a:solidFill>
                      <a:srgbClr val="00F2FE"/>
                    </a:solidFill>
                    <a:latin typeface="Poppins"/>
                    <a:ea typeface="Poppins"/>
                    <a:cs typeface="Poppins"/>
                    <a:sym typeface="Poppins"/>
                  </a:rPr>
                  <a:t>93.84%</a:t>
                </a:r>
                <a:endParaRPr sz="1200" b="1">
                  <a:solidFill>
                    <a:srgbClr val="00F2FE"/>
                  </a:solidFill>
                  <a:latin typeface="Poppins"/>
                  <a:ea typeface="Poppins"/>
                  <a:cs typeface="Poppins"/>
                  <a:sym typeface="Poppins"/>
                </a:endParaRPr>
              </a:p>
              <a:p>
                <a:pPr marL="0" lvl="0" indent="0" algn="ctr" rtl="0">
                  <a:spcBef>
                    <a:spcPts val="0"/>
                  </a:spcBef>
                  <a:spcAft>
                    <a:spcPts val="0"/>
                  </a:spcAft>
                  <a:buNone/>
                </a:pPr>
                <a:r>
                  <a:rPr lang="en-GB" sz="600" b="0">
                    <a:solidFill>
                      <a:srgbClr val="94A3B8"/>
                    </a:solidFill>
                    <a:latin typeface="Poppins"/>
                    <a:ea typeface="Poppins"/>
                    <a:cs typeface="Poppins"/>
                    <a:sym typeface="Poppins"/>
                  </a:rPr>
                  <a:t>Tuned target</a:t>
                </a:r>
                <a:endParaRPr sz="600" b="0">
                  <a:solidFill>
                    <a:srgbClr val="94A3B8"/>
                  </a:solidFill>
                  <a:latin typeface="Poppins"/>
                  <a:ea typeface="Poppins"/>
                  <a:cs typeface="Poppins"/>
                  <a:sym typeface="Poppins"/>
                </a:endParaRPr>
              </a:p>
            </p:txBody>
          </p:sp>
        </p:grpSp>
        <p:grpSp>
          <p:nvGrpSpPr>
            <p:cNvPr id="524" name="Google Shape;524;p21"/>
            <p:cNvGrpSpPr/>
            <p:nvPr/>
          </p:nvGrpSpPr>
          <p:grpSpPr>
            <a:xfrm>
              <a:off x="3571875" y="1857375"/>
              <a:ext cx="1047900" cy="571500"/>
              <a:chOff x="3571875" y="1857375"/>
              <a:chExt cx="1047900" cy="571500"/>
            </a:xfrm>
          </p:grpSpPr>
          <p:sp>
            <p:nvSpPr>
              <p:cNvPr id="525" name="Google Shape;525;p21"/>
              <p:cNvSpPr/>
              <p:nvPr/>
            </p:nvSpPr>
            <p:spPr>
              <a:xfrm>
                <a:off x="3571875" y="1857375"/>
                <a:ext cx="1047900" cy="571500"/>
              </a:xfrm>
              <a:prstGeom prst="roundRect">
                <a:avLst>
                  <a:gd name="adj" fmla="val 10000"/>
                </a:avLst>
              </a:prstGeom>
              <a:solidFill>
                <a:srgbClr val="0B1329">
                  <a:alpha val="90000"/>
                </a:srgbClr>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26" name="Google Shape;526;p21"/>
              <p:cNvSpPr txBox="1"/>
              <p:nvPr/>
            </p:nvSpPr>
            <p:spPr>
              <a:xfrm>
                <a:off x="3619500" y="1905000"/>
                <a:ext cx="952500" cy="4764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0">
                    <a:solidFill>
                      <a:srgbClr val="FFFFFF"/>
                    </a:solidFill>
                    <a:latin typeface="Poppins Medium"/>
                    <a:ea typeface="Poppins Medium"/>
                    <a:cs typeface="Poppins Medium"/>
                    <a:sym typeface="Poppins Medium"/>
                  </a:rPr>
                  <a:t>TEST DATA</a:t>
                </a:r>
                <a:endParaRPr sz="650" b="0">
                  <a:solidFill>
                    <a:srgbClr val="FFFFFF"/>
                  </a:solidFill>
                  <a:latin typeface="Poppins Medium"/>
                  <a:ea typeface="Poppins Medium"/>
                  <a:cs typeface="Poppins Medium"/>
                  <a:sym typeface="Poppins Medium"/>
                </a:endParaRPr>
              </a:p>
              <a:p>
                <a:pPr marL="0" lvl="0" indent="0" algn="ctr" rtl="0">
                  <a:spcBef>
                    <a:spcPts val="0"/>
                  </a:spcBef>
                  <a:spcAft>
                    <a:spcPts val="0"/>
                  </a:spcAft>
                  <a:buNone/>
                </a:pPr>
                <a:r>
                  <a:rPr lang="en-GB" sz="1200" b="1">
                    <a:solidFill>
                      <a:srgbClr val="00F2FE"/>
                    </a:solidFill>
                    <a:latin typeface="Poppins"/>
                    <a:ea typeface="Poppins"/>
                    <a:cs typeface="Poppins"/>
                    <a:sym typeface="Poppins"/>
                  </a:rPr>
                  <a:t>87.12%</a:t>
                </a:r>
                <a:endParaRPr sz="1200" b="1">
                  <a:solidFill>
                    <a:srgbClr val="00F2FE"/>
                  </a:solidFill>
                  <a:latin typeface="Poppins"/>
                  <a:ea typeface="Poppins"/>
                  <a:cs typeface="Poppins"/>
                  <a:sym typeface="Poppins"/>
                </a:endParaRPr>
              </a:p>
              <a:p>
                <a:pPr marL="0" lvl="0" indent="0" algn="ctr" rtl="0">
                  <a:spcBef>
                    <a:spcPts val="0"/>
                  </a:spcBef>
                  <a:spcAft>
                    <a:spcPts val="0"/>
                  </a:spcAft>
                  <a:buNone/>
                </a:pPr>
                <a:r>
                  <a:rPr lang="en-GB" sz="600" b="0">
                    <a:solidFill>
                      <a:srgbClr val="E2E8F0"/>
                    </a:solidFill>
                    <a:latin typeface="Poppins"/>
                    <a:ea typeface="Poppins"/>
                    <a:cs typeface="Poppins"/>
                    <a:sym typeface="Poppins"/>
                  </a:rPr>
                  <a:t>Final evaluation</a:t>
                </a:r>
                <a:endParaRPr sz="600" b="0">
                  <a:solidFill>
                    <a:srgbClr val="E2E8F0"/>
                  </a:solidFill>
                  <a:latin typeface="Poppins"/>
                  <a:ea typeface="Poppins"/>
                  <a:cs typeface="Poppins"/>
                  <a:sym typeface="Poppins"/>
                </a:endParaRPr>
              </a:p>
            </p:txBody>
          </p:sp>
        </p:grpSp>
        <p:sp>
          <p:nvSpPr>
            <p:cNvPr id="527" name="Google Shape;527;p21"/>
            <p:cNvSpPr txBox="1"/>
            <p:nvPr/>
          </p:nvSpPr>
          <p:spPr>
            <a:xfrm>
              <a:off x="4762500" y="1857375"/>
              <a:ext cx="6669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50" b="1">
                  <a:solidFill>
                    <a:srgbClr val="00F2FE"/>
                  </a:solidFill>
                  <a:latin typeface="Poppins"/>
                  <a:ea typeface="Poppins"/>
                  <a:cs typeface="Poppins"/>
                  <a:sym typeface="Poppins"/>
                </a:rPr>
                <a:t>MARGIN</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1200" b="1">
                  <a:solidFill>
                    <a:srgbClr val="F43F5E"/>
                  </a:solidFill>
                  <a:latin typeface="Poppins"/>
                  <a:ea typeface="Poppins"/>
                  <a:cs typeface="Poppins"/>
                  <a:sym typeface="Poppins"/>
                </a:rPr>
                <a:t>-6.72%</a:t>
              </a:r>
              <a:endParaRPr sz="1200" b="1">
                <a:solidFill>
                  <a:srgbClr val="F43F5E"/>
                </a:solidFill>
                <a:latin typeface="Poppins"/>
                <a:ea typeface="Poppins"/>
                <a:cs typeface="Poppins"/>
                <a:sym typeface="Poppins"/>
              </a:endParaRPr>
            </a:p>
            <a:p>
              <a:pPr marL="0" lvl="0" indent="0" algn="l" rtl="0">
                <a:spcBef>
                  <a:spcPts val="0"/>
                </a:spcBef>
                <a:spcAft>
                  <a:spcPts val="0"/>
                </a:spcAft>
                <a:buNone/>
              </a:pPr>
              <a:r>
                <a:rPr lang="en-GB" sz="550">
                  <a:solidFill>
                    <a:srgbClr val="64748B"/>
                  </a:solidFill>
                  <a:latin typeface="Poppins"/>
                  <a:ea typeface="Poppins"/>
                  <a:cs typeface="Poppins"/>
                  <a:sym typeface="Poppins"/>
                </a:rPr>
                <a:t>Val to Test drop</a:t>
              </a:r>
              <a:endParaRPr sz="550">
                <a:solidFill>
                  <a:srgbClr val="64748B"/>
                </a:solidFill>
                <a:latin typeface="Poppins"/>
                <a:ea typeface="Poppins"/>
                <a:cs typeface="Poppins"/>
                <a:sym typeface="Poppins"/>
              </a:endParaRPr>
            </a:p>
          </p:txBody>
        </p:sp>
        <p:sp>
          <p:nvSpPr>
            <p:cNvPr id="528" name="Google Shape;528;p21"/>
            <p:cNvSpPr txBox="1"/>
            <p:nvPr/>
          </p:nvSpPr>
          <p:spPr>
            <a:xfrm>
              <a:off x="619125" y="2619375"/>
              <a:ext cx="4714800" cy="1333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1">
                  <a:solidFill>
                    <a:srgbClr val="00F2FE"/>
                  </a:solidFill>
                  <a:latin typeface="Poppins"/>
                  <a:ea typeface="Poppins"/>
                  <a:cs typeface="Poppins"/>
                  <a:sym typeface="Poppins"/>
                </a:rPr>
                <a:t>Performance Trend Analysis</a:t>
              </a:r>
              <a:endParaRPr sz="800" b="1">
                <a:solidFill>
                  <a:srgbClr val="00F2FE"/>
                </a:solidFill>
                <a:latin typeface="Poppins"/>
                <a:ea typeface="Poppins"/>
                <a:cs typeface="Poppins"/>
                <a:sym typeface="Poppins"/>
              </a:endParaRPr>
            </a:p>
            <a:p>
              <a:pPr marL="0" lvl="0" indent="0" algn="l" rtl="0">
                <a:spcBef>
                  <a:spcPts val="450"/>
                </a:spcBef>
                <a:spcAft>
                  <a:spcPts val="0"/>
                </a:spcAft>
                <a:buNone/>
              </a:pPr>
              <a:r>
                <a:rPr lang="en-GB" sz="750">
                  <a:solidFill>
                    <a:srgbClr val="94A3B8"/>
                  </a:solidFill>
                  <a:latin typeface="Poppins"/>
                  <a:ea typeface="Poppins"/>
                  <a:cs typeface="Poppins"/>
                  <a:sym typeface="Poppins"/>
                </a:rPr>
                <a:t>The gradual decrease in accuracy from training to validation and test data is expected because each stage introduces more challenging and previously unseen images.</a:t>
              </a:r>
              <a:endParaRPr sz="750">
                <a:solidFill>
                  <a:srgbClr val="94A3B8"/>
                </a:solidFill>
                <a:latin typeface="Poppins"/>
                <a:ea typeface="Poppins"/>
                <a:cs typeface="Poppins"/>
                <a:sym typeface="Poppins"/>
              </a:endParaRPr>
            </a:p>
            <a:p>
              <a:pPr marL="0" lvl="0" indent="0" algn="l" rtl="0">
                <a:spcBef>
                  <a:spcPts val="600"/>
                </a:spcBef>
                <a:spcAft>
                  <a:spcPts val="0"/>
                </a:spcAft>
                <a:buNone/>
              </a:pPr>
              <a:r>
                <a:rPr lang="en-GB" sz="750">
                  <a:solidFill>
                    <a:srgbClr val="94A3B8"/>
                  </a:solidFill>
                  <a:latin typeface="Poppins"/>
                  <a:ea typeface="Poppins"/>
                  <a:cs typeface="Poppins"/>
                  <a:sym typeface="Poppins"/>
                </a:rPr>
                <a:t>This delta reflects the model's true ability to generalize to new clinical scenarios rather than simply memorizing the training dataset. A test accuracy of </a:t>
              </a:r>
              <a:r>
                <a:rPr lang="en-GB" sz="750" b="0">
                  <a:solidFill>
                    <a:srgbClr val="00F2FE"/>
                  </a:solidFill>
                  <a:latin typeface="Poppins SemiBold"/>
                  <a:ea typeface="Poppins SemiBold"/>
                  <a:cs typeface="Poppins SemiBold"/>
                  <a:sym typeface="Poppins SemiBold"/>
                </a:rPr>
                <a:t>87.12%</a:t>
              </a:r>
              <a:r>
                <a:rPr lang="en-GB" sz="750">
                  <a:solidFill>
                    <a:srgbClr val="94A3B8"/>
                  </a:solidFill>
                  <a:latin typeface="Poppins"/>
                  <a:ea typeface="Poppins"/>
                  <a:cs typeface="Poppins"/>
                  <a:sym typeface="Poppins"/>
                </a:rPr>
                <a:t> establishes a reliable diagnostic baseline.</a:t>
              </a:r>
              <a:endParaRPr sz="750">
                <a:solidFill>
                  <a:srgbClr val="94A3B8"/>
                </a:solidFill>
                <a:latin typeface="Poppins"/>
                <a:ea typeface="Poppins"/>
                <a:cs typeface="Poppins"/>
                <a:sym typeface="Poppins"/>
              </a:endParaRPr>
            </a:p>
          </p:txBody>
        </p:sp>
      </p:grpSp>
      <p:grpSp>
        <p:nvGrpSpPr>
          <p:cNvPr id="529" name="Google Shape;529;p21"/>
          <p:cNvGrpSpPr/>
          <p:nvPr/>
        </p:nvGrpSpPr>
        <p:grpSpPr>
          <a:xfrm>
            <a:off x="5667375" y="1571625"/>
            <a:ext cx="3048000" cy="2524200"/>
            <a:chOff x="5667375" y="1571625"/>
            <a:chExt cx="3048000" cy="2524200"/>
          </a:xfrm>
        </p:grpSpPr>
        <p:sp>
          <p:nvSpPr>
            <p:cNvPr id="530" name="Google Shape;530;p21"/>
            <p:cNvSpPr/>
            <p:nvPr/>
          </p:nvSpPr>
          <p:spPr>
            <a:xfrm>
              <a:off x="5667375" y="1571625"/>
              <a:ext cx="3048000" cy="2524200"/>
            </a:xfrm>
            <a:prstGeom prst="roundRect">
              <a:avLst>
                <a:gd name="adj" fmla="val 377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1" name="Google Shape;531;p21"/>
            <p:cNvSpPr/>
            <p:nvPr/>
          </p:nvSpPr>
          <p:spPr>
            <a:xfrm>
              <a:off x="5667375" y="1571625"/>
              <a:ext cx="3048000" cy="333300"/>
            </a:xfrm>
            <a:prstGeom prst="roundRect">
              <a:avLst>
                <a:gd name="adj" fmla="val 28571"/>
              </a:avLst>
            </a:prstGeom>
            <a:solidFill>
              <a:srgbClr val="00F2FE">
                <a:alpha val="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2" name="Google Shape;532;p21"/>
            <p:cNvSpPr txBox="1"/>
            <p:nvPr/>
          </p:nvSpPr>
          <p:spPr>
            <a:xfrm>
              <a:off x="5857875" y="1638300"/>
              <a:ext cx="2667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190" b="1">
                  <a:solidFill>
                    <a:srgbClr val="00F2FE"/>
                  </a:solidFill>
                  <a:latin typeface="Poppins"/>
                  <a:ea typeface="Poppins"/>
                  <a:cs typeface="Poppins"/>
                  <a:sym typeface="Poppins"/>
                </a:rPr>
                <a:t>📋 Key Insights</a:t>
              </a:r>
              <a:endParaRPr sz="1190" b="1">
                <a:solidFill>
                  <a:srgbClr val="00F2FE"/>
                </a:solidFill>
                <a:latin typeface="Poppins"/>
                <a:ea typeface="Poppins"/>
                <a:cs typeface="Poppins"/>
                <a:sym typeface="Poppins"/>
              </a:endParaRPr>
            </a:p>
          </p:txBody>
        </p:sp>
        <p:sp>
          <p:nvSpPr>
            <p:cNvPr id="533" name="Google Shape;533;p21"/>
            <p:cNvSpPr txBox="1"/>
            <p:nvPr/>
          </p:nvSpPr>
          <p:spPr>
            <a:xfrm>
              <a:off x="5857875" y="2047875"/>
              <a:ext cx="2667000" cy="1905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FFFFFF"/>
                  </a:solidFill>
                  <a:latin typeface="Poppins SemiBold"/>
                  <a:ea typeface="Poppins SemiBold"/>
                  <a:cs typeface="Poppins SemiBold"/>
                  <a:sym typeface="Poppins SemiBold"/>
                </a:rPr>
                <a:t>Generalization Verified:</a:t>
              </a:r>
              <a:r>
                <a:rPr lang="en-GB" sz="750">
                  <a:solidFill>
                    <a:srgbClr val="E2E8F0"/>
                  </a:solidFill>
                  <a:latin typeface="Poppins"/>
                  <a:ea typeface="Poppins"/>
                  <a:cs typeface="Poppins"/>
                  <a:sym typeface="Poppins"/>
                </a:rPr>
                <a:t> Model successfully classified unseen MRI images with high confidence.</a:t>
              </a:r>
              <a:endParaRPr sz="750">
                <a:solidFill>
                  <a:srgbClr val="E2E8F0"/>
                </a:solidFill>
                <a:latin typeface="Poppins"/>
                <a:ea typeface="Poppins"/>
                <a:cs typeface="Poppins"/>
                <a:sym typeface="Poppins"/>
              </a:endParaRPr>
            </a:p>
            <a:p>
              <a:pPr marL="0" lvl="0" indent="0" algn="l" rtl="0">
                <a:spcBef>
                  <a:spcPts val="450"/>
                </a:spcBef>
                <a:spcAft>
                  <a:spcPts val="0"/>
                </a:spcAft>
                <a:buNone/>
              </a:pPr>
              <a:r>
                <a:rPr lang="en-GB" sz="750" b="0">
                  <a:solidFill>
                    <a:srgbClr val="FFFFFF"/>
                  </a:solidFill>
                  <a:latin typeface="Poppins SemiBold"/>
                  <a:ea typeface="Poppins SemiBold"/>
                  <a:cs typeface="Poppins SemiBold"/>
                  <a:sym typeface="Poppins SemiBold"/>
                </a:rPr>
                <a:t>Strong Foundation:</a:t>
              </a:r>
              <a:r>
                <a:rPr lang="en-GB" sz="750">
                  <a:solidFill>
                    <a:srgbClr val="E2E8F0"/>
                  </a:solidFill>
                  <a:latin typeface="Poppins"/>
                  <a:ea typeface="Poppins"/>
                  <a:cs typeface="Poppins"/>
                  <a:sym typeface="Poppins"/>
                </a:rPr>
                <a:t> Test accuracy demonstrates robust capability across clinical variants.</a:t>
              </a:r>
              <a:endParaRPr sz="750">
                <a:solidFill>
                  <a:srgbClr val="E2E8F0"/>
                </a:solidFill>
                <a:latin typeface="Poppins"/>
                <a:ea typeface="Poppins"/>
                <a:cs typeface="Poppins"/>
                <a:sym typeface="Poppins"/>
              </a:endParaRPr>
            </a:p>
            <a:p>
              <a:pPr marL="0" lvl="0" indent="0" algn="l" rtl="0">
                <a:spcBef>
                  <a:spcPts val="450"/>
                </a:spcBef>
                <a:spcAft>
                  <a:spcPts val="0"/>
                </a:spcAft>
                <a:buNone/>
              </a:pPr>
              <a:r>
                <a:rPr lang="en-GB" sz="750" b="0">
                  <a:solidFill>
                    <a:srgbClr val="FFFFFF"/>
                  </a:solidFill>
                  <a:latin typeface="Poppins SemiBold"/>
                  <a:ea typeface="Poppins SemiBold"/>
                  <a:cs typeface="Poppins SemiBold"/>
                  <a:sym typeface="Poppins SemiBold"/>
                </a:rPr>
                <a:t>Medical PoC Status:</a:t>
              </a:r>
              <a:r>
                <a:rPr lang="en-GB" sz="750">
                  <a:solidFill>
                    <a:srgbClr val="E2E8F0"/>
                  </a:solidFill>
                  <a:latin typeface="Poppins"/>
                  <a:ea typeface="Poppins"/>
                  <a:cs typeface="Poppins"/>
                  <a:sym typeface="Poppins"/>
                </a:rPr>
                <a:t> Performance is highly suitable for a proof-of-concept medical AI system.</a:t>
              </a:r>
              <a:endParaRPr sz="750">
                <a:solidFill>
                  <a:srgbClr val="E2E8F0"/>
                </a:solidFill>
                <a:latin typeface="Poppins"/>
                <a:ea typeface="Poppins"/>
                <a:cs typeface="Poppins"/>
                <a:sym typeface="Poppins"/>
              </a:endParaRPr>
            </a:p>
            <a:p>
              <a:pPr marL="0" lvl="0" indent="0" algn="l" rtl="0">
                <a:spcBef>
                  <a:spcPts val="450"/>
                </a:spcBef>
                <a:spcAft>
                  <a:spcPts val="450"/>
                </a:spcAft>
                <a:buNone/>
              </a:pPr>
              <a:r>
                <a:rPr lang="en-GB" sz="750" b="0">
                  <a:solidFill>
                    <a:srgbClr val="FFFFFF"/>
                  </a:solidFill>
                  <a:latin typeface="Poppins SemiBold"/>
                  <a:ea typeface="Poppins SemiBold"/>
                  <a:cs typeface="Poppins SemiBold"/>
                  <a:sym typeface="Poppins SemiBold"/>
                </a:rPr>
                <a:t>Optimization Path:</a:t>
              </a:r>
              <a:r>
                <a:rPr lang="en-GB" sz="750">
                  <a:solidFill>
                    <a:srgbClr val="E2E8F0"/>
                  </a:solidFill>
                  <a:latin typeface="Poppins"/>
                  <a:ea typeface="Poppins"/>
                  <a:cs typeface="Poppins"/>
                  <a:sym typeface="Poppins"/>
                </a:rPr>
                <a:t> Further improvements are possible using Transfer Learning, Data Augmentation, and Hyperparameter Tuning.</a:t>
              </a:r>
              <a:endParaRPr sz="750">
                <a:solidFill>
                  <a:srgbClr val="E2E8F0"/>
                </a:solidFill>
                <a:latin typeface="Poppins"/>
                <a:ea typeface="Poppins"/>
                <a:cs typeface="Poppins"/>
                <a:sym typeface="Poppins"/>
              </a:endParaRPr>
            </a:p>
          </p:txBody>
        </p:sp>
      </p:grpSp>
      <p:grpSp>
        <p:nvGrpSpPr>
          <p:cNvPr id="534" name="Google Shape;534;p21"/>
          <p:cNvGrpSpPr/>
          <p:nvPr/>
        </p:nvGrpSpPr>
        <p:grpSpPr>
          <a:xfrm>
            <a:off x="428625" y="4238625"/>
            <a:ext cx="8286900" cy="476400"/>
            <a:chOff x="428625" y="4238625"/>
            <a:chExt cx="8286900" cy="476400"/>
          </a:xfrm>
        </p:grpSpPr>
        <p:sp>
          <p:nvSpPr>
            <p:cNvPr id="535" name="Google Shape;535;p21"/>
            <p:cNvSpPr/>
            <p:nvPr/>
          </p:nvSpPr>
          <p:spPr>
            <a:xfrm>
              <a:off x="428625" y="4238625"/>
              <a:ext cx="8286900" cy="476400"/>
            </a:xfrm>
            <a:prstGeom prst="roundRect">
              <a:avLst>
                <a:gd name="adj" fmla="val 12000"/>
              </a:avLst>
            </a:prstGeom>
            <a:solidFill>
              <a:srgbClr val="091325"/>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6" name="Google Shape;536;p21"/>
            <p:cNvSpPr/>
            <p:nvPr/>
          </p:nvSpPr>
          <p:spPr>
            <a:xfrm>
              <a:off x="428625" y="4238625"/>
              <a:ext cx="38100" cy="4764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37" name="Google Shape;537;p21"/>
            <p:cNvSpPr txBox="1"/>
            <p:nvPr/>
          </p:nvSpPr>
          <p:spPr>
            <a:xfrm>
              <a:off x="619125" y="4305300"/>
              <a:ext cx="79059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Final Observation:</a:t>
              </a:r>
              <a:r>
                <a:rPr lang="en-GB" sz="750">
                  <a:solidFill>
                    <a:srgbClr val="E2E8F0"/>
                  </a:solidFill>
                  <a:latin typeface="Poppins"/>
                  <a:ea typeface="Poppins"/>
                  <a:cs typeface="Poppins"/>
                  <a:sym typeface="Poppins"/>
                </a:rPr>
                <a:t> Although the test accuracy is lower than training/validation scores, this gap is completely expected in real-world clinical machine learning. The results indicate that the CNN learned meaningful physiological patterns rather than relying on dataset-specific memorization.</a:t>
              </a:r>
              <a:endParaRPr sz="750">
                <a:solidFill>
                  <a:srgbClr val="E2E8F0"/>
                </a:solidFill>
                <a:latin typeface="Poppins"/>
                <a:ea typeface="Poppins"/>
                <a:cs typeface="Poppins"/>
                <a:sym typeface="Poppins"/>
              </a:endParaRPr>
            </a:p>
          </p:txBody>
        </p:sp>
      </p:grpSp>
      <p:grpSp>
        <p:nvGrpSpPr>
          <p:cNvPr id="538" name="Google Shape;538;p21"/>
          <p:cNvGrpSpPr/>
          <p:nvPr/>
        </p:nvGrpSpPr>
        <p:grpSpPr>
          <a:xfrm>
            <a:off x="428625" y="4857750"/>
            <a:ext cx="8286900" cy="190425"/>
            <a:chOff x="428625" y="4857750"/>
            <a:chExt cx="8286900" cy="190425"/>
          </a:xfrm>
        </p:grpSpPr>
        <p:cxnSp>
          <p:nvCxnSpPr>
            <p:cNvPr id="539" name="Google Shape;539;p21"/>
            <p:cNvCxnSpPr/>
            <p:nvPr/>
          </p:nvCxnSpPr>
          <p:spPr>
            <a:xfrm>
              <a:off x="428625" y="485775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540" name="Google Shape;540;p21"/>
            <p:cNvSpPr txBox="1"/>
            <p:nvPr/>
          </p:nvSpPr>
          <p:spPr>
            <a:xfrm>
              <a:off x="428625" y="4905375"/>
              <a:ext cx="38100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00">
                  <a:solidFill>
                    <a:srgbClr val="475569"/>
                  </a:solidFill>
                  <a:latin typeface="Poppins"/>
                  <a:ea typeface="Poppins"/>
                  <a:cs typeface="Poppins"/>
                  <a:sym typeface="Poppins"/>
                </a:rPr>
                <a:t>Department of Data Science &amp; Artificial Intelligence | Global AI Summit</a:t>
              </a:r>
              <a:endParaRPr sz="600">
                <a:solidFill>
                  <a:srgbClr val="475569"/>
                </a:solidFill>
                <a:latin typeface="Poppins"/>
                <a:ea typeface="Poppins"/>
                <a:cs typeface="Poppins"/>
                <a:sym typeface="Poppins"/>
              </a:endParaRPr>
            </a:p>
          </p:txBody>
        </p:sp>
        <p:sp>
          <p:nvSpPr>
            <p:cNvPr id="541" name="Google Shape;541;p21"/>
            <p:cNvSpPr txBox="1"/>
            <p:nvPr/>
          </p:nvSpPr>
          <p:spPr>
            <a:xfrm>
              <a:off x="6810375" y="4905375"/>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600">
                  <a:solidFill>
                    <a:srgbClr val="00F2FE"/>
                  </a:solidFill>
                  <a:latin typeface="Poppins"/>
                  <a:ea typeface="Poppins"/>
                  <a:cs typeface="Poppins"/>
                  <a:sym typeface="Poppins"/>
                </a:rPr>
                <a:t>Presenter: Steve Emmanuel</a:t>
              </a:r>
              <a:endParaRPr sz="600">
                <a:solidFill>
                  <a:srgbClr val="00F2FE"/>
                </a:solidFill>
                <a:latin typeface="Poppins"/>
                <a:ea typeface="Poppins"/>
                <a:cs typeface="Poppins"/>
                <a:sym typeface="Poppin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45"/>
        <p:cNvGrpSpPr/>
        <p:nvPr/>
      </p:nvGrpSpPr>
      <p:grpSpPr>
        <a:xfrm>
          <a:off x="0" y="0"/>
          <a:ext cx="0" cy="0"/>
          <a:chOff x="0" y="0"/>
          <a:chExt cx="0" cy="0"/>
        </a:xfrm>
      </p:grpSpPr>
      <p:grpSp>
        <p:nvGrpSpPr>
          <p:cNvPr id="546" name="Google Shape;546;p22"/>
          <p:cNvGrpSpPr/>
          <p:nvPr/>
        </p:nvGrpSpPr>
        <p:grpSpPr>
          <a:xfrm>
            <a:off x="0" y="0"/>
            <a:ext cx="9144000" cy="5143500"/>
            <a:chOff x="0" y="0"/>
            <a:chExt cx="9144000" cy="5143500"/>
          </a:xfrm>
        </p:grpSpPr>
        <p:pic>
          <p:nvPicPr>
            <p:cNvPr id="547" name="Google Shape;547;p22"/>
            <p:cNvPicPr preferRelativeResize="0"/>
            <p:nvPr/>
          </p:nvPicPr>
          <p:blipFill rotWithShape="1">
            <a:blip r:embed="rId4">
              <a:alphaModFix/>
            </a:blip>
            <a:srcRect/>
            <a:stretch/>
          </p:blipFill>
          <p:spPr>
            <a:xfrm>
              <a:off x="471488" y="0"/>
              <a:ext cx="7629600" cy="5143500"/>
            </a:xfrm>
            <a:prstGeom prst="rect">
              <a:avLst/>
            </a:prstGeom>
            <a:noFill/>
            <a:ln>
              <a:noFill/>
            </a:ln>
          </p:spPr>
        </p:pic>
        <p:pic>
          <p:nvPicPr>
            <p:cNvPr id="548" name="Google Shape;548;p22"/>
            <p:cNvPicPr preferRelativeResize="0"/>
            <p:nvPr/>
          </p:nvPicPr>
          <p:blipFill rotWithShape="1">
            <a:blip r:embed="rId5">
              <a:alphaModFix/>
            </a:blip>
            <a:srcRect/>
            <a:stretch/>
          </p:blipFill>
          <p:spPr>
            <a:xfrm>
              <a:off x="0" y="471488"/>
              <a:ext cx="9144000" cy="3819600"/>
            </a:xfrm>
            <a:prstGeom prst="rect">
              <a:avLst/>
            </a:prstGeom>
            <a:noFill/>
            <a:ln>
              <a:noFill/>
            </a:ln>
          </p:spPr>
        </p:pic>
      </p:grpSp>
      <p:sp>
        <p:nvSpPr>
          <p:cNvPr id="549" name="Google Shape;549;p22"/>
          <p:cNvSpPr txBox="1"/>
          <p:nvPr/>
        </p:nvSpPr>
        <p:spPr>
          <a:xfrm>
            <a:off x="428625" y="238125"/>
            <a:ext cx="8286900" cy="523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Model Evaluation: Confusion Matrix &amp; Classification Report</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950" b="0">
                <a:solidFill>
                  <a:srgbClr val="A5F3FC"/>
                </a:solidFill>
                <a:latin typeface="Poppins"/>
                <a:ea typeface="Poppins"/>
                <a:cs typeface="Poppins"/>
                <a:sym typeface="Poppins"/>
              </a:rPr>
              <a:t>Understanding where the CNN performs well and where it makes mistakes.</a:t>
            </a:r>
            <a:endParaRPr sz="950" b="0">
              <a:solidFill>
                <a:srgbClr val="A5F3FC"/>
              </a:solidFill>
              <a:latin typeface="Poppins"/>
              <a:ea typeface="Poppins"/>
              <a:cs typeface="Poppins"/>
              <a:sym typeface="Poppins"/>
            </a:endParaRPr>
          </a:p>
        </p:txBody>
      </p:sp>
      <p:grpSp>
        <p:nvGrpSpPr>
          <p:cNvPr id="550" name="Google Shape;550;p22"/>
          <p:cNvGrpSpPr/>
          <p:nvPr/>
        </p:nvGrpSpPr>
        <p:grpSpPr>
          <a:xfrm>
            <a:off x="428625" y="904875"/>
            <a:ext cx="2571900" cy="3143400"/>
            <a:chOff x="0" y="0"/>
            <a:chExt cx="2571900" cy="3143400"/>
          </a:xfrm>
        </p:grpSpPr>
        <p:sp>
          <p:nvSpPr>
            <p:cNvPr id="551" name="Google Shape;551;p22"/>
            <p:cNvSpPr/>
            <p:nvPr/>
          </p:nvSpPr>
          <p:spPr>
            <a:xfrm>
              <a:off x="0" y="0"/>
              <a:ext cx="2571900" cy="3143400"/>
            </a:xfrm>
            <a:prstGeom prst="roundRect">
              <a:avLst>
                <a:gd name="adj" fmla="val 4444"/>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552" name="Google Shape;552;p22"/>
            <p:cNvSpPr txBox="1"/>
            <p:nvPr/>
          </p:nvSpPr>
          <p:spPr>
            <a:xfrm>
              <a:off x="142875" y="142875"/>
              <a:ext cx="22860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1">
                  <a:solidFill>
                    <a:srgbClr val="00F2FE"/>
                  </a:solidFill>
                  <a:latin typeface="Poppins"/>
                  <a:ea typeface="Poppins"/>
                  <a:cs typeface="Poppins"/>
                  <a:sym typeface="Poppins"/>
                </a:rPr>
                <a:t>Confusion Matrix</a:t>
              </a:r>
              <a:endParaRPr sz="1000" b="1">
                <a:solidFill>
                  <a:srgbClr val="00F2FE"/>
                </a:solidFill>
                <a:latin typeface="Poppins"/>
                <a:ea typeface="Poppins"/>
                <a:cs typeface="Poppins"/>
                <a:sym typeface="Poppins"/>
              </a:endParaRPr>
            </a:p>
          </p:txBody>
        </p:sp>
        <p:grpSp>
          <p:nvGrpSpPr>
            <p:cNvPr id="553" name="Google Shape;553;p22"/>
            <p:cNvGrpSpPr/>
            <p:nvPr/>
          </p:nvGrpSpPr>
          <p:grpSpPr>
            <a:xfrm>
              <a:off x="89535" y="470535"/>
              <a:ext cx="1777365" cy="1586865"/>
              <a:chOff x="-53340" y="89535"/>
              <a:chExt cx="1777365" cy="1586865"/>
            </a:xfrm>
          </p:grpSpPr>
          <p:sp>
            <p:nvSpPr>
              <p:cNvPr id="554" name="Google Shape;554;p22"/>
              <p:cNvSpPr txBox="1"/>
              <p:nvPr/>
            </p:nvSpPr>
            <p:spPr>
              <a:xfrm>
                <a:off x="953024" y="89535"/>
                <a:ext cx="6180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486" b="1">
                    <a:solidFill>
                      <a:srgbClr val="475569"/>
                    </a:solidFill>
                    <a:latin typeface="Poppins"/>
                    <a:ea typeface="Poppins"/>
                    <a:cs typeface="Poppins"/>
                    <a:sym typeface="Poppins"/>
                  </a:rPr>
                  <a:t>PREDICTED CLASS</a:t>
                </a:r>
                <a:endParaRPr sz="486" b="1">
                  <a:solidFill>
                    <a:srgbClr val="475569"/>
                  </a:solidFill>
                  <a:latin typeface="Poppins"/>
                  <a:ea typeface="Poppins"/>
                  <a:cs typeface="Poppins"/>
                  <a:sym typeface="Poppins"/>
                </a:endParaRPr>
              </a:p>
            </p:txBody>
          </p:sp>
          <p:grpSp>
            <p:nvGrpSpPr>
              <p:cNvPr id="555" name="Google Shape;555;p22"/>
              <p:cNvGrpSpPr/>
              <p:nvPr/>
            </p:nvGrpSpPr>
            <p:grpSpPr>
              <a:xfrm>
                <a:off x="171983" y="177165"/>
                <a:ext cx="1552042" cy="1499235"/>
                <a:chOff x="-161392" y="-108585"/>
                <a:chExt cx="1552042" cy="1499235"/>
              </a:xfrm>
            </p:grpSpPr>
            <p:sp>
              <p:nvSpPr>
                <p:cNvPr id="556" name="Google Shape;556;p22"/>
                <p:cNvSpPr txBox="1"/>
                <p:nvPr/>
              </p:nvSpPr>
              <p:spPr>
                <a:xfrm>
                  <a:off x="119329" y="-108585"/>
                  <a:ext cx="47100" cy="12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375" b="1">
                      <a:solidFill>
                        <a:srgbClr val="A5F3FC"/>
                      </a:solidFill>
                      <a:latin typeface="Poppins"/>
                      <a:ea typeface="Poppins"/>
                      <a:cs typeface="Poppins"/>
                      <a:sym typeface="Poppins"/>
                    </a:rPr>
                    <a:t>G</a:t>
                  </a:r>
                  <a:endParaRPr sz="375" b="1">
                    <a:solidFill>
                      <a:srgbClr val="A5F3FC"/>
                    </a:solidFill>
                    <a:latin typeface="Poppins"/>
                    <a:ea typeface="Poppins"/>
                    <a:cs typeface="Poppins"/>
                    <a:sym typeface="Poppins"/>
                  </a:endParaRPr>
                </a:p>
              </p:txBody>
            </p:sp>
            <p:sp>
              <p:nvSpPr>
                <p:cNvPr id="557" name="Google Shape;557;p22"/>
                <p:cNvSpPr txBox="1"/>
                <p:nvPr/>
              </p:nvSpPr>
              <p:spPr>
                <a:xfrm>
                  <a:off x="452704" y="-108585"/>
                  <a:ext cx="47100" cy="12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375" b="1">
                      <a:solidFill>
                        <a:srgbClr val="A5F3FC"/>
                      </a:solidFill>
                      <a:latin typeface="Poppins"/>
                      <a:ea typeface="Poppins"/>
                      <a:cs typeface="Poppins"/>
                      <a:sym typeface="Poppins"/>
                    </a:rPr>
                    <a:t>M</a:t>
                  </a:r>
                  <a:endParaRPr sz="375" b="1">
                    <a:solidFill>
                      <a:srgbClr val="A5F3FC"/>
                    </a:solidFill>
                    <a:latin typeface="Poppins"/>
                    <a:ea typeface="Poppins"/>
                    <a:cs typeface="Poppins"/>
                    <a:sym typeface="Poppins"/>
                  </a:endParaRPr>
                </a:p>
              </p:txBody>
            </p:sp>
            <p:sp>
              <p:nvSpPr>
                <p:cNvPr id="558" name="Google Shape;558;p22"/>
                <p:cNvSpPr txBox="1"/>
                <p:nvPr/>
              </p:nvSpPr>
              <p:spPr>
                <a:xfrm>
                  <a:off x="786079" y="-108585"/>
                  <a:ext cx="47100" cy="12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375" b="1">
                      <a:solidFill>
                        <a:srgbClr val="A5F3FC"/>
                      </a:solidFill>
                      <a:latin typeface="Poppins"/>
                      <a:ea typeface="Poppins"/>
                      <a:cs typeface="Poppins"/>
                      <a:sym typeface="Poppins"/>
                    </a:rPr>
                    <a:t>N</a:t>
                  </a:r>
                  <a:endParaRPr sz="375" b="1">
                    <a:solidFill>
                      <a:srgbClr val="A5F3FC"/>
                    </a:solidFill>
                    <a:latin typeface="Poppins"/>
                    <a:ea typeface="Poppins"/>
                    <a:cs typeface="Poppins"/>
                    <a:sym typeface="Poppins"/>
                  </a:endParaRPr>
                </a:p>
              </p:txBody>
            </p:sp>
            <p:sp>
              <p:nvSpPr>
                <p:cNvPr id="559" name="Google Shape;559;p22"/>
                <p:cNvSpPr txBox="1"/>
                <p:nvPr/>
              </p:nvSpPr>
              <p:spPr>
                <a:xfrm>
                  <a:off x="1119454" y="-108585"/>
                  <a:ext cx="47100" cy="123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375" b="1">
                      <a:solidFill>
                        <a:srgbClr val="A5F3FC"/>
                      </a:solidFill>
                      <a:latin typeface="Poppins"/>
                      <a:ea typeface="Poppins"/>
                      <a:cs typeface="Poppins"/>
                      <a:sym typeface="Poppins"/>
                    </a:rPr>
                    <a:t>P</a:t>
                  </a:r>
                  <a:endParaRPr sz="375" b="1">
                    <a:solidFill>
                      <a:srgbClr val="A5F3FC"/>
                    </a:solidFill>
                    <a:latin typeface="Poppins"/>
                    <a:ea typeface="Poppins"/>
                    <a:cs typeface="Poppins"/>
                    <a:sym typeface="Poppins"/>
                  </a:endParaRPr>
                </a:p>
              </p:txBody>
            </p:sp>
            <p:sp>
              <p:nvSpPr>
                <p:cNvPr id="560" name="Google Shape;560;p22"/>
                <p:cNvSpPr txBox="1"/>
                <p:nvPr/>
              </p:nvSpPr>
              <p:spPr>
                <a:xfrm>
                  <a:off x="-161392" y="139065"/>
                  <a:ext cx="47100" cy="123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375" b="1">
                      <a:solidFill>
                        <a:srgbClr val="A5F3FC"/>
                      </a:solidFill>
                      <a:latin typeface="Poppins"/>
                      <a:ea typeface="Poppins"/>
                      <a:cs typeface="Poppins"/>
                      <a:sym typeface="Poppins"/>
                    </a:rPr>
                    <a:t>G</a:t>
                  </a:r>
                  <a:endParaRPr sz="375" b="1">
                    <a:solidFill>
                      <a:srgbClr val="A5F3FC"/>
                    </a:solidFill>
                    <a:latin typeface="Poppins"/>
                    <a:ea typeface="Poppins"/>
                    <a:cs typeface="Poppins"/>
                    <a:sym typeface="Poppins"/>
                  </a:endParaRPr>
                </a:p>
              </p:txBody>
            </p:sp>
            <p:sp>
              <p:nvSpPr>
                <p:cNvPr id="561" name="Google Shape;561;p22"/>
                <p:cNvSpPr txBox="1"/>
                <p:nvPr/>
              </p:nvSpPr>
              <p:spPr>
                <a:xfrm>
                  <a:off x="-161392" y="472440"/>
                  <a:ext cx="47100" cy="123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375" b="1">
                      <a:solidFill>
                        <a:srgbClr val="A5F3FC"/>
                      </a:solidFill>
                      <a:latin typeface="Poppins"/>
                      <a:ea typeface="Poppins"/>
                      <a:cs typeface="Poppins"/>
                      <a:sym typeface="Poppins"/>
                    </a:rPr>
                    <a:t>M</a:t>
                  </a:r>
                  <a:endParaRPr sz="375" b="1">
                    <a:solidFill>
                      <a:srgbClr val="A5F3FC"/>
                    </a:solidFill>
                    <a:latin typeface="Poppins"/>
                    <a:ea typeface="Poppins"/>
                    <a:cs typeface="Poppins"/>
                    <a:sym typeface="Poppins"/>
                  </a:endParaRPr>
                </a:p>
              </p:txBody>
            </p:sp>
            <p:sp>
              <p:nvSpPr>
                <p:cNvPr id="562" name="Google Shape;562;p22"/>
                <p:cNvSpPr txBox="1"/>
                <p:nvPr/>
              </p:nvSpPr>
              <p:spPr>
                <a:xfrm>
                  <a:off x="-161392" y="805815"/>
                  <a:ext cx="47100" cy="123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375" b="1">
                      <a:solidFill>
                        <a:srgbClr val="A5F3FC"/>
                      </a:solidFill>
                      <a:latin typeface="Poppins"/>
                      <a:ea typeface="Poppins"/>
                      <a:cs typeface="Poppins"/>
                      <a:sym typeface="Poppins"/>
                    </a:rPr>
                    <a:t>N</a:t>
                  </a:r>
                  <a:endParaRPr sz="375" b="1">
                    <a:solidFill>
                      <a:srgbClr val="A5F3FC"/>
                    </a:solidFill>
                    <a:latin typeface="Poppins"/>
                    <a:ea typeface="Poppins"/>
                    <a:cs typeface="Poppins"/>
                    <a:sym typeface="Poppins"/>
                  </a:endParaRPr>
                </a:p>
              </p:txBody>
            </p:sp>
            <p:sp>
              <p:nvSpPr>
                <p:cNvPr id="563" name="Google Shape;563;p22"/>
                <p:cNvSpPr txBox="1"/>
                <p:nvPr/>
              </p:nvSpPr>
              <p:spPr>
                <a:xfrm>
                  <a:off x="-161392" y="1139190"/>
                  <a:ext cx="47100" cy="1233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375" b="1">
                      <a:solidFill>
                        <a:srgbClr val="A5F3FC"/>
                      </a:solidFill>
                      <a:latin typeface="Poppins"/>
                      <a:ea typeface="Poppins"/>
                      <a:cs typeface="Poppins"/>
                      <a:sym typeface="Poppins"/>
                    </a:rPr>
                    <a:t>P</a:t>
                  </a:r>
                  <a:endParaRPr sz="375" b="1">
                    <a:solidFill>
                      <a:srgbClr val="A5F3FC"/>
                    </a:solidFill>
                    <a:latin typeface="Poppins"/>
                    <a:ea typeface="Poppins"/>
                    <a:cs typeface="Poppins"/>
                    <a:sym typeface="Poppins"/>
                  </a:endParaRPr>
                </a:p>
              </p:txBody>
            </p:sp>
            <p:grpSp>
              <p:nvGrpSpPr>
                <p:cNvPr id="564" name="Google Shape;564;p22"/>
                <p:cNvGrpSpPr/>
                <p:nvPr/>
              </p:nvGrpSpPr>
              <p:grpSpPr>
                <a:xfrm>
                  <a:off x="-104775" y="-104775"/>
                  <a:ext cx="495300" cy="495300"/>
                  <a:chOff x="-104775" y="-104775"/>
                  <a:chExt cx="495300" cy="495300"/>
                </a:xfrm>
              </p:grpSpPr>
              <p:pic>
                <p:nvPicPr>
                  <p:cNvPr id="565" name="Google Shape;565;p22"/>
                  <p:cNvPicPr preferRelativeResize="0"/>
                  <p:nvPr/>
                </p:nvPicPr>
                <p:blipFill rotWithShape="1">
                  <a:blip r:embed="rId6">
                    <a:alphaModFix/>
                  </a:blip>
                  <a:srcRect/>
                  <a:stretch/>
                </p:blipFill>
                <p:spPr>
                  <a:xfrm>
                    <a:off x="-104775" y="-104775"/>
                    <a:ext cx="495300" cy="495300"/>
                  </a:xfrm>
                  <a:prstGeom prst="rect">
                    <a:avLst/>
                  </a:prstGeom>
                  <a:noFill/>
                  <a:ln>
                    <a:noFill/>
                  </a:ln>
                </p:spPr>
              </p:pic>
              <p:sp>
                <p:nvSpPr>
                  <p:cNvPr id="566" name="Google Shape;566;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50" b="1">
                        <a:solidFill>
                          <a:srgbClr val="FFFFFF"/>
                        </a:solidFill>
                        <a:latin typeface="Poppins"/>
                        <a:ea typeface="Poppins"/>
                        <a:cs typeface="Poppins"/>
                        <a:sym typeface="Poppins"/>
                      </a:rPr>
                      <a:t>289</a:t>
                    </a:r>
                    <a:endParaRPr sz="1050" b="1">
                      <a:solidFill>
                        <a:srgbClr val="FFFFFF"/>
                      </a:solidFill>
                      <a:latin typeface="Poppins"/>
                      <a:ea typeface="Poppins"/>
                      <a:cs typeface="Poppins"/>
                      <a:sym typeface="Poppins"/>
                    </a:endParaRPr>
                  </a:p>
                </p:txBody>
              </p:sp>
            </p:grpSp>
            <p:grpSp>
              <p:nvGrpSpPr>
                <p:cNvPr id="567" name="Google Shape;567;p22"/>
                <p:cNvGrpSpPr/>
                <p:nvPr/>
              </p:nvGrpSpPr>
              <p:grpSpPr>
                <a:xfrm>
                  <a:off x="328613" y="-4762"/>
                  <a:ext cx="295200" cy="295200"/>
                  <a:chOff x="-4762" y="-4762"/>
                  <a:chExt cx="295200" cy="295200"/>
                </a:xfrm>
              </p:grpSpPr>
              <p:pic>
                <p:nvPicPr>
                  <p:cNvPr id="568" name="Google Shape;568;p22"/>
                  <p:cNvPicPr preferRelativeResize="0"/>
                  <p:nvPr/>
                </p:nvPicPr>
                <p:blipFill rotWithShape="1">
                  <a:blip r:embed="rId7">
                    <a:alphaModFix/>
                  </a:blip>
                  <a:srcRect/>
                  <a:stretch/>
                </p:blipFill>
                <p:spPr>
                  <a:xfrm>
                    <a:off x="-4762" y="-4762"/>
                    <a:ext cx="295200" cy="295200"/>
                  </a:xfrm>
                  <a:prstGeom prst="rect">
                    <a:avLst/>
                  </a:prstGeom>
                  <a:noFill/>
                  <a:ln>
                    <a:noFill/>
                  </a:ln>
                </p:spPr>
              </p:pic>
              <p:sp>
                <p:nvSpPr>
                  <p:cNvPr id="569" name="Google Shape;569;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FFFFFF"/>
                        </a:solidFill>
                        <a:latin typeface="Poppins"/>
                        <a:ea typeface="Poppins"/>
                        <a:cs typeface="Poppins"/>
                        <a:sym typeface="Poppins"/>
                      </a:rPr>
                      <a:t>52</a:t>
                    </a:r>
                    <a:endParaRPr sz="1000" b="1">
                      <a:solidFill>
                        <a:srgbClr val="FFFFFF"/>
                      </a:solidFill>
                      <a:latin typeface="Poppins"/>
                      <a:ea typeface="Poppins"/>
                      <a:cs typeface="Poppins"/>
                      <a:sym typeface="Poppins"/>
                    </a:endParaRPr>
                  </a:p>
                </p:txBody>
              </p:sp>
            </p:grpSp>
            <p:grpSp>
              <p:nvGrpSpPr>
                <p:cNvPr id="570" name="Google Shape;570;p22"/>
                <p:cNvGrpSpPr/>
                <p:nvPr/>
              </p:nvGrpSpPr>
              <p:grpSpPr>
                <a:xfrm>
                  <a:off x="661988" y="-4762"/>
                  <a:ext cx="295200" cy="295200"/>
                  <a:chOff x="-4762" y="-4762"/>
                  <a:chExt cx="295200" cy="295200"/>
                </a:xfrm>
              </p:grpSpPr>
              <p:pic>
                <p:nvPicPr>
                  <p:cNvPr id="571" name="Google Shape;571;p22"/>
                  <p:cNvPicPr preferRelativeResize="0"/>
                  <p:nvPr/>
                </p:nvPicPr>
                <p:blipFill rotWithShape="1">
                  <a:blip r:embed="rId7">
                    <a:alphaModFix/>
                  </a:blip>
                  <a:srcRect/>
                  <a:stretch/>
                </p:blipFill>
                <p:spPr>
                  <a:xfrm>
                    <a:off x="-4762" y="-4762"/>
                    <a:ext cx="295200" cy="295200"/>
                  </a:xfrm>
                  <a:prstGeom prst="rect">
                    <a:avLst/>
                  </a:prstGeom>
                  <a:noFill/>
                  <a:ln>
                    <a:noFill/>
                  </a:ln>
                </p:spPr>
              </p:pic>
              <p:sp>
                <p:nvSpPr>
                  <p:cNvPr id="572" name="Google Shape;572;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FFFFFF"/>
                        </a:solidFill>
                        <a:latin typeface="Poppins"/>
                        <a:ea typeface="Poppins"/>
                        <a:cs typeface="Poppins"/>
                        <a:sym typeface="Poppins"/>
                      </a:rPr>
                      <a:t>49</a:t>
                    </a:r>
                    <a:endParaRPr sz="1000" b="1">
                      <a:solidFill>
                        <a:srgbClr val="FFFFFF"/>
                      </a:solidFill>
                      <a:latin typeface="Poppins"/>
                      <a:ea typeface="Poppins"/>
                      <a:cs typeface="Poppins"/>
                      <a:sym typeface="Poppins"/>
                    </a:endParaRPr>
                  </a:p>
                </p:txBody>
              </p:sp>
            </p:grpSp>
            <p:grpSp>
              <p:nvGrpSpPr>
                <p:cNvPr id="573" name="Google Shape;573;p22"/>
                <p:cNvGrpSpPr/>
                <p:nvPr/>
              </p:nvGrpSpPr>
              <p:grpSpPr>
                <a:xfrm>
                  <a:off x="995363" y="-4762"/>
                  <a:ext cx="295200" cy="295200"/>
                  <a:chOff x="-4762" y="-4762"/>
                  <a:chExt cx="295200" cy="295200"/>
                </a:xfrm>
              </p:grpSpPr>
              <p:pic>
                <p:nvPicPr>
                  <p:cNvPr id="574" name="Google Shape;574;p22"/>
                  <p:cNvPicPr preferRelativeResize="0"/>
                  <p:nvPr/>
                </p:nvPicPr>
                <p:blipFill rotWithShape="1">
                  <a:blip r:embed="rId8">
                    <a:alphaModFix/>
                  </a:blip>
                  <a:srcRect/>
                  <a:stretch/>
                </p:blipFill>
                <p:spPr>
                  <a:xfrm>
                    <a:off x="-4762" y="-4762"/>
                    <a:ext cx="295200" cy="295200"/>
                  </a:xfrm>
                  <a:prstGeom prst="rect">
                    <a:avLst/>
                  </a:prstGeom>
                  <a:noFill/>
                  <a:ln>
                    <a:noFill/>
                  </a:ln>
                </p:spPr>
              </p:pic>
              <p:sp>
                <p:nvSpPr>
                  <p:cNvPr id="575" name="Google Shape;575;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64748B"/>
                        </a:solidFill>
                        <a:latin typeface="Poppins"/>
                        <a:ea typeface="Poppins"/>
                        <a:cs typeface="Poppins"/>
                        <a:sym typeface="Poppins"/>
                      </a:rPr>
                      <a:t>10</a:t>
                    </a:r>
                    <a:endParaRPr sz="1000" b="1">
                      <a:solidFill>
                        <a:srgbClr val="64748B"/>
                      </a:solidFill>
                      <a:latin typeface="Poppins"/>
                      <a:ea typeface="Poppins"/>
                      <a:cs typeface="Poppins"/>
                      <a:sym typeface="Poppins"/>
                    </a:endParaRPr>
                  </a:p>
                </p:txBody>
              </p:sp>
            </p:grpSp>
            <p:grpSp>
              <p:nvGrpSpPr>
                <p:cNvPr id="576" name="Google Shape;576;p22"/>
                <p:cNvGrpSpPr/>
                <p:nvPr/>
              </p:nvGrpSpPr>
              <p:grpSpPr>
                <a:xfrm>
                  <a:off x="-4762" y="328613"/>
                  <a:ext cx="295200" cy="295200"/>
                  <a:chOff x="-4762" y="-4762"/>
                  <a:chExt cx="295200" cy="295200"/>
                </a:xfrm>
              </p:grpSpPr>
              <p:pic>
                <p:nvPicPr>
                  <p:cNvPr id="577" name="Google Shape;577;p22"/>
                  <p:cNvPicPr preferRelativeResize="0"/>
                  <p:nvPr/>
                </p:nvPicPr>
                <p:blipFill rotWithShape="1">
                  <a:blip r:embed="rId7">
                    <a:alphaModFix/>
                  </a:blip>
                  <a:srcRect/>
                  <a:stretch/>
                </p:blipFill>
                <p:spPr>
                  <a:xfrm>
                    <a:off x="-4762" y="-4762"/>
                    <a:ext cx="295200" cy="295200"/>
                  </a:xfrm>
                  <a:prstGeom prst="rect">
                    <a:avLst/>
                  </a:prstGeom>
                  <a:noFill/>
                  <a:ln>
                    <a:noFill/>
                  </a:ln>
                </p:spPr>
              </p:pic>
              <p:sp>
                <p:nvSpPr>
                  <p:cNvPr id="578" name="Google Shape;578;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FFFFFF"/>
                        </a:solidFill>
                        <a:latin typeface="Poppins"/>
                        <a:ea typeface="Poppins"/>
                        <a:cs typeface="Poppins"/>
                        <a:sym typeface="Poppins"/>
                      </a:rPr>
                      <a:t>23</a:t>
                    </a:r>
                    <a:endParaRPr sz="1000" b="1">
                      <a:solidFill>
                        <a:srgbClr val="FFFFFF"/>
                      </a:solidFill>
                      <a:latin typeface="Poppins"/>
                      <a:ea typeface="Poppins"/>
                      <a:cs typeface="Poppins"/>
                      <a:sym typeface="Poppins"/>
                    </a:endParaRPr>
                  </a:p>
                </p:txBody>
              </p:sp>
            </p:grpSp>
            <p:grpSp>
              <p:nvGrpSpPr>
                <p:cNvPr id="579" name="Google Shape;579;p22"/>
                <p:cNvGrpSpPr/>
                <p:nvPr/>
              </p:nvGrpSpPr>
              <p:grpSpPr>
                <a:xfrm>
                  <a:off x="228600" y="228600"/>
                  <a:ext cx="495300" cy="495300"/>
                  <a:chOff x="-104775" y="-104775"/>
                  <a:chExt cx="495300" cy="495300"/>
                </a:xfrm>
              </p:grpSpPr>
              <p:pic>
                <p:nvPicPr>
                  <p:cNvPr id="580" name="Google Shape;580;p22"/>
                  <p:cNvPicPr preferRelativeResize="0"/>
                  <p:nvPr/>
                </p:nvPicPr>
                <p:blipFill rotWithShape="1">
                  <a:blip r:embed="rId6">
                    <a:alphaModFix/>
                  </a:blip>
                  <a:srcRect/>
                  <a:stretch/>
                </p:blipFill>
                <p:spPr>
                  <a:xfrm>
                    <a:off x="-104775" y="-104775"/>
                    <a:ext cx="495300" cy="495300"/>
                  </a:xfrm>
                  <a:prstGeom prst="rect">
                    <a:avLst/>
                  </a:prstGeom>
                  <a:noFill/>
                  <a:ln>
                    <a:noFill/>
                  </a:ln>
                </p:spPr>
              </p:pic>
              <p:sp>
                <p:nvSpPr>
                  <p:cNvPr id="581" name="Google Shape;581;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50" b="1">
                        <a:solidFill>
                          <a:srgbClr val="FFFFFF"/>
                        </a:solidFill>
                        <a:latin typeface="Poppins"/>
                        <a:ea typeface="Poppins"/>
                        <a:cs typeface="Poppins"/>
                        <a:sym typeface="Poppins"/>
                      </a:rPr>
                      <a:t>340</a:t>
                    </a:r>
                    <a:endParaRPr sz="1050" b="1">
                      <a:solidFill>
                        <a:srgbClr val="FFFFFF"/>
                      </a:solidFill>
                      <a:latin typeface="Poppins"/>
                      <a:ea typeface="Poppins"/>
                      <a:cs typeface="Poppins"/>
                      <a:sym typeface="Poppins"/>
                    </a:endParaRPr>
                  </a:p>
                </p:txBody>
              </p:sp>
            </p:grpSp>
            <p:grpSp>
              <p:nvGrpSpPr>
                <p:cNvPr id="582" name="Google Shape;582;p22"/>
                <p:cNvGrpSpPr/>
                <p:nvPr/>
              </p:nvGrpSpPr>
              <p:grpSpPr>
                <a:xfrm>
                  <a:off x="661988" y="328613"/>
                  <a:ext cx="295200" cy="295200"/>
                  <a:chOff x="-4762" y="-4762"/>
                  <a:chExt cx="295200" cy="295200"/>
                </a:xfrm>
              </p:grpSpPr>
              <p:pic>
                <p:nvPicPr>
                  <p:cNvPr id="583" name="Google Shape;583;p22"/>
                  <p:cNvPicPr preferRelativeResize="0"/>
                  <p:nvPr/>
                </p:nvPicPr>
                <p:blipFill rotWithShape="1">
                  <a:blip r:embed="rId7">
                    <a:alphaModFix/>
                  </a:blip>
                  <a:srcRect/>
                  <a:stretch/>
                </p:blipFill>
                <p:spPr>
                  <a:xfrm>
                    <a:off x="-4762" y="-4762"/>
                    <a:ext cx="295200" cy="295200"/>
                  </a:xfrm>
                  <a:prstGeom prst="rect">
                    <a:avLst/>
                  </a:prstGeom>
                  <a:noFill/>
                  <a:ln>
                    <a:noFill/>
                  </a:ln>
                </p:spPr>
              </p:pic>
              <p:sp>
                <p:nvSpPr>
                  <p:cNvPr id="584" name="Google Shape;584;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FFFFFF"/>
                        </a:solidFill>
                        <a:latin typeface="Poppins"/>
                        <a:ea typeface="Poppins"/>
                        <a:cs typeface="Poppins"/>
                        <a:sym typeface="Poppins"/>
                      </a:rPr>
                      <a:t>23</a:t>
                    </a:r>
                    <a:endParaRPr sz="1000" b="1">
                      <a:solidFill>
                        <a:srgbClr val="FFFFFF"/>
                      </a:solidFill>
                      <a:latin typeface="Poppins"/>
                      <a:ea typeface="Poppins"/>
                      <a:cs typeface="Poppins"/>
                      <a:sym typeface="Poppins"/>
                    </a:endParaRPr>
                  </a:p>
                </p:txBody>
              </p:sp>
            </p:grpSp>
            <p:grpSp>
              <p:nvGrpSpPr>
                <p:cNvPr id="585" name="Google Shape;585;p22"/>
                <p:cNvGrpSpPr/>
                <p:nvPr/>
              </p:nvGrpSpPr>
              <p:grpSpPr>
                <a:xfrm>
                  <a:off x="995363" y="328613"/>
                  <a:ext cx="295200" cy="295200"/>
                  <a:chOff x="-4762" y="-4762"/>
                  <a:chExt cx="295200" cy="295200"/>
                </a:xfrm>
              </p:grpSpPr>
              <p:pic>
                <p:nvPicPr>
                  <p:cNvPr id="586" name="Google Shape;586;p22"/>
                  <p:cNvPicPr preferRelativeResize="0"/>
                  <p:nvPr/>
                </p:nvPicPr>
                <p:blipFill rotWithShape="1">
                  <a:blip r:embed="rId7">
                    <a:alphaModFix/>
                  </a:blip>
                  <a:srcRect/>
                  <a:stretch/>
                </p:blipFill>
                <p:spPr>
                  <a:xfrm>
                    <a:off x="-4762" y="-4762"/>
                    <a:ext cx="295200" cy="295200"/>
                  </a:xfrm>
                  <a:prstGeom prst="rect">
                    <a:avLst/>
                  </a:prstGeom>
                  <a:noFill/>
                  <a:ln>
                    <a:noFill/>
                  </a:ln>
                </p:spPr>
              </p:pic>
              <p:sp>
                <p:nvSpPr>
                  <p:cNvPr id="587" name="Google Shape;587;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FFFFFF"/>
                        </a:solidFill>
                        <a:latin typeface="Poppins"/>
                        <a:ea typeface="Poppins"/>
                        <a:cs typeface="Poppins"/>
                        <a:sym typeface="Poppins"/>
                      </a:rPr>
                      <a:t>14</a:t>
                    </a:r>
                    <a:endParaRPr sz="1000" b="1">
                      <a:solidFill>
                        <a:srgbClr val="FFFFFF"/>
                      </a:solidFill>
                      <a:latin typeface="Poppins"/>
                      <a:ea typeface="Poppins"/>
                      <a:cs typeface="Poppins"/>
                      <a:sym typeface="Poppins"/>
                    </a:endParaRPr>
                  </a:p>
                </p:txBody>
              </p:sp>
            </p:grpSp>
            <p:grpSp>
              <p:nvGrpSpPr>
                <p:cNvPr id="588" name="Google Shape;588;p22"/>
                <p:cNvGrpSpPr/>
                <p:nvPr/>
              </p:nvGrpSpPr>
              <p:grpSpPr>
                <a:xfrm>
                  <a:off x="-4762" y="661988"/>
                  <a:ext cx="295200" cy="295200"/>
                  <a:chOff x="-4762" y="-4762"/>
                  <a:chExt cx="295200" cy="295200"/>
                </a:xfrm>
              </p:grpSpPr>
              <p:pic>
                <p:nvPicPr>
                  <p:cNvPr id="589" name="Google Shape;589;p22"/>
                  <p:cNvPicPr preferRelativeResize="0"/>
                  <p:nvPr/>
                </p:nvPicPr>
                <p:blipFill rotWithShape="1">
                  <a:blip r:embed="rId8">
                    <a:alphaModFix/>
                  </a:blip>
                  <a:srcRect/>
                  <a:stretch/>
                </p:blipFill>
                <p:spPr>
                  <a:xfrm>
                    <a:off x="-4762" y="-4762"/>
                    <a:ext cx="295200" cy="295200"/>
                  </a:xfrm>
                  <a:prstGeom prst="rect">
                    <a:avLst/>
                  </a:prstGeom>
                  <a:noFill/>
                  <a:ln>
                    <a:noFill/>
                  </a:ln>
                </p:spPr>
              </p:pic>
              <p:sp>
                <p:nvSpPr>
                  <p:cNvPr id="590" name="Google Shape;590;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64748B"/>
                        </a:solidFill>
                        <a:latin typeface="Poppins"/>
                        <a:ea typeface="Poppins"/>
                        <a:cs typeface="Poppins"/>
                        <a:sym typeface="Poppins"/>
                      </a:rPr>
                      <a:t>0</a:t>
                    </a:r>
                    <a:endParaRPr sz="1000" b="1">
                      <a:solidFill>
                        <a:srgbClr val="64748B"/>
                      </a:solidFill>
                      <a:latin typeface="Poppins"/>
                      <a:ea typeface="Poppins"/>
                      <a:cs typeface="Poppins"/>
                      <a:sym typeface="Poppins"/>
                    </a:endParaRPr>
                  </a:p>
                </p:txBody>
              </p:sp>
            </p:grpSp>
            <p:grpSp>
              <p:nvGrpSpPr>
                <p:cNvPr id="591" name="Google Shape;591;p22"/>
                <p:cNvGrpSpPr/>
                <p:nvPr/>
              </p:nvGrpSpPr>
              <p:grpSpPr>
                <a:xfrm>
                  <a:off x="328613" y="661988"/>
                  <a:ext cx="295200" cy="295200"/>
                  <a:chOff x="-4762" y="-4762"/>
                  <a:chExt cx="295200" cy="295200"/>
                </a:xfrm>
              </p:grpSpPr>
              <p:pic>
                <p:nvPicPr>
                  <p:cNvPr id="592" name="Google Shape;592;p22"/>
                  <p:cNvPicPr preferRelativeResize="0"/>
                  <p:nvPr/>
                </p:nvPicPr>
                <p:blipFill rotWithShape="1">
                  <a:blip r:embed="rId8">
                    <a:alphaModFix/>
                  </a:blip>
                  <a:srcRect/>
                  <a:stretch/>
                </p:blipFill>
                <p:spPr>
                  <a:xfrm>
                    <a:off x="-4762" y="-4762"/>
                    <a:ext cx="295200" cy="295200"/>
                  </a:xfrm>
                  <a:prstGeom prst="rect">
                    <a:avLst/>
                  </a:prstGeom>
                  <a:noFill/>
                  <a:ln>
                    <a:noFill/>
                  </a:ln>
                </p:spPr>
              </p:pic>
              <p:sp>
                <p:nvSpPr>
                  <p:cNvPr id="593" name="Google Shape;593;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64748B"/>
                        </a:solidFill>
                        <a:latin typeface="Poppins"/>
                        <a:ea typeface="Poppins"/>
                        <a:cs typeface="Poppins"/>
                        <a:sym typeface="Poppins"/>
                      </a:rPr>
                      <a:t>2</a:t>
                    </a:r>
                    <a:endParaRPr sz="1000" b="1">
                      <a:solidFill>
                        <a:srgbClr val="64748B"/>
                      </a:solidFill>
                      <a:latin typeface="Poppins"/>
                      <a:ea typeface="Poppins"/>
                      <a:cs typeface="Poppins"/>
                      <a:sym typeface="Poppins"/>
                    </a:endParaRPr>
                  </a:p>
                </p:txBody>
              </p:sp>
            </p:grpSp>
            <p:grpSp>
              <p:nvGrpSpPr>
                <p:cNvPr id="594" name="Google Shape;594;p22"/>
                <p:cNvGrpSpPr/>
                <p:nvPr/>
              </p:nvGrpSpPr>
              <p:grpSpPr>
                <a:xfrm>
                  <a:off x="561975" y="561975"/>
                  <a:ext cx="495300" cy="495300"/>
                  <a:chOff x="-104775" y="-104775"/>
                  <a:chExt cx="495300" cy="495300"/>
                </a:xfrm>
              </p:grpSpPr>
              <p:pic>
                <p:nvPicPr>
                  <p:cNvPr id="595" name="Google Shape;595;p22"/>
                  <p:cNvPicPr preferRelativeResize="0"/>
                  <p:nvPr/>
                </p:nvPicPr>
                <p:blipFill rotWithShape="1">
                  <a:blip r:embed="rId6">
                    <a:alphaModFix/>
                  </a:blip>
                  <a:srcRect/>
                  <a:stretch/>
                </p:blipFill>
                <p:spPr>
                  <a:xfrm>
                    <a:off x="-104775" y="-104775"/>
                    <a:ext cx="495300" cy="495300"/>
                  </a:xfrm>
                  <a:prstGeom prst="rect">
                    <a:avLst/>
                  </a:prstGeom>
                  <a:noFill/>
                  <a:ln>
                    <a:noFill/>
                  </a:ln>
                </p:spPr>
              </p:pic>
              <p:sp>
                <p:nvSpPr>
                  <p:cNvPr id="596" name="Google Shape;596;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50" b="1">
                        <a:solidFill>
                          <a:srgbClr val="FFFFFF"/>
                        </a:solidFill>
                        <a:latin typeface="Poppins"/>
                        <a:ea typeface="Poppins"/>
                        <a:cs typeface="Poppins"/>
                        <a:sym typeface="Poppins"/>
                      </a:rPr>
                      <a:t>398</a:t>
                    </a:r>
                    <a:endParaRPr sz="1050" b="1">
                      <a:solidFill>
                        <a:srgbClr val="FFFFFF"/>
                      </a:solidFill>
                      <a:latin typeface="Poppins"/>
                      <a:ea typeface="Poppins"/>
                      <a:cs typeface="Poppins"/>
                      <a:sym typeface="Poppins"/>
                    </a:endParaRPr>
                  </a:p>
                </p:txBody>
              </p:sp>
            </p:grpSp>
            <p:grpSp>
              <p:nvGrpSpPr>
                <p:cNvPr id="597" name="Google Shape;597;p22"/>
                <p:cNvGrpSpPr/>
                <p:nvPr/>
              </p:nvGrpSpPr>
              <p:grpSpPr>
                <a:xfrm>
                  <a:off x="995363" y="661988"/>
                  <a:ext cx="295200" cy="295200"/>
                  <a:chOff x="-4762" y="-4762"/>
                  <a:chExt cx="295200" cy="295200"/>
                </a:xfrm>
              </p:grpSpPr>
              <p:pic>
                <p:nvPicPr>
                  <p:cNvPr id="598" name="Google Shape;598;p22"/>
                  <p:cNvPicPr preferRelativeResize="0"/>
                  <p:nvPr/>
                </p:nvPicPr>
                <p:blipFill rotWithShape="1">
                  <a:blip r:embed="rId8">
                    <a:alphaModFix/>
                  </a:blip>
                  <a:srcRect/>
                  <a:stretch/>
                </p:blipFill>
                <p:spPr>
                  <a:xfrm>
                    <a:off x="-4762" y="-4762"/>
                    <a:ext cx="295200" cy="295200"/>
                  </a:xfrm>
                  <a:prstGeom prst="rect">
                    <a:avLst/>
                  </a:prstGeom>
                  <a:noFill/>
                  <a:ln>
                    <a:noFill/>
                  </a:ln>
                </p:spPr>
              </p:pic>
              <p:sp>
                <p:nvSpPr>
                  <p:cNvPr id="599" name="Google Shape;599;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64748B"/>
                        </a:solidFill>
                        <a:latin typeface="Poppins"/>
                        <a:ea typeface="Poppins"/>
                        <a:cs typeface="Poppins"/>
                        <a:sym typeface="Poppins"/>
                      </a:rPr>
                      <a:t>0</a:t>
                    </a:r>
                    <a:endParaRPr sz="1000" b="1">
                      <a:solidFill>
                        <a:srgbClr val="64748B"/>
                      </a:solidFill>
                      <a:latin typeface="Poppins"/>
                      <a:ea typeface="Poppins"/>
                      <a:cs typeface="Poppins"/>
                      <a:sym typeface="Poppins"/>
                    </a:endParaRPr>
                  </a:p>
                </p:txBody>
              </p:sp>
            </p:grpSp>
            <p:grpSp>
              <p:nvGrpSpPr>
                <p:cNvPr id="600" name="Google Shape;600;p22"/>
                <p:cNvGrpSpPr/>
                <p:nvPr/>
              </p:nvGrpSpPr>
              <p:grpSpPr>
                <a:xfrm>
                  <a:off x="-4762" y="995363"/>
                  <a:ext cx="295200" cy="295200"/>
                  <a:chOff x="-4762" y="-4762"/>
                  <a:chExt cx="295200" cy="295200"/>
                </a:xfrm>
              </p:grpSpPr>
              <p:pic>
                <p:nvPicPr>
                  <p:cNvPr id="601" name="Google Shape;601;p22"/>
                  <p:cNvPicPr preferRelativeResize="0"/>
                  <p:nvPr/>
                </p:nvPicPr>
                <p:blipFill rotWithShape="1">
                  <a:blip r:embed="rId8">
                    <a:alphaModFix/>
                  </a:blip>
                  <a:srcRect/>
                  <a:stretch/>
                </p:blipFill>
                <p:spPr>
                  <a:xfrm>
                    <a:off x="-4762" y="-4762"/>
                    <a:ext cx="295200" cy="295200"/>
                  </a:xfrm>
                  <a:prstGeom prst="rect">
                    <a:avLst/>
                  </a:prstGeom>
                  <a:noFill/>
                  <a:ln>
                    <a:noFill/>
                  </a:ln>
                </p:spPr>
              </p:pic>
              <p:sp>
                <p:nvSpPr>
                  <p:cNvPr id="602" name="Google Shape;602;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64748B"/>
                        </a:solidFill>
                        <a:latin typeface="Poppins"/>
                        <a:ea typeface="Poppins"/>
                        <a:cs typeface="Poppins"/>
                        <a:sym typeface="Poppins"/>
                      </a:rPr>
                      <a:t>7</a:t>
                    </a:r>
                    <a:endParaRPr sz="1000" b="1">
                      <a:solidFill>
                        <a:srgbClr val="64748B"/>
                      </a:solidFill>
                      <a:latin typeface="Poppins"/>
                      <a:ea typeface="Poppins"/>
                      <a:cs typeface="Poppins"/>
                      <a:sym typeface="Poppins"/>
                    </a:endParaRPr>
                  </a:p>
                </p:txBody>
              </p:sp>
            </p:grpSp>
            <p:grpSp>
              <p:nvGrpSpPr>
                <p:cNvPr id="603" name="Google Shape;603;p22"/>
                <p:cNvGrpSpPr/>
                <p:nvPr/>
              </p:nvGrpSpPr>
              <p:grpSpPr>
                <a:xfrm>
                  <a:off x="328613" y="995363"/>
                  <a:ext cx="295200" cy="295200"/>
                  <a:chOff x="-4762" y="-4762"/>
                  <a:chExt cx="295200" cy="295200"/>
                </a:xfrm>
              </p:grpSpPr>
              <p:pic>
                <p:nvPicPr>
                  <p:cNvPr id="604" name="Google Shape;604;p22"/>
                  <p:cNvPicPr preferRelativeResize="0"/>
                  <p:nvPr/>
                </p:nvPicPr>
                <p:blipFill rotWithShape="1">
                  <a:blip r:embed="rId7">
                    <a:alphaModFix/>
                  </a:blip>
                  <a:srcRect/>
                  <a:stretch/>
                </p:blipFill>
                <p:spPr>
                  <a:xfrm>
                    <a:off x="-4762" y="-4762"/>
                    <a:ext cx="295200" cy="295200"/>
                  </a:xfrm>
                  <a:prstGeom prst="rect">
                    <a:avLst/>
                  </a:prstGeom>
                  <a:noFill/>
                  <a:ln>
                    <a:noFill/>
                  </a:ln>
                </p:spPr>
              </p:pic>
              <p:sp>
                <p:nvSpPr>
                  <p:cNvPr id="605" name="Google Shape;605;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FFFFFF"/>
                        </a:solidFill>
                        <a:latin typeface="Poppins"/>
                        <a:ea typeface="Poppins"/>
                        <a:cs typeface="Poppins"/>
                        <a:sym typeface="Poppins"/>
                      </a:rPr>
                      <a:t>25</a:t>
                    </a:r>
                    <a:endParaRPr sz="1000" b="1">
                      <a:solidFill>
                        <a:srgbClr val="FFFFFF"/>
                      </a:solidFill>
                      <a:latin typeface="Poppins"/>
                      <a:ea typeface="Poppins"/>
                      <a:cs typeface="Poppins"/>
                      <a:sym typeface="Poppins"/>
                    </a:endParaRPr>
                  </a:p>
                </p:txBody>
              </p:sp>
            </p:grpSp>
            <p:grpSp>
              <p:nvGrpSpPr>
                <p:cNvPr id="606" name="Google Shape;606;p22"/>
                <p:cNvGrpSpPr/>
                <p:nvPr/>
              </p:nvGrpSpPr>
              <p:grpSpPr>
                <a:xfrm>
                  <a:off x="661988" y="995363"/>
                  <a:ext cx="295200" cy="295200"/>
                  <a:chOff x="-4762" y="-4762"/>
                  <a:chExt cx="295200" cy="295200"/>
                </a:xfrm>
              </p:grpSpPr>
              <p:pic>
                <p:nvPicPr>
                  <p:cNvPr id="607" name="Google Shape;607;p22"/>
                  <p:cNvPicPr preferRelativeResize="0"/>
                  <p:nvPr/>
                </p:nvPicPr>
                <p:blipFill rotWithShape="1">
                  <a:blip r:embed="rId8">
                    <a:alphaModFix/>
                  </a:blip>
                  <a:srcRect/>
                  <a:stretch/>
                </p:blipFill>
                <p:spPr>
                  <a:xfrm>
                    <a:off x="-4762" y="-4762"/>
                    <a:ext cx="295200" cy="295200"/>
                  </a:xfrm>
                  <a:prstGeom prst="rect">
                    <a:avLst/>
                  </a:prstGeom>
                  <a:noFill/>
                  <a:ln>
                    <a:noFill/>
                  </a:ln>
                </p:spPr>
              </p:pic>
              <p:sp>
                <p:nvSpPr>
                  <p:cNvPr id="608" name="Google Shape;608;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00" b="1">
                        <a:solidFill>
                          <a:srgbClr val="64748B"/>
                        </a:solidFill>
                        <a:latin typeface="Poppins"/>
                        <a:ea typeface="Poppins"/>
                        <a:cs typeface="Poppins"/>
                        <a:sym typeface="Poppins"/>
                      </a:rPr>
                      <a:t>1</a:t>
                    </a:r>
                    <a:endParaRPr sz="1000" b="1">
                      <a:solidFill>
                        <a:srgbClr val="64748B"/>
                      </a:solidFill>
                      <a:latin typeface="Poppins"/>
                      <a:ea typeface="Poppins"/>
                      <a:cs typeface="Poppins"/>
                      <a:sym typeface="Poppins"/>
                    </a:endParaRPr>
                  </a:p>
                </p:txBody>
              </p:sp>
            </p:grpSp>
            <p:grpSp>
              <p:nvGrpSpPr>
                <p:cNvPr id="609" name="Google Shape;609;p22"/>
                <p:cNvGrpSpPr/>
                <p:nvPr/>
              </p:nvGrpSpPr>
              <p:grpSpPr>
                <a:xfrm>
                  <a:off x="895350" y="895350"/>
                  <a:ext cx="495300" cy="495300"/>
                  <a:chOff x="-104775" y="-104775"/>
                  <a:chExt cx="495300" cy="495300"/>
                </a:xfrm>
              </p:grpSpPr>
              <p:pic>
                <p:nvPicPr>
                  <p:cNvPr id="610" name="Google Shape;610;p22"/>
                  <p:cNvPicPr preferRelativeResize="0"/>
                  <p:nvPr/>
                </p:nvPicPr>
                <p:blipFill rotWithShape="1">
                  <a:blip r:embed="rId6">
                    <a:alphaModFix/>
                  </a:blip>
                  <a:srcRect/>
                  <a:stretch/>
                </p:blipFill>
                <p:spPr>
                  <a:xfrm>
                    <a:off x="-104775" y="-104775"/>
                    <a:ext cx="495300" cy="495300"/>
                  </a:xfrm>
                  <a:prstGeom prst="rect">
                    <a:avLst/>
                  </a:prstGeom>
                  <a:noFill/>
                  <a:ln>
                    <a:noFill/>
                  </a:ln>
                </p:spPr>
              </p:pic>
              <p:sp>
                <p:nvSpPr>
                  <p:cNvPr id="611" name="Google Shape;611;p22"/>
                  <p:cNvSpPr txBox="1"/>
                  <p:nvPr/>
                </p:nvSpPr>
                <p:spPr>
                  <a:xfrm>
                    <a:off x="0" y="0"/>
                    <a:ext cx="2859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1050" b="1">
                        <a:solidFill>
                          <a:srgbClr val="FFFFFF"/>
                        </a:solidFill>
                        <a:latin typeface="Poppins"/>
                        <a:ea typeface="Poppins"/>
                        <a:cs typeface="Poppins"/>
                        <a:sym typeface="Poppins"/>
                      </a:rPr>
                      <a:t>367</a:t>
                    </a:r>
                    <a:endParaRPr sz="1050" b="1">
                      <a:solidFill>
                        <a:srgbClr val="FFFFFF"/>
                      </a:solidFill>
                      <a:latin typeface="Poppins"/>
                      <a:ea typeface="Poppins"/>
                      <a:cs typeface="Poppins"/>
                      <a:sym typeface="Poppins"/>
                    </a:endParaRPr>
                  </a:p>
                </p:txBody>
              </p:sp>
            </p:grpSp>
          </p:grpSp>
          <p:sp>
            <p:nvSpPr>
              <p:cNvPr id="612" name="Google Shape;612;p22"/>
              <p:cNvSpPr txBox="1"/>
              <p:nvPr/>
            </p:nvSpPr>
            <p:spPr>
              <a:xfrm rot="-5400000">
                <a:off x="-246540" y="993781"/>
                <a:ext cx="494400" cy="108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486" b="1">
                    <a:solidFill>
                      <a:srgbClr val="475569"/>
                    </a:solidFill>
                    <a:latin typeface="Poppins"/>
                    <a:ea typeface="Poppins"/>
                    <a:cs typeface="Poppins"/>
                    <a:sym typeface="Poppins"/>
                  </a:rPr>
                  <a:t>ACTUAL CLASS</a:t>
                </a:r>
                <a:endParaRPr sz="486" b="1">
                  <a:solidFill>
                    <a:srgbClr val="475569"/>
                  </a:solidFill>
                  <a:latin typeface="Poppins"/>
                  <a:ea typeface="Poppins"/>
                  <a:cs typeface="Poppins"/>
                  <a:sym typeface="Poppins"/>
                </a:endParaRPr>
              </a:p>
            </p:txBody>
          </p:sp>
        </p:grpSp>
        <p:grpSp>
          <p:nvGrpSpPr>
            <p:cNvPr id="613" name="Google Shape;613;p22"/>
            <p:cNvGrpSpPr/>
            <p:nvPr/>
          </p:nvGrpSpPr>
          <p:grpSpPr>
            <a:xfrm>
              <a:off x="142875" y="2133600"/>
              <a:ext cx="2266950" cy="142800"/>
              <a:chOff x="0" y="-9525"/>
              <a:chExt cx="2266950" cy="142800"/>
            </a:xfrm>
          </p:grpSpPr>
          <p:pic>
            <p:nvPicPr>
              <p:cNvPr id="614" name="Google Shape;614;p22"/>
              <p:cNvPicPr preferRelativeResize="0"/>
              <p:nvPr/>
            </p:nvPicPr>
            <p:blipFill rotWithShape="1">
              <a:blip r:embed="rId9">
                <a:alphaModFix/>
              </a:blip>
              <a:srcRect/>
              <a:stretch/>
            </p:blipFill>
            <p:spPr>
              <a:xfrm>
                <a:off x="0" y="0"/>
                <a:ext cx="104700" cy="104700"/>
              </a:xfrm>
              <a:prstGeom prst="rect">
                <a:avLst/>
              </a:prstGeom>
              <a:noFill/>
              <a:ln>
                <a:noFill/>
              </a:ln>
            </p:spPr>
          </p:pic>
          <p:sp>
            <p:nvSpPr>
              <p:cNvPr id="615" name="Google Shape;615;p22"/>
              <p:cNvSpPr txBox="1"/>
              <p:nvPr/>
            </p:nvSpPr>
            <p:spPr>
              <a:xfrm>
                <a:off x="171450" y="-9525"/>
                <a:ext cx="9525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50" b="0">
                    <a:solidFill>
                      <a:srgbClr val="A5F3FC"/>
                    </a:solidFill>
                    <a:latin typeface="Poppins"/>
                    <a:ea typeface="Poppins"/>
                    <a:cs typeface="Poppins"/>
                    <a:sym typeface="Poppins"/>
                  </a:rPr>
                  <a:t>Correct Class</a:t>
                </a:r>
                <a:endParaRPr sz="650" b="0">
                  <a:solidFill>
                    <a:srgbClr val="A5F3FC"/>
                  </a:solidFill>
                  <a:latin typeface="Poppins"/>
                  <a:ea typeface="Poppins"/>
                  <a:cs typeface="Poppins"/>
                  <a:sym typeface="Poppins"/>
                </a:endParaRPr>
              </a:p>
            </p:txBody>
          </p:sp>
          <p:pic>
            <p:nvPicPr>
              <p:cNvPr id="616" name="Google Shape;616;p22"/>
              <p:cNvPicPr preferRelativeResize="0"/>
              <p:nvPr/>
            </p:nvPicPr>
            <p:blipFill rotWithShape="1">
              <a:blip r:embed="rId10">
                <a:alphaModFix/>
              </a:blip>
              <a:srcRect/>
              <a:stretch/>
            </p:blipFill>
            <p:spPr>
              <a:xfrm>
                <a:off x="1143000" y="0"/>
                <a:ext cx="104700" cy="104700"/>
              </a:xfrm>
              <a:prstGeom prst="rect">
                <a:avLst/>
              </a:prstGeom>
              <a:noFill/>
              <a:ln>
                <a:noFill/>
              </a:ln>
            </p:spPr>
          </p:pic>
          <p:sp>
            <p:nvSpPr>
              <p:cNvPr id="617" name="Google Shape;617;p22"/>
              <p:cNvSpPr txBox="1"/>
              <p:nvPr/>
            </p:nvSpPr>
            <p:spPr>
              <a:xfrm>
                <a:off x="1314450" y="-9525"/>
                <a:ext cx="9525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50" b="0">
                    <a:solidFill>
                      <a:srgbClr val="A5F3FC"/>
                    </a:solidFill>
                    <a:latin typeface="Poppins"/>
                    <a:ea typeface="Poppins"/>
                    <a:cs typeface="Poppins"/>
                    <a:sym typeface="Poppins"/>
                  </a:rPr>
                  <a:t>Frequent Confusion</a:t>
                </a:r>
                <a:endParaRPr sz="650" b="0">
                  <a:solidFill>
                    <a:srgbClr val="A5F3FC"/>
                  </a:solidFill>
                  <a:latin typeface="Poppins"/>
                  <a:ea typeface="Poppins"/>
                  <a:cs typeface="Poppins"/>
                  <a:sym typeface="Poppins"/>
                </a:endParaRPr>
              </a:p>
            </p:txBody>
          </p:sp>
        </p:grpSp>
      </p:grpSp>
      <p:grpSp>
        <p:nvGrpSpPr>
          <p:cNvPr id="618" name="Google Shape;618;p22"/>
          <p:cNvGrpSpPr/>
          <p:nvPr/>
        </p:nvGrpSpPr>
        <p:grpSpPr>
          <a:xfrm>
            <a:off x="3143250" y="904875"/>
            <a:ext cx="2762400" cy="3143400"/>
            <a:chOff x="0" y="0"/>
            <a:chExt cx="2762400" cy="3143400"/>
          </a:xfrm>
        </p:grpSpPr>
        <p:sp>
          <p:nvSpPr>
            <p:cNvPr id="619" name="Google Shape;619;p22"/>
            <p:cNvSpPr/>
            <p:nvPr/>
          </p:nvSpPr>
          <p:spPr>
            <a:xfrm>
              <a:off x="0" y="0"/>
              <a:ext cx="2762400" cy="3143400"/>
            </a:xfrm>
            <a:prstGeom prst="roundRect">
              <a:avLst>
                <a:gd name="adj" fmla="val 4137"/>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0" name="Google Shape;620;p22"/>
            <p:cNvSpPr txBox="1"/>
            <p:nvPr/>
          </p:nvSpPr>
          <p:spPr>
            <a:xfrm>
              <a:off x="142875" y="142875"/>
              <a:ext cx="2476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1">
                  <a:solidFill>
                    <a:srgbClr val="00F2FE"/>
                  </a:solidFill>
                  <a:latin typeface="Poppins"/>
                  <a:ea typeface="Poppins"/>
                  <a:cs typeface="Poppins"/>
                  <a:sym typeface="Poppins"/>
                </a:rPr>
                <a:t>Classification Report</a:t>
              </a:r>
              <a:endParaRPr sz="1000" b="1">
                <a:solidFill>
                  <a:srgbClr val="00F2FE"/>
                </a:solidFill>
                <a:latin typeface="Poppins"/>
                <a:ea typeface="Poppins"/>
                <a:cs typeface="Poppins"/>
                <a:sym typeface="Poppins"/>
              </a:endParaRPr>
            </a:p>
          </p:txBody>
        </p:sp>
        <p:grpSp>
          <p:nvGrpSpPr>
            <p:cNvPr id="621" name="Google Shape;621;p22"/>
            <p:cNvGrpSpPr/>
            <p:nvPr/>
          </p:nvGrpSpPr>
          <p:grpSpPr>
            <a:xfrm>
              <a:off x="142875" y="476250"/>
              <a:ext cx="2476500" cy="266700"/>
              <a:chOff x="0" y="0"/>
              <a:chExt cx="2476500" cy="266700"/>
            </a:xfrm>
          </p:grpSpPr>
          <p:sp>
            <p:nvSpPr>
              <p:cNvPr id="622" name="Google Shape;622;p22"/>
              <p:cNvSpPr/>
              <p:nvPr/>
            </p:nvSpPr>
            <p:spPr>
              <a:xfrm>
                <a:off x="0" y="0"/>
                <a:ext cx="2476500" cy="266700"/>
              </a:xfrm>
              <a:prstGeom prst="roundRect">
                <a:avLst>
                  <a:gd name="adj" fmla="val 21428"/>
                </a:avLst>
              </a:prstGeom>
              <a:solidFill>
                <a:srgbClr val="1E293B">
                  <a:alpha val="5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3" name="Google Shape;623;p22"/>
              <p:cNvSpPr txBox="1"/>
              <p:nvPr/>
            </p:nvSpPr>
            <p:spPr>
              <a:xfrm>
                <a:off x="95250" y="0"/>
                <a:ext cx="762000" cy="2667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1">
                    <a:solidFill>
                      <a:srgbClr val="A5F3FC"/>
                    </a:solidFill>
                    <a:latin typeface="Poppins"/>
                    <a:ea typeface="Poppins"/>
                    <a:cs typeface="Poppins"/>
                    <a:sym typeface="Poppins"/>
                  </a:rPr>
                  <a:t>Class</a:t>
                </a:r>
                <a:endParaRPr sz="740" b="1">
                  <a:solidFill>
                    <a:srgbClr val="A5F3FC"/>
                  </a:solidFill>
                  <a:latin typeface="Poppins"/>
                  <a:ea typeface="Poppins"/>
                  <a:cs typeface="Poppins"/>
                  <a:sym typeface="Poppins"/>
                </a:endParaRPr>
              </a:p>
            </p:txBody>
          </p:sp>
          <p:sp>
            <p:nvSpPr>
              <p:cNvPr id="624" name="Google Shape;624;p22"/>
              <p:cNvSpPr txBox="1"/>
              <p:nvPr/>
            </p:nvSpPr>
            <p:spPr>
              <a:xfrm>
                <a:off x="904875" y="0"/>
                <a:ext cx="4764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40" b="1">
                    <a:solidFill>
                      <a:srgbClr val="A5F3FC"/>
                    </a:solidFill>
                    <a:latin typeface="Poppins"/>
                    <a:ea typeface="Poppins"/>
                    <a:cs typeface="Poppins"/>
                    <a:sym typeface="Poppins"/>
                  </a:rPr>
                  <a:t>Precision</a:t>
                </a:r>
                <a:endParaRPr sz="740" b="1">
                  <a:solidFill>
                    <a:srgbClr val="A5F3FC"/>
                  </a:solidFill>
                  <a:latin typeface="Poppins"/>
                  <a:ea typeface="Poppins"/>
                  <a:cs typeface="Poppins"/>
                  <a:sym typeface="Poppins"/>
                </a:endParaRPr>
              </a:p>
            </p:txBody>
          </p:sp>
          <p:sp>
            <p:nvSpPr>
              <p:cNvPr id="625" name="Google Shape;625;p22"/>
              <p:cNvSpPr txBox="1"/>
              <p:nvPr/>
            </p:nvSpPr>
            <p:spPr>
              <a:xfrm>
                <a:off x="1428750" y="0"/>
                <a:ext cx="4764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40" b="1">
                    <a:solidFill>
                      <a:srgbClr val="A5F3FC"/>
                    </a:solidFill>
                    <a:latin typeface="Poppins"/>
                    <a:ea typeface="Poppins"/>
                    <a:cs typeface="Poppins"/>
                    <a:sym typeface="Poppins"/>
                  </a:rPr>
                  <a:t>Recall</a:t>
                </a:r>
                <a:endParaRPr sz="740" b="1">
                  <a:solidFill>
                    <a:srgbClr val="A5F3FC"/>
                  </a:solidFill>
                  <a:latin typeface="Poppins"/>
                  <a:ea typeface="Poppins"/>
                  <a:cs typeface="Poppins"/>
                  <a:sym typeface="Poppins"/>
                </a:endParaRPr>
              </a:p>
            </p:txBody>
          </p:sp>
          <p:sp>
            <p:nvSpPr>
              <p:cNvPr id="626" name="Google Shape;626;p22"/>
              <p:cNvSpPr txBox="1"/>
              <p:nvPr/>
            </p:nvSpPr>
            <p:spPr>
              <a:xfrm>
                <a:off x="1952625" y="0"/>
                <a:ext cx="476400" cy="266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740" b="1">
                    <a:solidFill>
                      <a:srgbClr val="A5F3FC"/>
                    </a:solidFill>
                    <a:latin typeface="Poppins"/>
                    <a:ea typeface="Poppins"/>
                    <a:cs typeface="Poppins"/>
                    <a:sym typeface="Poppins"/>
                  </a:rPr>
                  <a:t>F1-Score</a:t>
                </a:r>
                <a:endParaRPr sz="740" b="1">
                  <a:solidFill>
                    <a:srgbClr val="A5F3FC"/>
                  </a:solidFill>
                  <a:latin typeface="Poppins"/>
                  <a:ea typeface="Poppins"/>
                  <a:cs typeface="Poppins"/>
                  <a:sym typeface="Poppins"/>
                </a:endParaRPr>
              </a:p>
            </p:txBody>
          </p:sp>
        </p:grpSp>
        <p:grpSp>
          <p:nvGrpSpPr>
            <p:cNvPr id="627" name="Google Shape;627;p22"/>
            <p:cNvGrpSpPr/>
            <p:nvPr/>
          </p:nvGrpSpPr>
          <p:grpSpPr>
            <a:xfrm>
              <a:off x="142875" y="800100"/>
              <a:ext cx="2476500" cy="324000"/>
              <a:chOff x="0" y="0"/>
              <a:chExt cx="2476500" cy="324000"/>
            </a:xfrm>
          </p:grpSpPr>
          <p:sp>
            <p:nvSpPr>
              <p:cNvPr id="628" name="Google Shape;628;p22"/>
              <p:cNvSpPr/>
              <p:nvPr/>
            </p:nvSpPr>
            <p:spPr>
              <a:xfrm>
                <a:off x="0" y="0"/>
                <a:ext cx="2476500" cy="324000"/>
              </a:xfrm>
              <a:prstGeom prst="roundRect">
                <a:avLst>
                  <a:gd name="adj" fmla="val 17647"/>
                </a:avLst>
              </a:prstGeom>
              <a:solidFill>
                <a:srgbClr val="000000">
                  <a:alpha val="0"/>
                </a:srgbClr>
              </a:solidFill>
              <a:ln w="477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29" name="Google Shape;629;p22"/>
              <p:cNvSpPr txBox="1"/>
              <p:nvPr/>
            </p:nvSpPr>
            <p:spPr>
              <a:xfrm>
                <a:off x="95250" y="0"/>
                <a:ext cx="7620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FFFFFF"/>
                    </a:solidFill>
                    <a:latin typeface="Poppins"/>
                    <a:ea typeface="Poppins"/>
                    <a:cs typeface="Poppins"/>
                    <a:sym typeface="Poppins"/>
                  </a:rPr>
                  <a:t>Glioma</a:t>
                </a:r>
                <a:endParaRPr sz="850" b="1">
                  <a:solidFill>
                    <a:srgbClr val="FFFFFF"/>
                  </a:solidFill>
                  <a:latin typeface="Poppins"/>
                  <a:ea typeface="Poppins"/>
                  <a:cs typeface="Poppins"/>
                  <a:sym typeface="Poppins"/>
                </a:endParaRPr>
              </a:p>
            </p:txBody>
          </p:sp>
          <p:sp>
            <p:nvSpPr>
              <p:cNvPr id="630" name="Google Shape;630;p22"/>
              <p:cNvSpPr txBox="1"/>
              <p:nvPr/>
            </p:nvSpPr>
            <p:spPr>
              <a:xfrm>
                <a:off x="90487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0.91</a:t>
                </a:r>
                <a:endParaRPr sz="850" b="0">
                  <a:solidFill>
                    <a:srgbClr val="FFFFFF"/>
                  </a:solidFill>
                  <a:latin typeface="Poppins Medium"/>
                  <a:ea typeface="Poppins Medium"/>
                  <a:cs typeface="Poppins Medium"/>
                  <a:sym typeface="Poppins Medium"/>
                </a:endParaRPr>
              </a:p>
            </p:txBody>
          </p:sp>
          <p:sp>
            <p:nvSpPr>
              <p:cNvPr id="631" name="Google Shape;631;p22"/>
              <p:cNvSpPr txBox="1"/>
              <p:nvPr/>
            </p:nvSpPr>
            <p:spPr>
              <a:xfrm>
                <a:off x="1428750"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1">
                    <a:solidFill>
                      <a:srgbClr val="F43F5E"/>
                    </a:solidFill>
                    <a:latin typeface="Poppins"/>
                    <a:ea typeface="Poppins"/>
                    <a:cs typeface="Poppins"/>
                    <a:sym typeface="Poppins"/>
                  </a:rPr>
                  <a:t>0.72</a:t>
                </a:r>
                <a:endParaRPr sz="850" b="1">
                  <a:solidFill>
                    <a:srgbClr val="F43F5E"/>
                  </a:solidFill>
                  <a:latin typeface="Poppins"/>
                  <a:ea typeface="Poppins"/>
                  <a:cs typeface="Poppins"/>
                  <a:sym typeface="Poppins"/>
                </a:endParaRPr>
              </a:p>
            </p:txBody>
          </p:sp>
          <p:sp>
            <p:nvSpPr>
              <p:cNvPr id="632" name="Google Shape;632;p22"/>
              <p:cNvSpPr txBox="1"/>
              <p:nvPr/>
            </p:nvSpPr>
            <p:spPr>
              <a:xfrm>
                <a:off x="195262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0.80</a:t>
                </a:r>
                <a:endParaRPr sz="850" b="0">
                  <a:solidFill>
                    <a:srgbClr val="FFFFFF"/>
                  </a:solidFill>
                  <a:latin typeface="Poppins Medium"/>
                  <a:ea typeface="Poppins Medium"/>
                  <a:cs typeface="Poppins Medium"/>
                  <a:sym typeface="Poppins Medium"/>
                </a:endParaRPr>
              </a:p>
            </p:txBody>
          </p:sp>
        </p:grpSp>
        <p:grpSp>
          <p:nvGrpSpPr>
            <p:cNvPr id="633" name="Google Shape;633;p22"/>
            <p:cNvGrpSpPr/>
            <p:nvPr/>
          </p:nvGrpSpPr>
          <p:grpSpPr>
            <a:xfrm>
              <a:off x="142875" y="1181100"/>
              <a:ext cx="2476500" cy="324000"/>
              <a:chOff x="0" y="0"/>
              <a:chExt cx="2476500" cy="324000"/>
            </a:xfrm>
          </p:grpSpPr>
          <p:sp>
            <p:nvSpPr>
              <p:cNvPr id="634" name="Google Shape;634;p22"/>
              <p:cNvSpPr/>
              <p:nvPr/>
            </p:nvSpPr>
            <p:spPr>
              <a:xfrm>
                <a:off x="0" y="0"/>
                <a:ext cx="2476500" cy="324000"/>
              </a:xfrm>
              <a:prstGeom prst="roundRect">
                <a:avLst>
                  <a:gd name="adj" fmla="val 17647"/>
                </a:avLst>
              </a:prstGeom>
              <a:solidFill>
                <a:srgbClr val="000000">
                  <a:alpha val="0"/>
                </a:srgbClr>
              </a:solidFill>
              <a:ln w="477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35" name="Google Shape;635;p22"/>
              <p:cNvSpPr txBox="1"/>
              <p:nvPr/>
            </p:nvSpPr>
            <p:spPr>
              <a:xfrm>
                <a:off x="95250" y="0"/>
                <a:ext cx="7620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FFFFFF"/>
                    </a:solidFill>
                    <a:latin typeface="Poppins"/>
                    <a:ea typeface="Poppins"/>
                    <a:cs typeface="Poppins"/>
                    <a:sym typeface="Poppins"/>
                  </a:rPr>
                  <a:t>Meningioma</a:t>
                </a:r>
                <a:endParaRPr sz="850" b="1">
                  <a:solidFill>
                    <a:srgbClr val="FFFFFF"/>
                  </a:solidFill>
                  <a:latin typeface="Poppins"/>
                  <a:ea typeface="Poppins"/>
                  <a:cs typeface="Poppins"/>
                  <a:sym typeface="Poppins"/>
                </a:endParaRPr>
              </a:p>
            </p:txBody>
          </p:sp>
          <p:sp>
            <p:nvSpPr>
              <p:cNvPr id="636" name="Google Shape;636;p22"/>
              <p:cNvSpPr txBox="1"/>
              <p:nvPr/>
            </p:nvSpPr>
            <p:spPr>
              <a:xfrm>
                <a:off x="90487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0.81</a:t>
                </a:r>
                <a:endParaRPr sz="850" b="0">
                  <a:solidFill>
                    <a:srgbClr val="FFFFFF"/>
                  </a:solidFill>
                  <a:latin typeface="Poppins Medium"/>
                  <a:ea typeface="Poppins Medium"/>
                  <a:cs typeface="Poppins Medium"/>
                  <a:sym typeface="Poppins Medium"/>
                </a:endParaRPr>
              </a:p>
            </p:txBody>
          </p:sp>
          <p:sp>
            <p:nvSpPr>
              <p:cNvPr id="637" name="Google Shape;637;p22"/>
              <p:cNvSpPr txBox="1"/>
              <p:nvPr/>
            </p:nvSpPr>
            <p:spPr>
              <a:xfrm>
                <a:off x="1428750"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0.85</a:t>
                </a:r>
                <a:endParaRPr sz="850" b="0">
                  <a:solidFill>
                    <a:srgbClr val="FFFFFF"/>
                  </a:solidFill>
                  <a:latin typeface="Poppins Medium"/>
                  <a:ea typeface="Poppins Medium"/>
                  <a:cs typeface="Poppins Medium"/>
                  <a:sym typeface="Poppins Medium"/>
                </a:endParaRPr>
              </a:p>
            </p:txBody>
          </p:sp>
          <p:sp>
            <p:nvSpPr>
              <p:cNvPr id="638" name="Google Shape;638;p22"/>
              <p:cNvSpPr txBox="1"/>
              <p:nvPr/>
            </p:nvSpPr>
            <p:spPr>
              <a:xfrm>
                <a:off x="195262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0.83</a:t>
                </a:r>
                <a:endParaRPr sz="850" b="0">
                  <a:solidFill>
                    <a:srgbClr val="FFFFFF"/>
                  </a:solidFill>
                  <a:latin typeface="Poppins Medium"/>
                  <a:ea typeface="Poppins Medium"/>
                  <a:cs typeface="Poppins Medium"/>
                  <a:sym typeface="Poppins Medium"/>
                </a:endParaRPr>
              </a:p>
            </p:txBody>
          </p:sp>
        </p:grpSp>
        <p:grpSp>
          <p:nvGrpSpPr>
            <p:cNvPr id="639" name="Google Shape;639;p22"/>
            <p:cNvGrpSpPr/>
            <p:nvPr/>
          </p:nvGrpSpPr>
          <p:grpSpPr>
            <a:xfrm>
              <a:off x="142875" y="1562100"/>
              <a:ext cx="2476500" cy="324000"/>
              <a:chOff x="0" y="0"/>
              <a:chExt cx="2476500" cy="324000"/>
            </a:xfrm>
          </p:grpSpPr>
          <p:sp>
            <p:nvSpPr>
              <p:cNvPr id="640" name="Google Shape;640;p22"/>
              <p:cNvSpPr/>
              <p:nvPr/>
            </p:nvSpPr>
            <p:spPr>
              <a:xfrm>
                <a:off x="0" y="0"/>
                <a:ext cx="2476500" cy="324000"/>
              </a:xfrm>
              <a:prstGeom prst="roundRect">
                <a:avLst>
                  <a:gd name="adj" fmla="val 17647"/>
                </a:avLst>
              </a:prstGeom>
              <a:solidFill>
                <a:srgbClr val="00F2FE">
                  <a:alpha val="3000"/>
                </a:srgbClr>
              </a:solidFill>
              <a:ln w="4775"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1" name="Google Shape;641;p22"/>
              <p:cNvSpPr txBox="1"/>
              <p:nvPr/>
            </p:nvSpPr>
            <p:spPr>
              <a:xfrm>
                <a:off x="95250" y="0"/>
                <a:ext cx="7620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FFFFFF"/>
                    </a:solidFill>
                    <a:latin typeface="Poppins"/>
                    <a:ea typeface="Poppins"/>
                    <a:cs typeface="Poppins"/>
                    <a:sym typeface="Poppins"/>
                  </a:rPr>
                  <a:t>No Tumor</a:t>
                </a:r>
                <a:endParaRPr sz="850" b="1">
                  <a:solidFill>
                    <a:srgbClr val="FFFFFF"/>
                  </a:solidFill>
                  <a:latin typeface="Poppins"/>
                  <a:ea typeface="Poppins"/>
                  <a:cs typeface="Poppins"/>
                  <a:sym typeface="Poppins"/>
                </a:endParaRPr>
              </a:p>
            </p:txBody>
          </p:sp>
          <p:sp>
            <p:nvSpPr>
              <p:cNvPr id="642" name="Google Shape;642;p22"/>
              <p:cNvSpPr txBox="1"/>
              <p:nvPr/>
            </p:nvSpPr>
            <p:spPr>
              <a:xfrm>
                <a:off x="90487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0.85</a:t>
                </a:r>
                <a:endParaRPr sz="850" b="0">
                  <a:solidFill>
                    <a:srgbClr val="FFFFFF"/>
                  </a:solidFill>
                  <a:latin typeface="Poppins Medium"/>
                  <a:ea typeface="Poppins Medium"/>
                  <a:cs typeface="Poppins Medium"/>
                  <a:sym typeface="Poppins Medium"/>
                </a:endParaRPr>
              </a:p>
            </p:txBody>
          </p:sp>
          <p:sp>
            <p:nvSpPr>
              <p:cNvPr id="643" name="Google Shape;643;p22"/>
              <p:cNvSpPr txBox="1"/>
              <p:nvPr/>
            </p:nvSpPr>
            <p:spPr>
              <a:xfrm>
                <a:off x="1428750"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1">
                    <a:solidFill>
                      <a:srgbClr val="10B981"/>
                    </a:solidFill>
                    <a:latin typeface="Poppins"/>
                    <a:ea typeface="Poppins"/>
                    <a:cs typeface="Poppins"/>
                    <a:sym typeface="Poppins"/>
                  </a:rPr>
                  <a:t>0.99</a:t>
                </a:r>
                <a:endParaRPr sz="850" b="1">
                  <a:solidFill>
                    <a:srgbClr val="10B981"/>
                  </a:solidFill>
                  <a:latin typeface="Poppins"/>
                  <a:ea typeface="Poppins"/>
                  <a:cs typeface="Poppins"/>
                  <a:sym typeface="Poppins"/>
                </a:endParaRPr>
              </a:p>
            </p:txBody>
          </p:sp>
          <p:sp>
            <p:nvSpPr>
              <p:cNvPr id="644" name="Google Shape;644;p22"/>
              <p:cNvSpPr txBox="1"/>
              <p:nvPr/>
            </p:nvSpPr>
            <p:spPr>
              <a:xfrm>
                <a:off x="195262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0.91</a:t>
                </a:r>
                <a:endParaRPr sz="850" b="0">
                  <a:solidFill>
                    <a:srgbClr val="FFFFFF"/>
                  </a:solidFill>
                  <a:latin typeface="Poppins Medium"/>
                  <a:ea typeface="Poppins Medium"/>
                  <a:cs typeface="Poppins Medium"/>
                  <a:sym typeface="Poppins Medium"/>
                </a:endParaRPr>
              </a:p>
            </p:txBody>
          </p:sp>
        </p:grpSp>
        <p:grpSp>
          <p:nvGrpSpPr>
            <p:cNvPr id="645" name="Google Shape;645;p22"/>
            <p:cNvGrpSpPr/>
            <p:nvPr/>
          </p:nvGrpSpPr>
          <p:grpSpPr>
            <a:xfrm>
              <a:off x="142875" y="1943100"/>
              <a:ext cx="2476500" cy="324000"/>
              <a:chOff x="0" y="0"/>
              <a:chExt cx="2476500" cy="324000"/>
            </a:xfrm>
          </p:grpSpPr>
          <p:sp>
            <p:nvSpPr>
              <p:cNvPr id="646" name="Google Shape;646;p22"/>
              <p:cNvSpPr/>
              <p:nvPr/>
            </p:nvSpPr>
            <p:spPr>
              <a:xfrm>
                <a:off x="0" y="0"/>
                <a:ext cx="2476500" cy="324000"/>
              </a:xfrm>
              <a:prstGeom prst="roundRect">
                <a:avLst>
                  <a:gd name="adj" fmla="val 17647"/>
                </a:avLst>
              </a:prstGeom>
              <a:solidFill>
                <a:srgbClr val="000000">
                  <a:alpha val="0"/>
                </a:srgbClr>
              </a:solidFill>
              <a:ln w="477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47" name="Google Shape;647;p22"/>
              <p:cNvSpPr txBox="1"/>
              <p:nvPr/>
            </p:nvSpPr>
            <p:spPr>
              <a:xfrm>
                <a:off x="95250" y="0"/>
                <a:ext cx="762000" cy="3240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FFFFFF"/>
                    </a:solidFill>
                    <a:latin typeface="Poppins"/>
                    <a:ea typeface="Poppins"/>
                    <a:cs typeface="Poppins"/>
                    <a:sym typeface="Poppins"/>
                  </a:rPr>
                  <a:t>Pituitary</a:t>
                </a:r>
                <a:endParaRPr sz="850" b="1">
                  <a:solidFill>
                    <a:srgbClr val="FFFFFF"/>
                  </a:solidFill>
                  <a:latin typeface="Poppins"/>
                  <a:ea typeface="Poppins"/>
                  <a:cs typeface="Poppins"/>
                  <a:sym typeface="Poppins"/>
                </a:endParaRPr>
              </a:p>
            </p:txBody>
          </p:sp>
          <p:sp>
            <p:nvSpPr>
              <p:cNvPr id="648" name="Google Shape;648;p22"/>
              <p:cNvSpPr txBox="1"/>
              <p:nvPr/>
            </p:nvSpPr>
            <p:spPr>
              <a:xfrm>
                <a:off x="90487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1">
                    <a:solidFill>
                      <a:srgbClr val="00F2FE"/>
                    </a:solidFill>
                    <a:latin typeface="Poppins"/>
                    <a:ea typeface="Poppins"/>
                    <a:cs typeface="Poppins"/>
                    <a:sym typeface="Poppins"/>
                  </a:rPr>
                  <a:t>0.94</a:t>
                </a:r>
                <a:endParaRPr sz="850" b="1">
                  <a:solidFill>
                    <a:srgbClr val="00F2FE"/>
                  </a:solidFill>
                  <a:latin typeface="Poppins"/>
                  <a:ea typeface="Poppins"/>
                  <a:cs typeface="Poppins"/>
                  <a:sym typeface="Poppins"/>
                </a:endParaRPr>
              </a:p>
            </p:txBody>
          </p:sp>
          <p:sp>
            <p:nvSpPr>
              <p:cNvPr id="649" name="Google Shape;649;p22"/>
              <p:cNvSpPr txBox="1"/>
              <p:nvPr/>
            </p:nvSpPr>
            <p:spPr>
              <a:xfrm>
                <a:off x="1428750"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0.92</a:t>
                </a:r>
                <a:endParaRPr sz="850" b="0">
                  <a:solidFill>
                    <a:srgbClr val="FFFFFF"/>
                  </a:solidFill>
                  <a:latin typeface="Poppins Medium"/>
                  <a:ea typeface="Poppins Medium"/>
                  <a:cs typeface="Poppins Medium"/>
                  <a:sym typeface="Poppins Medium"/>
                </a:endParaRPr>
              </a:p>
            </p:txBody>
          </p:sp>
          <p:sp>
            <p:nvSpPr>
              <p:cNvPr id="650" name="Google Shape;650;p22"/>
              <p:cNvSpPr txBox="1"/>
              <p:nvPr/>
            </p:nvSpPr>
            <p:spPr>
              <a:xfrm>
                <a:off x="1952625" y="0"/>
                <a:ext cx="476400" cy="3240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0">
                    <a:solidFill>
                      <a:srgbClr val="FFFFFF"/>
                    </a:solidFill>
                    <a:latin typeface="Poppins Medium"/>
                    <a:ea typeface="Poppins Medium"/>
                    <a:cs typeface="Poppins Medium"/>
                    <a:sym typeface="Poppins Medium"/>
                  </a:rPr>
                  <a:t>0.93</a:t>
                </a:r>
                <a:endParaRPr sz="850" b="0">
                  <a:solidFill>
                    <a:srgbClr val="FFFFFF"/>
                  </a:solidFill>
                  <a:latin typeface="Poppins Medium"/>
                  <a:ea typeface="Poppins Medium"/>
                  <a:cs typeface="Poppins Medium"/>
                  <a:sym typeface="Poppins Medium"/>
                </a:endParaRPr>
              </a:p>
            </p:txBody>
          </p:sp>
        </p:grpSp>
        <p:grpSp>
          <p:nvGrpSpPr>
            <p:cNvPr id="651" name="Google Shape;651;p22"/>
            <p:cNvGrpSpPr/>
            <p:nvPr/>
          </p:nvGrpSpPr>
          <p:grpSpPr>
            <a:xfrm>
              <a:off x="142875" y="2381250"/>
              <a:ext cx="2476500" cy="619200"/>
              <a:chOff x="0" y="0"/>
              <a:chExt cx="2476500" cy="619200"/>
            </a:xfrm>
          </p:grpSpPr>
          <p:sp>
            <p:nvSpPr>
              <p:cNvPr id="652" name="Google Shape;652;p22"/>
              <p:cNvSpPr/>
              <p:nvPr/>
            </p:nvSpPr>
            <p:spPr>
              <a:xfrm>
                <a:off x="0" y="0"/>
                <a:ext cx="2476500" cy="619200"/>
              </a:xfrm>
              <a:prstGeom prst="roundRect">
                <a:avLst>
                  <a:gd name="adj" fmla="val 12307"/>
                </a:avLst>
              </a:prstGeom>
              <a:solidFill>
                <a:srgbClr val="091325"/>
              </a:solidFill>
              <a:ln w="9525" cap="flat" cmpd="sng">
                <a:solidFill>
                  <a:srgbClr val="334155"/>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3" name="Google Shape;653;p22"/>
              <p:cNvSpPr/>
              <p:nvPr/>
            </p:nvSpPr>
            <p:spPr>
              <a:xfrm>
                <a:off x="0" y="0"/>
                <a:ext cx="28500" cy="6192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4" name="Google Shape;654;p22"/>
              <p:cNvSpPr txBox="1"/>
              <p:nvPr/>
            </p:nvSpPr>
            <p:spPr>
              <a:xfrm>
                <a:off x="142875" y="0"/>
                <a:ext cx="22383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1">
                    <a:solidFill>
                      <a:srgbClr val="FFFFFF"/>
                    </a:solidFill>
                    <a:latin typeface="Poppins"/>
                    <a:ea typeface="Poppins"/>
                    <a:cs typeface="Poppins"/>
                    <a:sym typeface="Poppins"/>
                  </a:rPr>
                  <a:t>Continuous Optimization Loop</a:t>
                </a:r>
                <a:endParaRPr sz="740" b="1">
                  <a:solidFill>
                    <a:srgbClr val="FFFFFF"/>
                  </a:solidFill>
                  <a:latin typeface="Poppins"/>
                  <a:ea typeface="Poppins"/>
                  <a:cs typeface="Poppins"/>
                  <a:sym typeface="Poppins"/>
                </a:endParaRPr>
              </a:p>
              <a:p>
                <a:pPr marL="0" lvl="0" indent="0" algn="l" rtl="0">
                  <a:spcBef>
                    <a:spcPts val="150"/>
                  </a:spcBef>
                  <a:spcAft>
                    <a:spcPts val="0"/>
                  </a:spcAft>
                  <a:buNone/>
                </a:pPr>
                <a:r>
                  <a:rPr lang="en-GB" sz="700" b="0">
                    <a:solidFill>
                      <a:srgbClr val="94A3B8"/>
                    </a:solidFill>
                    <a:latin typeface="Poppins"/>
                    <a:ea typeface="Poppins"/>
                    <a:cs typeface="Poppins"/>
                    <a:sym typeface="Poppins"/>
                  </a:rPr>
                  <a:t>Evaluating classification parameters dynamically over cross-validated splits to reinforce robustness and identify fine-grained errors.</a:t>
                </a:r>
                <a:endParaRPr sz="700" b="0">
                  <a:solidFill>
                    <a:srgbClr val="94A3B8"/>
                  </a:solidFill>
                  <a:latin typeface="Poppins"/>
                  <a:ea typeface="Poppins"/>
                  <a:cs typeface="Poppins"/>
                  <a:sym typeface="Poppins"/>
                </a:endParaRPr>
              </a:p>
            </p:txBody>
          </p:sp>
        </p:grpSp>
      </p:grpSp>
      <p:grpSp>
        <p:nvGrpSpPr>
          <p:cNvPr id="655" name="Google Shape;655;p22"/>
          <p:cNvGrpSpPr/>
          <p:nvPr/>
        </p:nvGrpSpPr>
        <p:grpSpPr>
          <a:xfrm>
            <a:off x="6048375" y="904875"/>
            <a:ext cx="2667000" cy="3143325"/>
            <a:chOff x="0" y="0"/>
            <a:chExt cx="2667000" cy="3143325"/>
          </a:xfrm>
        </p:grpSpPr>
        <p:grpSp>
          <p:nvGrpSpPr>
            <p:cNvPr id="656" name="Google Shape;656;p22"/>
            <p:cNvGrpSpPr/>
            <p:nvPr/>
          </p:nvGrpSpPr>
          <p:grpSpPr>
            <a:xfrm>
              <a:off x="0" y="0"/>
              <a:ext cx="2667000" cy="495300"/>
              <a:chOff x="0" y="0"/>
              <a:chExt cx="2667000" cy="495300"/>
            </a:xfrm>
          </p:grpSpPr>
          <p:sp>
            <p:nvSpPr>
              <p:cNvPr id="657" name="Google Shape;657;p22"/>
              <p:cNvSpPr/>
              <p:nvPr/>
            </p:nvSpPr>
            <p:spPr>
              <a:xfrm>
                <a:off x="0" y="0"/>
                <a:ext cx="2667000" cy="495300"/>
              </a:xfrm>
              <a:prstGeom prst="roundRect">
                <a:avLst>
                  <a:gd name="adj" fmla="val 15384"/>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8" name="Google Shape;658;p22"/>
              <p:cNvSpPr/>
              <p:nvPr/>
            </p:nvSpPr>
            <p:spPr>
              <a:xfrm>
                <a:off x="0" y="0"/>
                <a:ext cx="28500" cy="4953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59" name="Google Shape;659;p22"/>
              <p:cNvSpPr txBox="1"/>
              <p:nvPr/>
            </p:nvSpPr>
            <p:spPr>
              <a:xfrm>
                <a:off x="142875" y="0"/>
                <a:ext cx="2381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1">
                    <a:solidFill>
                      <a:srgbClr val="10B981"/>
                    </a:solidFill>
                    <a:latin typeface="Poppins"/>
                    <a:ea typeface="Poppins"/>
                    <a:cs typeface="Poppins"/>
                    <a:sym typeface="Poppins"/>
                  </a:rPr>
                  <a:t>🟢</a:t>
                </a:r>
                <a:r>
                  <a:rPr lang="en-GB" sz="740" b="1">
                    <a:solidFill>
                      <a:srgbClr val="FFFFFF"/>
                    </a:solidFill>
                    <a:latin typeface="Poppins"/>
                    <a:ea typeface="Poppins"/>
                    <a:cs typeface="Poppins"/>
                    <a:sym typeface="Poppins"/>
                  </a:rPr>
                  <a:t> Best Performing Class: Pituitary</a:t>
                </a:r>
                <a:endParaRPr sz="740" b="1">
                  <a:solidFill>
                    <a:srgbClr val="FFFFFF"/>
                  </a:solidFill>
                  <a:latin typeface="Poppins"/>
                  <a:ea typeface="Poppins"/>
                  <a:cs typeface="Poppins"/>
                  <a:sym typeface="Poppins"/>
                </a:endParaRPr>
              </a:p>
              <a:p>
                <a:pPr marL="0" lvl="0" indent="0" algn="l" rtl="0">
                  <a:spcBef>
                    <a:spcPts val="150"/>
                  </a:spcBef>
                  <a:spcAft>
                    <a:spcPts val="0"/>
                  </a:spcAft>
                  <a:buNone/>
                </a:pPr>
                <a:r>
                  <a:rPr lang="en-GB" sz="700" b="0">
                    <a:solidFill>
                      <a:srgbClr val="94A3B8"/>
                    </a:solidFill>
                    <a:latin typeface="Poppins"/>
                    <a:ea typeface="Poppins"/>
                    <a:cs typeface="Poppins"/>
                    <a:sym typeface="Poppins"/>
                  </a:rPr>
                  <a:t>Exceptional diagnostic precision (</a:t>
                </a:r>
                <a:r>
                  <a:rPr lang="en-GB" sz="700" b="1">
                    <a:solidFill>
                      <a:srgbClr val="00F2FE"/>
                    </a:solidFill>
                    <a:latin typeface="Poppins"/>
                    <a:ea typeface="Poppins"/>
                    <a:cs typeface="Poppins"/>
                    <a:sym typeface="Poppins"/>
                  </a:rPr>
                  <a:t>0.94</a:t>
                </a:r>
                <a:r>
                  <a:rPr lang="en-GB" sz="700" b="0">
                    <a:solidFill>
                      <a:srgbClr val="94A3B8"/>
                    </a:solidFill>
                    <a:latin typeface="Poppins"/>
                    <a:ea typeface="Poppins"/>
                    <a:cs typeface="Poppins"/>
                    <a:sym typeface="Poppins"/>
                  </a:rPr>
                  <a:t>) and outstanding overall recall rate (</a:t>
                </a:r>
                <a:r>
                  <a:rPr lang="en-GB" sz="700" b="1">
                    <a:solidFill>
                      <a:srgbClr val="00F2FE"/>
                    </a:solidFill>
                    <a:latin typeface="Poppins"/>
                    <a:ea typeface="Poppins"/>
                    <a:cs typeface="Poppins"/>
                    <a:sym typeface="Poppins"/>
                  </a:rPr>
                  <a:t>0.92</a:t>
                </a:r>
                <a:r>
                  <a:rPr lang="en-GB" sz="700" b="0">
                    <a:solidFill>
                      <a:srgbClr val="94A3B8"/>
                    </a:solidFill>
                    <a:latin typeface="Poppins"/>
                    <a:ea typeface="Poppins"/>
                    <a:cs typeface="Poppins"/>
                    <a:sym typeface="Poppins"/>
                  </a:rPr>
                  <a:t>).</a:t>
                </a:r>
                <a:endParaRPr sz="700" b="0">
                  <a:solidFill>
                    <a:srgbClr val="94A3B8"/>
                  </a:solidFill>
                  <a:latin typeface="Poppins"/>
                  <a:ea typeface="Poppins"/>
                  <a:cs typeface="Poppins"/>
                  <a:sym typeface="Poppins"/>
                </a:endParaRPr>
              </a:p>
            </p:txBody>
          </p:sp>
        </p:grpSp>
        <p:grpSp>
          <p:nvGrpSpPr>
            <p:cNvPr id="660" name="Google Shape;660;p22"/>
            <p:cNvGrpSpPr/>
            <p:nvPr/>
          </p:nvGrpSpPr>
          <p:grpSpPr>
            <a:xfrm>
              <a:off x="0" y="561975"/>
              <a:ext cx="2667000" cy="495300"/>
              <a:chOff x="0" y="0"/>
              <a:chExt cx="2667000" cy="495300"/>
            </a:xfrm>
          </p:grpSpPr>
          <p:sp>
            <p:nvSpPr>
              <p:cNvPr id="661" name="Google Shape;661;p22"/>
              <p:cNvSpPr/>
              <p:nvPr/>
            </p:nvSpPr>
            <p:spPr>
              <a:xfrm>
                <a:off x="0" y="0"/>
                <a:ext cx="2667000" cy="495300"/>
              </a:xfrm>
              <a:prstGeom prst="roundRect">
                <a:avLst>
                  <a:gd name="adj" fmla="val 15384"/>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2" name="Google Shape;662;p22"/>
              <p:cNvSpPr/>
              <p:nvPr/>
            </p:nvSpPr>
            <p:spPr>
              <a:xfrm>
                <a:off x="0" y="0"/>
                <a:ext cx="28500" cy="4953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3" name="Google Shape;663;p22"/>
              <p:cNvSpPr txBox="1"/>
              <p:nvPr/>
            </p:nvSpPr>
            <p:spPr>
              <a:xfrm>
                <a:off x="142875" y="0"/>
                <a:ext cx="2381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1">
                    <a:solidFill>
                      <a:srgbClr val="10B981"/>
                    </a:solidFill>
                    <a:latin typeface="Poppins"/>
                    <a:ea typeface="Poppins"/>
                    <a:cs typeface="Poppins"/>
                    <a:sym typeface="Poppins"/>
                  </a:rPr>
                  <a:t>🟢</a:t>
                </a:r>
                <a:r>
                  <a:rPr lang="en-GB" sz="740" b="1">
                    <a:solidFill>
                      <a:srgbClr val="FFFFFF"/>
                    </a:solidFill>
                    <a:latin typeface="Poppins"/>
                    <a:ea typeface="Poppins"/>
                    <a:cs typeface="Poppins"/>
                    <a:sym typeface="Poppins"/>
                  </a:rPr>
                  <a:t> Highest Recall: No Tumor</a:t>
                </a:r>
                <a:endParaRPr sz="740" b="1">
                  <a:solidFill>
                    <a:srgbClr val="FFFFFF"/>
                  </a:solidFill>
                  <a:latin typeface="Poppins"/>
                  <a:ea typeface="Poppins"/>
                  <a:cs typeface="Poppins"/>
                  <a:sym typeface="Poppins"/>
                </a:endParaRPr>
              </a:p>
              <a:p>
                <a:pPr marL="0" lvl="0" indent="0" algn="l" rtl="0">
                  <a:spcBef>
                    <a:spcPts val="150"/>
                  </a:spcBef>
                  <a:spcAft>
                    <a:spcPts val="0"/>
                  </a:spcAft>
                  <a:buNone/>
                </a:pPr>
                <a:r>
                  <a:rPr lang="en-GB" sz="700" b="0">
                    <a:solidFill>
                      <a:srgbClr val="94A3B8"/>
                    </a:solidFill>
                    <a:latin typeface="Poppins"/>
                    <a:ea typeface="Poppins"/>
                    <a:cs typeface="Poppins"/>
                    <a:sym typeface="Poppins"/>
                  </a:rPr>
                  <a:t>Outstanding Recall = </a:t>
                </a:r>
                <a:r>
                  <a:rPr lang="en-GB" sz="700" b="1">
                    <a:solidFill>
                      <a:srgbClr val="00F2FE"/>
                    </a:solidFill>
                    <a:latin typeface="Poppins"/>
                    <a:ea typeface="Poppins"/>
                    <a:cs typeface="Poppins"/>
                    <a:sym typeface="Poppins"/>
                  </a:rPr>
                  <a:t>0.99</a:t>
                </a:r>
                <a:r>
                  <a:rPr lang="en-GB" sz="700" b="0">
                    <a:solidFill>
                      <a:srgbClr val="94A3B8"/>
                    </a:solidFill>
                    <a:latin typeface="Poppins"/>
                    <a:ea typeface="Poppins"/>
                    <a:cs typeface="Poppins"/>
                    <a:sym typeface="Poppins"/>
                  </a:rPr>
                  <a:t>. Practically every healthy control MRI scan was categorized perfectly.</a:t>
                </a:r>
                <a:endParaRPr sz="700" b="0">
                  <a:solidFill>
                    <a:srgbClr val="94A3B8"/>
                  </a:solidFill>
                  <a:latin typeface="Poppins"/>
                  <a:ea typeface="Poppins"/>
                  <a:cs typeface="Poppins"/>
                  <a:sym typeface="Poppins"/>
                </a:endParaRPr>
              </a:p>
            </p:txBody>
          </p:sp>
        </p:grpSp>
        <p:grpSp>
          <p:nvGrpSpPr>
            <p:cNvPr id="664" name="Google Shape;664;p22"/>
            <p:cNvGrpSpPr/>
            <p:nvPr/>
          </p:nvGrpSpPr>
          <p:grpSpPr>
            <a:xfrm>
              <a:off x="0" y="1123950"/>
              <a:ext cx="2667000" cy="495300"/>
              <a:chOff x="0" y="0"/>
              <a:chExt cx="2667000" cy="495300"/>
            </a:xfrm>
          </p:grpSpPr>
          <p:sp>
            <p:nvSpPr>
              <p:cNvPr id="665" name="Google Shape;665;p22"/>
              <p:cNvSpPr/>
              <p:nvPr/>
            </p:nvSpPr>
            <p:spPr>
              <a:xfrm>
                <a:off x="0" y="0"/>
                <a:ext cx="2667000" cy="495300"/>
              </a:xfrm>
              <a:prstGeom prst="roundRect">
                <a:avLst>
                  <a:gd name="adj" fmla="val 15384"/>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6" name="Google Shape;666;p22"/>
              <p:cNvSpPr/>
              <p:nvPr/>
            </p:nvSpPr>
            <p:spPr>
              <a:xfrm>
                <a:off x="0" y="0"/>
                <a:ext cx="28500" cy="4953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67" name="Google Shape;667;p22"/>
              <p:cNvSpPr txBox="1"/>
              <p:nvPr/>
            </p:nvSpPr>
            <p:spPr>
              <a:xfrm>
                <a:off x="142875" y="0"/>
                <a:ext cx="23814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1">
                    <a:solidFill>
                      <a:srgbClr val="F59E0B"/>
                    </a:solidFill>
                    <a:latin typeface="Poppins"/>
                    <a:ea typeface="Poppins"/>
                    <a:cs typeface="Poppins"/>
                    <a:sym typeface="Poppins"/>
                  </a:rPr>
                  <a:t>🟡</a:t>
                </a:r>
                <a:r>
                  <a:rPr lang="en-GB" sz="740" b="1">
                    <a:solidFill>
                      <a:srgbClr val="FFFFFF"/>
                    </a:solidFill>
                    <a:latin typeface="Poppins"/>
                    <a:ea typeface="Poppins"/>
                    <a:cs typeface="Poppins"/>
                    <a:sym typeface="Poppins"/>
                  </a:rPr>
                  <a:t> Most Challenging: Glioma</a:t>
                </a:r>
                <a:endParaRPr sz="740" b="1">
                  <a:solidFill>
                    <a:srgbClr val="FFFFFF"/>
                  </a:solidFill>
                  <a:latin typeface="Poppins"/>
                  <a:ea typeface="Poppins"/>
                  <a:cs typeface="Poppins"/>
                  <a:sym typeface="Poppins"/>
                </a:endParaRPr>
              </a:p>
              <a:p>
                <a:pPr marL="0" lvl="0" indent="0" algn="l" rtl="0">
                  <a:spcBef>
                    <a:spcPts val="150"/>
                  </a:spcBef>
                  <a:spcAft>
                    <a:spcPts val="0"/>
                  </a:spcAft>
                  <a:buNone/>
                </a:pPr>
                <a:r>
                  <a:rPr lang="en-GB" sz="700" b="0">
                    <a:solidFill>
                      <a:srgbClr val="94A3B8"/>
                    </a:solidFill>
                    <a:latin typeface="Poppins"/>
                    <a:ea typeface="Poppins"/>
                    <a:cs typeface="Poppins"/>
                    <a:sym typeface="Poppins"/>
                  </a:rPr>
                  <a:t>Recall drops to </a:t>
                </a:r>
                <a:r>
                  <a:rPr lang="en-GB" sz="700" b="1">
                    <a:solidFill>
                      <a:srgbClr val="F59E0B"/>
                    </a:solidFill>
                    <a:latin typeface="Poppins"/>
                    <a:ea typeface="Poppins"/>
                    <a:cs typeface="Poppins"/>
                    <a:sym typeface="Poppins"/>
                  </a:rPr>
                  <a:t>0.72</a:t>
                </a:r>
                <a:r>
                  <a:rPr lang="en-GB" sz="700" b="0">
                    <a:solidFill>
                      <a:srgbClr val="94A3B8"/>
                    </a:solidFill>
                    <a:latin typeface="Poppins"/>
                    <a:ea typeface="Poppins"/>
                    <a:cs typeface="Poppins"/>
                    <a:sym typeface="Poppins"/>
                  </a:rPr>
                  <a:t>. Highly prone to cross-category confusion due to visually identical margin patterns.</a:t>
                </a:r>
                <a:endParaRPr sz="700" b="0">
                  <a:solidFill>
                    <a:srgbClr val="94A3B8"/>
                  </a:solidFill>
                  <a:latin typeface="Poppins"/>
                  <a:ea typeface="Poppins"/>
                  <a:cs typeface="Poppins"/>
                  <a:sym typeface="Poppins"/>
                </a:endParaRPr>
              </a:p>
            </p:txBody>
          </p:sp>
        </p:grpSp>
        <p:grpSp>
          <p:nvGrpSpPr>
            <p:cNvPr id="668" name="Google Shape;668;p22"/>
            <p:cNvGrpSpPr/>
            <p:nvPr/>
          </p:nvGrpSpPr>
          <p:grpSpPr>
            <a:xfrm>
              <a:off x="0" y="1685925"/>
              <a:ext cx="2667000" cy="1457400"/>
              <a:chOff x="0" y="0"/>
              <a:chExt cx="2667000" cy="1457400"/>
            </a:xfrm>
          </p:grpSpPr>
          <p:sp>
            <p:nvSpPr>
              <p:cNvPr id="669" name="Google Shape;669;p22"/>
              <p:cNvSpPr/>
              <p:nvPr/>
            </p:nvSpPr>
            <p:spPr>
              <a:xfrm>
                <a:off x="0" y="0"/>
                <a:ext cx="2667000" cy="1457400"/>
              </a:xfrm>
              <a:prstGeom prst="roundRect">
                <a:avLst>
                  <a:gd name="adj" fmla="val 5228"/>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0" name="Google Shape;670;p22"/>
              <p:cNvSpPr/>
              <p:nvPr/>
            </p:nvSpPr>
            <p:spPr>
              <a:xfrm>
                <a:off x="0" y="0"/>
                <a:ext cx="28500" cy="14574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1" name="Google Shape;671;p22"/>
              <p:cNvSpPr txBox="1"/>
              <p:nvPr/>
            </p:nvSpPr>
            <p:spPr>
              <a:xfrm>
                <a:off x="142875" y="0"/>
                <a:ext cx="2381400" cy="1457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1">
                    <a:solidFill>
                      <a:srgbClr val="3B82F6"/>
                    </a:solidFill>
                    <a:latin typeface="Poppins"/>
                    <a:ea typeface="Poppins"/>
                    <a:cs typeface="Poppins"/>
                    <a:sym typeface="Poppins"/>
                  </a:rPr>
                  <a:t>🔵</a:t>
                </a:r>
                <a:r>
                  <a:rPr lang="en-GB" sz="740" b="1">
                    <a:solidFill>
                      <a:srgbClr val="00F2FE"/>
                    </a:solidFill>
                    <a:latin typeface="Poppins"/>
                    <a:ea typeface="Poppins"/>
                    <a:cs typeface="Poppins"/>
                    <a:sym typeface="Poppins"/>
                  </a:rPr>
                  <a:t> Diagnostic Matrix Value</a:t>
                </a:r>
                <a:endParaRPr sz="740" b="1">
                  <a:solidFill>
                    <a:srgbClr val="00F2FE"/>
                  </a:solidFill>
                  <a:latin typeface="Poppins"/>
                  <a:ea typeface="Poppins"/>
                  <a:cs typeface="Poppins"/>
                  <a:sym typeface="Poppins"/>
                </a:endParaRPr>
              </a:p>
              <a:p>
                <a:pPr marL="0" lvl="0" indent="0" algn="l" rtl="0">
                  <a:spcBef>
                    <a:spcPts val="375"/>
                  </a:spcBef>
                  <a:spcAft>
                    <a:spcPts val="0"/>
                  </a:spcAft>
                  <a:buNone/>
                </a:pPr>
                <a:r>
                  <a:rPr lang="en-GB" sz="700" b="0">
                    <a:solidFill>
                      <a:srgbClr val="94A3B8"/>
                    </a:solidFill>
                    <a:latin typeface="Poppins"/>
                    <a:ea typeface="Poppins"/>
                    <a:cs typeface="Poppins"/>
                    <a:sym typeface="Poppins"/>
                  </a:rPr>
                  <a:t>Standard test accuracy simply provides a high-level summary. The multi-class confusion matrix uncovers the specific error pathways:</a:t>
                </a:r>
                <a:endParaRPr sz="700" b="0">
                  <a:solidFill>
                    <a:srgbClr val="94A3B8"/>
                  </a:solidFill>
                  <a:latin typeface="Poppins"/>
                  <a:ea typeface="Poppins"/>
                  <a:cs typeface="Poppins"/>
                  <a:sym typeface="Poppins"/>
                </a:endParaRPr>
              </a:p>
              <a:p>
                <a:pPr marL="457200" lvl="0" indent="-273050" algn="l" rtl="0">
                  <a:spcBef>
                    <a:spcPts val="375"/>
                  </a:spcBef>
                  <a:spcAft>
                    <a:spcPts val="0"/>
                  </a:spcAft>
                  <a:buClr>
                    <a:srgbClr val="94A3B8"/>
                  </a:buClr>
                  <a:buSzPts val="700"/>
                  <a:buFont typeface="Poppins"/>
                  <a:buChar char="●"/>
                </a:pPr>
                <a:r>
                  <a:rPr lang="en-GB" sz="700" b="0">
                    <a:solidFill>
                      <a:srgbClr val="94A3B8"/>
                    </a:solidFill>
                    <a:latin typeface="Poppins"/>
                    <a:ea typeface="Poppins"/>
                    <a:cs typeface="Poppins"/>
                    <a:sym typeface="Poppins"/>
                  </a:rPr>
                  <a:t>Pinpoints exact tumor-type crossovers.</a:t>
                </a:r>
                <a:endParaRPr sz="700" b="0">
                  <a:solidFill>
                    <a:srgbClr val="94A3B8"/>
                  </a:solidFill>
                  <a:latin typeface="Poppins"/>
                  <a:ea typeface="Poppins"/>
                  <a:cs typeface="Poppins"/>
                  <a:sym typeface="Poppins"/>
                </a:endParaRPr>
              </a:p>
              <a:p>
                <a:pPr marL="457200" lvl="0" indent="-273050" algn="l" rtl="0">
                  <a:spcBef>
                    <a:spcPts val="0"/>
                  </a:spcBef>
                  <a:spcAft>
                    <a:spcPts val="0"/>
                  </a:spcAft>
                  <a:buClr>
                    <a:srgbClr val="94A3B8"/>
                  </a:buClr>
                  <a:buSzPts val="700"/>
                  <a:buFont typeface="Poppins"/>
                  <a:buChar char="●"/>
                </a:pPr>
                <a:r>
                  <a:rPr lang="en-GB" sz="700" b="0">
                    <a:solidFill>
                      <a:srgbClr val="94A3B8"/>
                    </a:solidFill>
                    <a:latin typeface="Poppins"/>
                    <a:ea typeface="Poppins"/>
                    <a:cs typeface="Poppins"/>
                    <a:sym typeface="Poppins"/>
                  </a:rPr>
                  <a:t>Reveals false-negative diagnostic risks.</a:t>
                </a:r>
                <a:endParaRPr sz="700" b="0">
                  <a:solidFill>
                    <a:srgbClr val="94A3B8"/>
                  </a:solidFill>
                  <a:latin typeface="Poppins"/>
                  <a:ea typeface="Poppins"/>
                  <a:cs typeface="Poppins"/>
                  <a:sym typeface="Poppins"/>
                </a:endParaRPr>
              </a:p>
              <a:p>
                <a:pPr marL="457200" lvl="0" indent="-273050" algn="l" rtl="0">
                  <a:spcBef>
                    <a:spcPts val="0"/>
                  </a:spcBef>
                  <a:spcAft>
                    <a:spcPts val="0"/>
                  </a:spcAft>
                  <a:buClr>
                    <a:srgbClr val="94A3B8"/>
                  </a:buClr>
                  <a:buSzPts val="700"/>
                  <a:buFont typeface="Poppins"/>
                  <a:buChar char="●"/>
                </a:pPr>
                <a:r>
                  <a:rPr lang="en-GB" sz="700" b="0">
                    <a:solidFill>
                      <a:srgbClr val="94A3B8"/>
                    </a:solidFill>
                    <a:latin typeface="Poppins"/>
                    <a:ea typeface="Poppins"/>
                    <a:cs typeface="Poppins"/>
                    <a:sym typeface="Poppins"/>
                  </a:rPr>
                  <a:t>Guides post-training loss weighting.</a:t>
                </a:r>
                <a:endParaRPr sz="700" b="0">
                  <a:solidFill>
                    <a:srgbClr val="94A3B8"/>
                  </a:solidFill>
                  <a:latin typeface="Poppins"/>
                  <a:ea typeface="Poppins"/>
                  <a:cs typeface="Poppins"/>
                  <a:sym typeface="Poppins"/>
                </a:endParaRPr>
              </a:p>
            </p:txBody>
          </p:sp>
        </p:grpSp>
      </p:grpSp>
      <p:grpSp>
        <p:nvGrpSpPr>
          <p:cNvPr id="672" name="Google Shape;672;p22"/>
          <p:cNvGrpSpPr/>
          <p:nvPr/>
        </p:nvGrpSpPr>
        <p:grpSpPr>
          <a:xfrm>
            <a:off x="428625" y="4191000"/>
            <a:ext cx="8286900" cy="495300"/>
            <a:chOff x="0" y="0"/>
            <a:chExt cx="8286900" cy="495300"/>
          </a:xfrm>
        </p:grpSpPr>
        <p:sp>
          <p:nvSpPr>
            <p:cNvPr id="673" name="Google Shape;673;p22"/>
            <p:cNvSpPr/>
            <p:nvPr/>
          </p:nvSpPr>
          <p:spPr>
            <a:xfrm>
              <a:off x="0" y="0"/>
              <a:ext cx="8286900" cy="495300"/>
            </a:xfrm>
            <a:prstGeom prst="roundRect">
              <a:avLst>
                <a:gd name="adj" fmla="val 15384"/>
              </a:avLst>
            </a:prstGeom>
            <a:solidFill>
              <a:srgbClr val="0F172A"/>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4" name="Google Shape;674;p22"/>
            <p:cNvSpPr/>
            <p:nvPr/>
          </p:nvSpPr>
          <p:spPr>
            <a:xfrm>
              <a:off x="0" y="0"/>
              <a:ext cx="38100" cy="4953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75" name="Google Shape;675;p22"/>
            <p:cNvSpPr txBox="1"/>
            <p:nvPr/>
          </p:nvSpPr>
          <p:spPr>
            <a:xfrm>
              <a:off x="142875" y="0"/>
              <a:ext cx="80010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Key Insight:</a:t>
              </a:r>
              <a:r>
                <a:rPr lang="en-GB" sz="750" b="0">
                  <a:solidFill>
                    <a:srgbClr val="E2E8F0"/>
                  </a:solidFill>
                  <a:latin typeface="Poppins"/>
                  <a:ea typeface="Poppins"/>
                  <a:cs typeface="Poppins"/>
                  <a:sym typeface="Poppins"/>
                </a:rPr>
                <a:t> The network generalizes remarkably well on normal tissue and pituitary cases, while the Glioma-Meningioma boundary remains the primary bottleneck due to histological and structural overlays. This deep diagnostic granularity is crucial for clinical integration.</a:t>
              </a:r>
              <a:endParaRPr sz="750" b="0">
                <a:solidFill>
                  <a:srgbClr val="E2E8F0"/>
                </a:solidFill>
                <a:latin typeface="Poppins"/>
                <a:ea typeface="Poppins"/>
                <a:cs typeface="Poppins"/>
                <a:sym typeface="Poppins"/>
              </a:endParaRPr>
            </a:p>
          </p:txBody>
        </p:sp>
      </p:grpSp>
      <p:grpSp>
        <p:nvGrpSpPr>
          <p:cNvPr id="676" name="Google Shape;676;p22"/>
          <p:cNvGrpSpPr/>
          <p:nvPr/>
        </p:nvGrpSpPr>
        <p:grpSpPr>
          <a:xfrm>
            <a:off x="428625" y="4857750"/>
            <a:ext cx="8286900" cy="190425"/>
            <a:chOff x="0" y="0"/>
            <a:chExt cx="8286900" cy="190425"/>
          </a:xfrm>
        </p:grpSpPr>
        <p:cxnSp>
          <p:nvCxnSpPr>
            <p:cNvPr id="677" name="Google Shape;677;p22"/>
            <p:cNvCxnSpPr/>
            <p:nvPr/>
          </p:nvCxnSpPr>
          <p:spPr>
            <a:xfrm>
              <a:off x="0" y="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678" name="Google Shape;678;p22"/>
            <p:cNvSpPr txBox="1"/>
            <p:nvPr/>
          </p:nvSpPr>
          <p:spPr>
            <a:xfrm>
              <a:off x="0" y="47625"/>
              <a:ext cx="38100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375" b="0">
                  <a:solidFill>
                    <a:srgbClr val="475569"/>
                  </a:solidFill>
                  <a:latin typeface="Poppins"/>
                  <a:ea typeface="Poppins"/>
                  <a:cs typeface="Poppins"/>
                  <a:sym typeface="Poppins"/>
                </a:rPr>
                <a:t>Department of Data Science &amp; Artificial Intelligence | Clinical AI Evaluation</a:t>
              </a:r>
              <a:endParaRPr sz="375" b="0">
                <a:solidFill>
                  <a:srgbClr val="475569"/>
                </a:solidFill>
                <a:latin typeface="Poppins"/>
                <a:ea typeface="Poppins"/>
                <a:cs typeface="Poppins"/>
                <a:sym typeface="Poppins"/>
              </a:endParaRPr>
            </a:p>
          </p:txBody>
        </p:sp>
        <p:sp>
          <p:nvSpPr>
            <p:cNvPr id="679" name="Google Shape;679;p22"/>
            <p:cNvSpPr txBox="1"/>
            <p:nvPr/>
          </p:nvSpPr>
          <p:spPr>
            <a:xfrm>
              <a:off x="6381750" y="47625"/>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375" b="0">
                  <a:solidFill>
                    <a:srgbClr val="00F2FE"/>
                  </a:solidFill>
                  <a:latin typeface="Poppins"/>
                  <a:ea typeface="Poppins"/>
                  <a:cs typeface="Poppins"/>
                  <a:sym typeface="Poppins"/>
                </a:rPr>
                <a:t>Presenter: Steve Emmanuel</a:t>
              </a:r>
              <a:endParaRPr sz="375" b="0">
                <a:solidFill>
                  <a:srgbClr val="00F2FE"/>
                </a:solidFill>
                <a:latin typeface="Poppins"/>
                <a:ea typeface="Poppins"/>
                <a:cs typeface="Poppins"/>
                <a:sym typeface="Poppi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83"/>
        <p:cNvGrpSpPr/>
        <p:nvPr/>
      </p:nvGrpSpPr>
      <p:grpSpPr>
        <a:xfrm>
          <a:off x="0" y="0"/>
          <a:ext cx="0" cy="0"/>
          <a:chOff x="0" y="0"/>
          <a:chExt cx="0" cy="0"/>
        </a:xfrm>
      </p:grpSpPr>
      <p:sp>
        <p:nvSpPr>
          <p:cNvPr id="684" name="Google Shape;684;p23"/>
          <p:cNvSpPr txBox="1"/>
          <p:nvPr/>
        </p:nvSpPr>
        <p:spPr>
          <a:xfrm>
            <a:off x="428625" y="238125"/>
            <a:ext cx="82869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Real-Time Prediction Pipeline</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850" b="0">
                <a:solidFill>
                  <a:srgbClr val="A5F3FC"/>
                </a:solidFill>
                <a:latin typeface="Poppins"/>
                <a:ea typeface="Poppins"/>
                <a:cs typeface="Poppins"/>
                <a:sym typeface="Poppins"/>
              </a:rPr>
              <a:t>How a new Brain MRI image is transformed into an AI prediction.</a:t>
            </a:r>
            <a:endParaRPr sz="850" b="0">
              <a:solidFill>
                <a:srgbClr val="A5F3FC"/>
              </a:solidFill>
              <a:latin typeface="Poppins"/>
              <a:ea typeface="Poppins"/>
              <a:cs typeface="Poppins"/>
              <a:sym typeface="Poppins"/>
            </a:endParaRPr>
          </a:p>
        </p:txBody>
      </p:sp>
      <p:grpSp>
        <p:nvGrpSpPr>
          <p:cNvPr id="685" name="Google Shape;685;p23"/>
          <p:cNvGrpSpPr/>
          <p:nvPr/>
        </p:nvGrpSpPr>
        <p:grpSpPr>
          <a:xfrm>
            <a:off x="428625" y="904875"/>
            <a:ext cx="1467000" cy="1428900"/>
            <a:chOff x="0" y="0"/>
            <a:chExt cx="1467000" cy="1428900"/>
          </a:xfrm>
        </p:grpSpPr>
        <p:sp>
          <p:nvSpPr>
            <p:cNvPr id="686" name="Google Shape;686;p23"/>
            <p:cNvSpPr/>
            <p:nvPr/>
          </p:nvSpPr>
          <p:spPr>
            <a:xfrm>
              <a:off x="0" y="0"/>
              <a:ext cx="1467000" cy="1428900"/>
            </a:xfrm>
            <a:prstGeom prst="roundRect">
              <a:avLst>
                <a:gd name="adj" fmla="val 8000"/>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687" name="Google Shape;687;p23"/>
            <p:cNvGrpSpPr/>
            <p:nvPr/>
          </p:nvGrpSpPr>
          <p:grpSpPr>
            <a:xfrm>
              <a:off x="114300" y="114300"/>
              <a:ext cx="1238400" cy="1104900"/>
              <a:chOff x="0" y="0"/>
              <a:chExt cx="1238400" cy="1104900"/>
            </a:xfrm>
          </p:grpSpPr>
          <p:sp>
            <p:nvSpPr>
              <p:cNvPr id="688" name="Google Shape;688;p23"/>
              <p:cNvSpPr txBox="1"/>
              <p:nvPr/>
            </p:nvSpPr>
            <p:spPr>
              <a:xfrm>
                <a:off x="0" y="0"/>
                <a:ext cx="12384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581" b="1">
                    <a:solidFill>
                      <a:srgbClr val="00F2FE"/>
                    </a:solidFill>
                    <a:latin typeface="Poppins"/>
                    <a:ea typeface="Poppins"/>
                    <a:cs typeface="Poppins"/>
                    <a:sym typeface="Poppins"/>
                  </a:rPr>
                  <a:t>STEP 01</a:t>
                </a:r>
                <a:endParaRPr sz="581" b="1">
                  <a:solidFill>
                    <a:srgbClr val="00F2FE"/>
                  </a:solidFill>
                  <a:latin typeface="Poppins"/>
                  <a:ea typeface="Poppins"/>
                  <a:cs typeface="Poppins"/>
                  <a:sym typeface="Poppins"/>
                </a:endParaRPr>
              </a:p>
              <a:p>
                <a:pPr marL="0" lvl="0" indent="0" algn="l" rtl="0">
                  <a:spcBef>
                    <a:spcPts val="150"/>
                  </a:spcBef>
                  <a:spcAft>
                    <a:spcPts val="300"/>
                  </a:spcAft>
                  <a:buNone/>
                </a:pPr>
                <a:r>
                  <a:rPr lang="en-GB" sz="800" b="0">
                    <a:solidFill>
                      <a:srgbClr val="FFFFFF"/>
                    </a:solidFill>
                    <a:latin typeface="Poppins SemiBold"/>
                    <a:ea typeface="Poppins SemiBold"/>
                    <a:cs typeface="Poppins SemiBold"/>
                    <a:sym typeface="Poppins SemiBold"/>
                  </a:rPr>
                  <a:t>Upload MRI</a:t>
                </a:r>
                <a:endParaRPr sz="800" b="0">
                  <a:solidFill>
                    <a:srgbClr val="FFFFFF"/>
                  </a:solidFill>
                  <a:latin typeface="Poppins SemiBold"/>
                  <a:ea typeface="Poppins SemiBold"/>
                  <a:cs typeface="Poppins SemiBold"/>
                  <a:sym typeface="Poppins SemiBold"/>
                </a:endParaRPr>
              </a:p>
            </p:txBody>
          </p:sp>
          <p:grpSp>
            <p:nvGrpSpPr>
              <p:cNvPr id="689" name="Google Shape;689;p23"/>
              <p:cNvGrpSpPr/>
              <p:nvPr/>
            </p:nvGrpSpPr>
            <p:grpSpPr>
              <a:xfrm>
                <a:off x="0" y="381000"/>
                <a:ext cx="1238250" cy="723900"/>
                <a:chOff x="0" y="0"/>
                <a:chExt cx="1238250" cy="723900"/>
              </a:xfrm>
            </p:grpSpPr>
            <p:pic>
              <p:nvPicPr>
                <p:cNvPr id="690" name="Google Shape;690;p23" descr="A realistic, professional brain MRI scan slice on black background, medical imaging style, high contrast diagnostic scan."/>
                <p:cNvPicPr preferRelativeResize="0"/>
                <p:nvPr/>
              </p:nvPicPr>
              <p:blipFill rotWithShape="1">
                <a:blip r:embed="rId4">
                  <a:alphaModFix/>
                </a:blip>
                <a:srcRect/>
                <a:stretch/>
              </p:blipFill>
              <p:spPr>
                <a:xfrm>
                  <a:off x="0" y="0"/>
                  <a:ext cx="723900" cy="723900"/>
                </a:xfrm>
                <a:prstGeom prst="roundRect">
                  <a:avLst>
                    <a:gd name="adj" fmla="val 13157"/>
                  </a:avLst>
                </a:prstGeom>
                <a:noFill/>
                <a:ln>
                  <a:noFill/>
                </a:ln>
              </p:spPr>
            </p:pic>
            <p:sp>
              <p:nvSpPr>
                <p:cNvPr id="691" name="Google Shape;691;p23"/>
                <p:cNvSpPr/>
                <p:nvPr/>
              </p:nvSpPr>
              <p:spPr>
                <a:xfrm>
                  <a:off x="0" y="0"/>
                  <a:ext cx="723900" cy="723900"/>
                </a:xfrm>
                <a:prstGeom prst="roundRect">
                  <a:avLst>
                    <a:gd name="adj" fmla="val 13157"/>
                  </a:avLst>
                </a:prstGeom>
                <a:solidFill>
                  <a:srgbClr val="000000">
                    <a:alpha val="0"/>
                  </a:srgbClr>
                </a:solidFill>
                <a:ln w="14300" cap="flat" cmpd="sng">
                  <a:solidFill>
                    <a:srgbClr val="00F2FE"/>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692" name="Google Shape;692;p23"/>
                <p:cNvGrpSpPr/>
                <p:nvPr/>
              </p:nvGrpSpPr>
              <p:grpSpPr>
                <a:xfrm>
                  <a:off x="819150" y="0"/>
                  <a:ext cx="419100" cy="723900"/>
                  <a:chOff x="0" y="0"/>
                  <a:chExt cx="419100" cy="723900"/>
                </a:xfrm>
              </p:grpSpPr>
              <p:sp>
                <p:nvSpPr>
                  <p:cNvPr id="693" name="Google Shape;693;p23"/>
                  <p:cNvSpPr/>
                  <p:nvPr/>
                </p:nvSpPr>
                <p:spPr>
                  <a:xfrm>
                    <a:off x="0" y="0"/>
                    <a:ext cx="419100" cy="723900"/>
                  </a:xfrm>
                  <a:prstGeom prst="roundRect">
                    <a:avLst>
                      <a:gd name="adj" fmla="val 18181"/>
                    </a:avLst>
                  </a:prstGeom>
                  <a:solidFill>
                    <a:srgbClr val="070F2B"/>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4" name="Google Shape;694;p23"/>
                  <p:cNvSpPr txBox="1"/>
                  <p:nvPr/>
                </p:nvSpPr>
                <p:spPr>
                  <a:xfrm>
                    <a:off x="38100" y="76200"/>
                    <a:ext cx="342900" cy="5715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504" b="1">
                        <a:solidFill>
                          <a:srgbClr val="00F2FE"/>
                        </a:solidFill>
                        <a:latin typeface="Poppins"/>
                        <a:ea typeface="Poppins"/>
                        <a:cs typeface="Poppins"/>
                        <a:sym typeface="Poppins"/>
                      </a:rPr>
                      <a:t>NEW</a:t>
                    </a:r>
                    <a:br>
                      <a:rPr lang="en-GB" sz="504">
                        <a:solidFill>
                          <a:srgbClr val="94A3B8"/>
                        </a:solidFill>
                        <a:latin typeface="Poppins"/>
                        <a:ea typeface="Poppins"/>
                        <a:cs typeface="Poppins"/>
                        <a:sym typeface="Poppins"/>
                      </a:rPr>
                    </a:br>
                    <a:r>
                      <a:rPr lang="en-GB" sz="504">
                        <a:solidFill>
                          <a:srgbClr val="94A3B8"/>
                        </a:solidFill>
                        <a:latin typeface="Poppins"/>
                        <a:ea typeface="Poppins"/>
                        <a:cs typeface="Poppins"/>
                        <a:sym typeface="Poppins"/>
                      </a:rPr>
                      <a:t>Patient</a:t>
                    </a:r>
                    <a:br>
                      <a:rPr lang="en-GB" sz="504">
                        <a:solidFill>
                          <a:srgbClr val="94A3B8"/>
                        </a:solidFill>
                        <a:latin typeface="Poppins"/>
                        <a:ea typeface="Poppins"/>
                        <a:cs typeface="Poppins"/>
                        <a:sym typeface="Poppins"/>
                      </a:rPr>
                    </a:br>
                    <a:r>
                      <a:rPr lang="en-GB" sz="504">
                        <a:solidFill>
                          <a:srgbClr val="94A3B8"/>
                        </a:solidFill>
                        <a:latin typeface="Poppins"/>
                        <a:ea typeface="Poppins"/>
                        <a:cs typeface="Poppins"/>
                        <a:sym typeface="Poppins"/>
                      </a:rPr>
                      <a:t>Scan</a:t>
                    </a:r>
                    <a:br>
                      <a:rPr lang="en-GB" sz="504">
                        <a:solidFill>
                          <a:srgbClr val="94A3B8"/>
                        </a:solidFill>
                        <a:latin typeface="Poppins"/>
                        <a:ea typeface="Poppins"/>
                        <a:cs typeface="Poppins"/>
                        <a:sym typeface="Poppins"/>
                      </a:rPr>
                    </a:br>
                    <a:r>
                      <a:rPr lang="en-GB" sz="504">
                        <a:solidFill>
                          <a:srgbClr val="94A3B8"/>
                        </a:solidFill>
                        <a:latin typeface="Poppins"/>
                        <a:ea typeface="Poppins"/>
                        <a:cs typeface="Poppins"/>
                        <a:sym typeface="Poppins"/>
                      </a:rPr>
                      <a:t>Loaded</a:t>
                    </a:r>
                    <a:endParaRPr sz="504">
                      <a:solidFill>
                        <a:srgbClr val="94A3B8"/>
                      </a:solidFill>
                      <a:latin typeface="Poppins"/>
                      <a:ea typeface="Poppins"/>
                      <a:cs typeface="Poppins"/>
                      <a:sym typeface="Poppins"/>
                    </a:endParaRPr>
                  </a:p>
                </p:txBody>
              </p:sp>
            </p:grpSp>
          </p:grpSp>
        </p:grpSp>
      </p:grpSp>
      <p:pic>
        <p:nvPicPr>
          <p:cNvPr id="695" name="Google Shape;695;p23"/>
          <p:cNvPicPr preferRelativeResize="0"/>
          <p:nvPr/>
        </p:nvPicPr>
        <p:blipFill rotWithShape="1">
          <a:blip r:embed="rId5">
            <a:alphaModFix/>
          </a:blip>
          <a:srcRect/>
          <a:stretch/>
        </p:blipFill>
        <p:spPr>
          <a:xfrm>
            <a:off x="2009775" y="1609725"/>
            <a:ext cx="190500" cy="19200"/>
          </a:xfrm>
          <a:prstGeom prst="rect">
            <a:avLst/>
          </a:prstGeom>
          <a:noFill/>
          <a:ln>
            <a:noFill/>
          </a:ln>
        </p:spPr>
      </p:pic>
      <p:pic>
        <p:nvPicPr>
          <p:cNvPr id="696" name="Google Shape;696;p23"/>
          <p:cNvPicPr preferRelativeResize="0"/>
          <p:nvPr/>
        </p:nvPicPr>
        <p:blipFill rotWithShape="1">
          <a:blip r:embed="rId6">
            <a:alphaModFix/>
          </a:blip>
          <a:srcRect/>
          <a:stretch/>
        </p:blipFill>
        <p:spPr>
          <a:xfrm>
            <a:off x="2200275" y="1590675"/>
            <a:ext cx="57300" cy="57300"/>
          </a:xfrm>
          <a:prstGeom prst="rect">
            <a:avLst/>
          </a:prstGeom>
          <a:noFill/>
          <a:ln>
            <a:noFill/>
          </a:ln>
        </p:spPr>
      </p:pic>
      <p:grpSp>
        <p:nvGrpSpPr>
          <p:cNvPr id="697" name="Google Shape;697;p23"/>
          <p:cNvGrpSpPr/>
          <p:nvPr/>
        </p:nvGrpSpPr>
        <p:grpSpPr>
          <a:xfrm>
            <a:off x="2371725" y="904875"/>
            <a:ext cx="1467000" cy="1428900"/>
            <a:chOff x="0" y="0"/>
            <a:chExt cx="1467000" cy="1428900"/>
          </a:xfrm>
        </p:grpSpPr>
        <p:sp>
          <p:nvSpPr>
            <p:cNvPr id="698" name="Google Shape;698;p23"/>
            <p:cNvSpPr/>
            <p:nvPr/>
          </p:nvSpPr>
          <p:spPr>
            <a:xfrm>
              <a:off x="0" y="0"/>
              <a:ext cx="1467000" cy="1428900"/>
            </a:xfrm>
            <a:prstGeom prst="roundRect">
              <a:avLst>
                <a:gd name="adj" fmla="val 8000"/>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699" name="Google Shape;699;p23"/>
            <p:cNvSpPr txBox="1"/>
            <p:nvPr/>
          </p:nvSpPr>
          <p:spPr>
            <a:xfrm>
              <a:off x="114300" y="114300"/>
              <a:ext cx="1238400" cy="1200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581" b="1">
                  <a:solidFill>
                    <a:srgbClr val="00F2FE"/>
                  </a:solidFill>
                  <a:latin typeface="Poppins"/>
                  <a:ea typeface="Poppins"/>
                  <a:cs typeface="Poppins"/>
                  <a:sym typeface="Poppins"/>
                </a:rPr>
                <a:t>STEP 02</a:t>
              </a:r>
              <a:endParaRPr sz="581" b="1">
                <a:solidFill>
                  <a:srgbClr val="00F2FE"/>
                </a:solidFill>
                <a:latin typeface="Poppins"/>
                <a:ea typeface="Poppins"/>
                <a:cs typeface="Poppins"/>
                <a:sym typeface="Poppins"/>
              </a:endParaRPr>
            </a:p>
            <a:p>
              <a:pPr marL="0" lvl="0" indent="0" algn="l" rtl="0">
                <a:spcBef>
                  <a:spcPts val="150"/>
                </a:spcBef>
                <a:spcAft>
                  <a:spcPts val="0"/>
                </a:spcAft>
                <a:buNone/>
              </a:pPr>
              <a:r>
                <a:rPr lang="en-GB" sz="800" b="0">
                  <a:solidFill>
                    <a:srgbClr val="FFFFFF"/>
                  </a:solidFill>
                  <a:latin typeface="Poppins SemiBold"/>
                  <a:ea typeface="Poppins SemiBold"/>
                  <a:cs typeface="Poppins SemiBold"/>
                  <a:sym typeface="Poppins SemiBold"/>
                </a:rPr>
                <a:t>Preprocessing</a:t>
              </a:r>
              <a:endParaRPr sz="800" b="0">
                <a:solidFill>
                  <a:srgbClr val="FFFFFF"/>
                </a:solidFill>
                <a:latin typeface="Poppins SemiBold"/>
                <a:ea typeface="Poppins SemiBold"/>
                <a:cs typeface="Poppins SemiBold"/>
                <a:sym typeface="Poppins SemiBold"/>
              </a:endParaRPr>
            </a:p>
            <a:p>
              <a:pPr marL="0" lvl="0" indent="0" algn="l" rtl="0">
                <a:spcBef>
                  <a:spcPts val="300"/>
                </a:spcBef>
                <a:spcAft>
                  <a:spcPts val="0"/>
                </a:spcAft>
                <a:buNone/>
              </a:pPr>
              <a:r>
                <a:rPr lang="en-GB" sz="700" b="0">
                  <a:solidFill>
                    <a:srgbClr val="94A3B8"/>
                  </a:solidFill>
                  <a:latin typeface="Poppins"/>
                  <a:ea typeface="Poppins"/>
                  <a:cs typeface="Poppins"/>
                  <a:sym typeface="Poppins"/>
                </a:rPr>
                <a:t>Raw MRI signals are standardized dynamically.</a:t>
              </a:r>
              <a:endParaRPr sz="700" b="0">
                <a:solidFill>
                  <a:srgbClr val="94A3B8"/>
                </a:solidFill>
                <a:latin typeface="Poppins"/>
                <a:ea typeface="Poppins"/>
                <a:cs typeface="Poppins"/>
                <a:sym typeface="Poppins"/>
              </a:endParaRPr>
            </a:p>
            <a:p>
              <a:pPr marL="0" lvl="0" indent="0" algn="l" rtl="0">
                <a:spcBef>
                  <a:spcPts val="600"/>
                </a:spcBef>
                <a:spcAft>
                  <a:spcPts val="0"/>
                </a:spcAft>
                <a:buNone/>
              </a:pPr>
              <a:r>
                <a:rPr lang="en-GB" sz="700" b="0">
                  <a:solidFill>
                    <a:srgbClr val="FFFFFF"/>
                  </a:solidFill>
                  <a:latin typeface="Poppins SemiBold"/>
                  <a:ea typeface="Poppins SemiBold"/>
                  <a:cs typeface="Poppins SemiBold"/>
                  <a:sym typeface="Poppins SemiBold"/>
                </a:rPr>
                <a:t>⚡ Real-Time Array</a:t>
              </a:r>
              <a:endParaRPr sz="700" b="0">
                <a:solidFill>
                  <a:srgbClr val="FFFFFF"/>
                </a:solidFill>
                <a:latin typeface="Poppins SemiBold"/>
                <a:ea typeface="Poppins SemiBold"/>
                <a:cs typeface="Poppins SemiBold"/>
                <a:sym typeface="Poppins SemiBold"/>
              </a:endParaRPr>
            </a:p>
            <a:p>
              <a:pPr marL="0" lvl="0" indent="0" algn="l" rtl="0">
                <a:spcBef>
                  <a:spcPts val="300"/>
                </a:spcBef>
                <a:spcAft>
                  <a:spcPts val="0"/>
                </a:spcAft>
                <a:buNone/>
              </a:pPr>
              <a:r>
                <a:rPr lang="en-GB" sz="504" b="0">
                  <a:solidFill>
                    <a:srgbClr val="00F2FE"/>
                  </a:solidFill>
                  <a:latin typeface="Arial"/>
                  <a:ea typeface="Arial"/>
                  <a:cs typeface="Arial"/>
                  <a:sym typeface="Arial"/>
                </a:rPr>
                <a:t>• Resize: 224×224</a:t>
              </a:r>
              <a:br>
                <a:rPr lang="en-GB" sz="504" b="0">
                  <a:solidFill>
                    <a:srgbClr val="00F2FE"/>
                  </a:solidFill>
                  <a:latin typeface="Arial"/>
                  <a:ea typeface="Arial"/>
                  <a:cs typeface="Arial"/>
                  <a:sym typeface="Arial"/>
                </a:rPr>
              </a:br>
              <a:r>
                <a:rPr lang="en-GB" sz="504" b="0">
                  <a:solidFill>
                    <a:srgbClr val="00F2FE"/>
                  </a:solidFill>
                  <a:latin typeface="Arial"/>
                  <a:ea typeface="Arial"/>
                  <a:cs typeface="Arial"/>
                  <a:sym typeface="Arial"/>
                </a:rPr>
                <a:t>• Normalization [0,1]</a:t>
              </a:r>
              <a:endParaRPr sz="504" b="0">
                <a:solidFill>
                  <a:srgbClr val="00F2FE"/>
                </a:solidFill>
                <a:latin typeface="Arial"/>
                <a:ea typeface="Arial"/>
                <a:cs typeface="Arial"/>
                <a:sym typeface="Arial"/>
              </a:endParaRPr>
            </a:p>
          </p:txBody>
        </p:sp>
      </p:grpSp>
      <p:pic>
        <p:nvPicPr>
          <p:cNvPr id="700" name="Google Shape;700;p23"/>
          <p:cNvPicPr preferRelativeResize="0"/>
          <p:nvPr/>
        </p:nvPicPr>
        <p:blipFill rotWithShape="1">
          <a:blip r:embed="rId5">
            <a:alphaModFix/>
          </a:blip>
          <a:srcRect/>
          <a:stretch/>
        </p:blipFill>
        <p:spPr>
          <a:xfrm>
            <a:off x="3952875" y="1609725"/>
            <a:ext cx="190500" cy="19200"/>
          </a:xfrm>
          <a:prstGeom prst="rect">
            <a:avLst/>
          </a:prstGeom>
          <a:noFill/>
          <a:ln>
            <a:noFill/>
          </a:ln>
        </p:spPr>
      </p:pic>
      <p:pic>
        <p:nvPicPr>
          <p:cNvPr id="701" name="Google Shape;701;p23"/>
          <p:cNvPicPr preferRelativeResize="0"/>
          <p:nvPr/>
        </p:nvPicPr>
        <p:blipFill rotWithShape="1">
          <a:blip r:embed="rId6">
            <a:alphaModFix/>
          </a:blip>
          <a:srcRect/>
          <a:stretch/>
        </p:blipFill>
        <p:spPr>
          <a:xfrm>
            <a:off x="4143375" y="1590675"/>
            <a:ext cx="57300" cy="57300"/>
          </a:xfrm>
          <a:prstGeom prst="rect">
            <a:avLst/>
          </a:prstGeom>
          <a:noFill/>
          <a:ln>
            <a:noFill/>
          </a:ln>
        </p:spPr>
      </p:pic>
      <p:grpSp>
        <p:nvGrpSpPr>
          <p:cNvPr id="702" name="Google Shape;702;p23"/>
          <p:cNvGrpSpPr/>
          <p:nvPr/>
        </p:nvGrpSpPr>
        <p:grpSpPr>
          <a:xfrm>
            <a:off x="4314825" y="904875"/>
            <a:ext cx="1467000" cy="1428900"/>
            <a:chOff x="0" y="0"/>
            <a:chExt cx="1467000" cy="1428900"/>
          </a:xfrm>
        </p:grpSpPr>
        <p:sp>
          <p:nvSpPr>
            <p:cNvPr id="703" name="Google Shape;703;p23"/>
            <p:cNvSpPr/>
            <p:nvPr/>
          </p:nvSpPr>
          <p:spPr>
            <a:xfrm>
              <a:off x="0" y="0"/>
              <a:ext cx="1467000" cy="1428900"/>
            </a:xfrm>
            <a:prstGeom prst="roundRect">
              <a:avLst>
                <a:gd name="adj" fmla="val 8000"/>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nvGrpSpPr>
            <p:cNvPr id="704" name="Google Shape;704;p23"/>
            <p:cNvGrpSpPr/>
            <p:nvPr/>
          </p:nvGrpSpPr>
          <p:grpSpPr>
            <a:xfrm>
              <a:off x="114300" y="114300"/>
              <a:ext cx="1238400" cy="1200300"/>
              <a:chOff x="0" y="0"/>
              <a:chExt cx="1238400" cy="1200300"/>
            </a:xfrm>
          </p:grpSpPr>
          <p:sp>
            <p:nvSpPr>
              <p:cNvPr id="705" name="Google Shape;705;p23"/>
              <p:cNvSpPr txBox="1"/>
              <p:nvPr/>
            </p:nvSpPr>
            <p:spPr>
              <a:xfrm>
                <a:off x="0" y="0"/>
                <a:ext cx="1238400" cy="333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581" b="1">
                    <a:solidFill>
                      <a:srgbClr val="00F2FE"/>
                    </a:solidFill>
                    <a:latin typeface="Poppins"/>
                    <a:ea typeface="Poppins"/>
                    <a:cs typeface="Poppins"/>
                    <a:sym typeface="Poppins"/>
                  </a:rPr>
                  <a:t>STEP 03</a:t>
                </a:r>
                <a:endParaRPr sz="581" b="1">
                  <a:solidFill>
                    <a:srgbClr val="00F2FE"/>
                  </a:solidFill>
                  <a:latin typeface="Poppins"/>
                  <a:ea typeface="Poppins"/>
                  <a:cs typeface="Poppins"/>
                  <a:sym typeface="Poppins"/>
                </a:endParaRPr>
              </a:p>
              <a:p>
                <a:pPr marL="0" lvl="0" indent="0" algn="l" rtl="0">
                  <a:spcBef>
                    <a:spcPts val="150"/>
                  </a:spcBef>
                  <a:spcAft>
                    <a:spcPts val="300"/>
                  </a:spcAft>
                  <a:buNone/>
                </a:pPr>
                <a:r>
                  <a:rPr lang="en-GB" sz="800" b="0">
                    <a:solidFill>
                      <a:srgbClr val="FFFFFF"/>
                    </a:solidFill>
                    <a:latin typeface="Poppins SemiBold"/>
                    <a:ea typeface="Poppins SemiBold"/>
                    <a:cs typeface="Poppins SemiBold"/>
                    <a:sym typeface="Poppins SemiBold"/>
                  </a:rPr>
                  <a:t>Trained CNN</a:t>
                </a:r>
                <a:endParaRPr sz="800" b="0">
                  <a:solidFill>
                    <a:srgbClr val="FFFFFF"/>
                  </a:solidFill>
                  <a:latin typeface="Poppins SemiBold"/>
                  <a:ea typeface="Poppins SemiBold"/>
                  <a:cs typeface="Poppins SemiBold"/>
                  <a:sym typeface="Poppins SemiBold"/>
                </a:endParaRPr>
              </a:p>
            </p:txBody>
          </p:sp>
          <p:grpSp>
            <p:nvGrpSpPr>
              <p:cNvPr id="706" name="Google Shape;706;p23"/>
              <p:cNvGrpSpPr/>
              <p:nvPr/>
            </p:nvGrpSpPr>
            <p:grpSpPr>
              <a:xfrm>
                <a:off x="0" y="381000"/>
                <a:ext cx="1238400" cy="819300"/>
                <a:chOff x="0" y="0"/>
                <a:chExt cx="1238400" cy="819300"/>
              </a:xfrm>
            </p:grpSpPr>
            <p:pic>
              <p:nvPicPr>
                <p:cNvPr id="707" name="Google Shape;707;p23" descr="A glowing cyan neural network architecture with nodes and connections, deep learning concept, dark tech background."/>
                <p:cNvPicPr preferRelativeResize="0"/>
                <p:nvPr/>
              </p:nvPicPr>
              <p:blipFill rotWithShape="1">
                <a:blip r:embed="rId7">
                  <a:alphaModFix/>
                </a:blip>
                <a:srcRect t="16925" r="41538" b="24613"/>
                <a:stretch/>
              </p:blipFill>
              <p:spPr>
                <a:xfrm>
                  <a:off x="0" y="0"/>
                  <a:ext cx="723900" cy="723900"/>
                </a:xfrm>
                <a:prstGeom prst="roundRect">
                  <a:avLst>
                    <a:gd name="adj" fmla="val 13157"/>
                  </a:avLst>
                </a:prstGeom>
                <a:noFill/>
                <a:ln>
                  <a:noFill/>
                </a:ln>
              </p:spPr>
            </p:pic>
            <p:sp>
              <p:nvSpPr>
                <p:cNvPr id="708" name="Google Shape;708;p23"/>
                <p:cNvSpPr/>
                <p:nvPr/>
              </p:nvSpPr>
              <p:spPr>
                <a:xfrm>
                  <a:off x="0" y="0"/>
                  <a:ext cx="1238400" cy="819300"/>
                </a:xfrm>
                <a:prstGeom prst="roundRect">
                  <a:avLst>
                    <a:gd name="adj" fmla="val 11627"/>
                  </a:avLst>
                </a:prstGeom>
                <a:solidFill>
                  <a:srgbClr val="000000">
                    <a:alpha val="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grpSp>
        </p:grpSp>
      </p:grpSp>
      <p:pic>
        <p:nvPicPr>
          <p:cNvPr id="709" name="Google Shape;709;p23"/>
          <p:cNvPicPr preferRelativeResize="0"/>
          <p:nvPr/>
        </p:nvPicPr>
        <p:blipFill rotWithShape="1">
          <a:blip r:embed="rId5">
            <a:alphaModFix/>
          </a:blip>
          <a:srcRect/>
          <a:stretch/>
        </p:blipFill>
        <p:spPr>
          <a:xfrm>
            <a:off x="5895975" y="1609725"/>
            <a:ext cx="190500" cy="19200"/>
          </a:xfrm>
          <a:prstGeom prst="rect">
            <a:avLst/>
          </a:prstGeom>
          <a:noFill/>
          <a:ln>
            <a:noFill/>
          </a:ln>
        </p:spPr>
      </p:pic>
      <p:pic>
        <p:nvPicPr>
          <p:cNvPr id="710" name="Google Shape;710;p23"/>
          <p:cNvPicPr preferRelativeResize="0"/>
          <p:nvPr/>
        </p:nvPicPr>
        <p:blipFill rotWithShape="1">
          <a:blip r:embed="rId6">
            <a:alphaModFix/>
          </a:blip>
          <a:srcRect/>
          <a:stretch/>
        </p:blipFill>
        <p:spPr>
          <a:xfrm>
            <a:off x="6086475" y="1590675"/>
            <a:ext cx="57300" cy="57300"/>
          </a:xfrm>
          <a:prstGeom prst="rect">
            <a:avLst/>
          </a:prstGeom>
          <a:noFill/>
          <a:ln>
            <a:noFill/>
          </a:ln>
        </p:spPr>
      </p:pic>
      <p:grpSp>
        <p:nvGrpSpPr>
          <p:cNvPr id="711" name="Google Shape;711;p23"/>
          <p:cNvGrpSpPr/>
          <p:nvPr/>
        </p:nvGrpSpPr>
        <p:grpSpPr>
          <a:xfrm>
            <a:off x="6257925" y="904875"/>
            <a:ext cx="1467000" cy="1428900"/>
            <a:chOff x="0" y="0"/>
            <a:chExt cx="1467000" cy="1428900"/>
          </a:xfrm>
        </p:grpSpPr>
        <p:sp>
          <p:nvSpPr>
            <p:cNvPr id="712" name="Google Shape;712;p23"/>
            <p:cNvSpPr/>
            <p:nvPr/>
          </p:nvSpPr>
          <p:spPr>
            <a:xfrm>
              <a:off x="0" y="0"/>
              <a:ext cx="1467000" cy="1428900"/>
            </a:xfrm>
            <a:prstGeom prst="roundRect">
              <a:avLst>
                <a:gd name="adj" fmla="val 8000"/>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3" name="Google Shape;713;p23"/>
            <p:cNvSpPr txBox="1"/>
            <p:nvPr/>
          </p:nvSpPr>
          <p:spPr>
            <a:xfrm>
              <a:off x="114300" y="114300"/>
              <a:ext cx="1238400" cy="1238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581" b="1">
                  <a:solidFill>
                    <a:srgbClr val="00F2FE"/>
                  </a:solidFill>
                  <a:latin typeface="Poppins"/>
                  <a:ea typeface="Poppins"/>
                  <a:cs typeface="Poppins"/>
                  <a:sym typeface="Poppins"/>
                </a:rPr>
                <a:t>STEP 04</a:t>
              </a:r>
              <a:endParaRPr sz="581" b="1">
                <a:solidFill>
                  <a:srgbClr val="00F2FE"/>
                </a:solidFill>
                <a:latin typeface="Poppins"/>
                <a:ea typeface="Poppins"/>
                <a:cs typeface="Poppins"/>
                <a:sym typeface="Poppins"/>
              </a:endParaRPr>
            </a:p>
            <a:p>
              <a:pPr marL="0" lvl="0" indent="0" algn="l" rtl="0">
                <a:spcBef>
                  <a:spcPts val="150"/>
                </a:spcBef>
                <a:spcAft>
                  <a:spcPts val="0"/>
                </a:spcAft>
                <a:buNone/>
              </a:pPr>
              <a:r>
                <a:rPr lang="en-GB" sz="800" b="0">
                  <a:solidFill>
                    <a:srgbClr val="FFFFFF"/>
                  </a:solidFill>
                  <a:latin typeface="Poppins SemiBold"/>
                  <a:ea typeface="Poppins SemiBold"/>
                  <a:cs typeface="Poppins SemiBold"/>
                  <a:sym typeface="Poppins SemiBold"/>
                </a:rPr>
                <a:t>Softmax Output</a:t>
              </a:r>
              <a:endParaRPr sz="800" b="0">
                <a:solidFill>
                  <a:srgbClr val="FFFFFF"/>
                </a:solidFill>
                <a:latin typeface="Poppins SemiBold"/>
                <a:ea typeface="Poppins SemiBold"/>
                <a:cs typeface="Poppins SemiBold"/>
                <a:sym typeface="Poppins SemiBold"/>
              </a:endParaRPr>
            </a:p>
            <a:p>
              <a:pPr marL="0" lvl="0" indent="0" algn="l" rtl="0">
                <a:spcBef>
                  <a:spcPts val="450"/>
                </a:spcBef>
                <a:spcAft>
                  <a:spcPts val="0"/>
                </a:spcAft>
                <a:buNone/>
              </a:pPr>
              <a:r>
                <a:rPr lang="en-GB" sz="504" b="0">
                  <a:solidFill>
                    <a:srgbClr val="94A3B8"/>
                  </a:solidFill>
                  <a:latin typeface="Poppins Medium"/>
                  <a:ea typeface="Poppins Medium"/>
                  <a:cs typeface="Poppins Medium"/>
                  <a:sym typeface="Poppins Medium"/>
                </a:rPr>
                <a:t>Glioma</a:t>
              </a:r>
              <a:r>
                <a:rPr lang="en-GB" sz="504" b="1">
                  <a:solidFill>
                    <a:srgbClr val="FFFFFF"/>
                  </a:solidFill>
                  <a:latin typeface="Poppins"/>
                  <a:ea typeface="Poppins"/>
                  <a:cs typeface="Poppins"/>
                  <a:sym typeface="Poppins"/>
                </a:rPr>
                <a:t>0.3%</a:t>
              </a:r>
              <a:endParaRPr sz="581" b="1">
                <a:solidFill>
                  <a:srgbClr val="00F2FE"/>
                </a:solidFill>
                <a:latin typeface="Poppins"/>
                <a:ea typeface="Poppins"/>
                <a:cs typeface="Poppins"/>
                <a:sym typeface="Poppins"/>
              </a:endParaRPr>
            </a:p>
            <a:p>
              <a:pPr marL="0" lvl="0" indent="0" algn="l" rtl="0">
                <a:spcBef>
                  <a:spcPts val="300"/>
                </a:spcBef>
                <a:spcAft>
                  <a:spcPts val="0"/>
                </a:spcAft>
                <a:buNone/>
              </a:pPr>
              <a:r>
                <a:rPr lang="en-GB" sz="504" b="0">
                  <a:solidFill>
                    <a:srgbClr val="94A3B8"/>
                  </a:solidFill>
                  <a:latin typeface="Poppins Medium"/>
                  <a:ea typeface="Poppins Medium"/>
                  <a:cs typeface="Poppins Medium"/>
                  <a:sym typeface="Poppins Medium"/>
                </a:rPr>
                <a:t>Meningioma</a:t>
              </a:r>
              <a:r>
                <a:rPr lang="en-GB" sz="504" b="1">
                  <a:solidFill>
                    <a:srgbClr val="FFFFFF"/>
                  </a:solidFill>
                  <a:latin typeface="Poppins"/>
                  <a:ea typeface="Poppins"/>
                  <a:cs typeface="Poppins"/>
                  <a:sym typeface="Poppins"/>
                </a:rPr>
                <a:t>0.5%</a:t>
              </a:r>
              <a:endParaRPr sz="581" b="1">
                <a:solidFill>
                  <a:srgbClr val="00F2FE"/>
                </a:solidFill>
                <a:latin typeface="Poppins"/>
                <a:ea typeface="Poppins"/>
                <a:cs typeface="Poppins"/>
                <a:sym typeface="Poppins"/>
              </a:endParaRPr>
            </a:p>
            <a:p>
              <a:pPr marL="0" lvl="0" indent="0" algn="l" rtl="0">
                <a:spcBef>
                  <a:spcPts val="300"/>
                </a:spcBef>
                <a:spcAft>
                  <a:spcPts val="0"/>
                </a:spcAft>
                <a:buNone/>
              </a:pPr>
              <a:r>
                <a:rPr lang="en-GB" sz="504" b="0">
                  <a:solidFill>
                    <a:srgbClr val="94A3B8"/>
                  </a:solidFill>
                  <a:latin typeface="Poppins Medium"/>
                  <a:ea typeface="Poppins Medium"/>
                  <a:cs typeface="Poppins Medium"/>
                  <a:sym typeface="Poppins Medium"/>
                </a:rPr>
                <a:t>Pituitary</a:t>
              </a:r>
              <a:r>
                <a:rPr lang="en-GB" sz="504" b="1">
                  <a:solidFill>
                    <a:srgbClr val="FFFFFF"/>
                  </a:solidFill>
                  <a:latin typeface="Poppins"/>
                  <a:ea typeface="Poppins"/>
                  <a:cs typeface="Poppins"/>
                  <a:sym typeface="Poppins"/>
                </a:rPr>
                <a:t>0.2%</a:t>
              </a:r>
              <a:endParaRPr sz="581" b="1">
                <a:solidFill>
                  <a:srgbClr val="00F2FE"/>
                </a:solidFill>
                <a:latin typeface="Poppins"/>
                <a:ea typeface="Poppins"/>
                <a:cs typeface="Poppins"/>
                <a:sym typeface="Poppins"/>
              </a:endParaRPr>
            </a:p>
            <a:p>
              <a:pPr marL="0" lvl="0" indent="0" algn="l" rtl="0">
                <a:spcBef>
                  <a:spcPts val="300"/>
                </a:spcBef>
                <a:spcAft>
                  <a:spcPts val="0"/>
                </a:spcAft>
                <a:buNone/>
              </a:pPr>
              <a:r>
                <a:rPr lang="en-GB" sz="504" b="1">
                  <a:solidFill>
                    <a:srgbClr val="10B981"/>
                  </a:solidFill>
                  <a:latin typeface="Poppins"/>
                  <a:ea typeface="Poppins"/>
                  <a:cs typeface="Poppins"/>
                  <a:sym typeface="Poppins"/>
                </a:rPr>
                <a:t>No Tumor99.0%</a:t>
              </a:r>
              <a:endParaRPr sz="581" b="1">
                <a:solidFill>
                  <a:srgbClr val="00F2FE"/>
                </a:solidFill>
                <a:latin typeface="Poppins"/>
                <a:ea typeface="Poppins"/>
                <a:cs typeface="Poppins"/>
                <a:sym typeface="Poppins"/>
              </a:endParaRPr>
            </a:p>
          </p:txBody>
        </p:sp>
      </p:grpSp>
      <p:pic>
        <p:nvPicPr>
          <p:cNvPr id="714" name="Google Shape;714;p23"/>
          <p:cNvPicPr preferRelativeResize="0"/>
          <p:nvPr/>
        </p:nvPicPr>
        <p:blipFill rotWithShape="1">
          <a:blip r:embed="rId5">
            <a:alphaModFix/>
          </a:blip>
          <a:srcRect/>
          <a:stretch/>
        </p:blipFill>
        <p:spPr>
          <a:xfrm>
            <a:off x="7839075" y="1609725"/>
            <a:ext cx="190500" cy="19200"/>
          </a:xfrm>
          <a:prstGeom prst="rect">
            <a:avLst/>
          </a:prstGeom>
          <a:noFill/>
          <a:ln>
            <a:noFill/>
          </a:ln>
        </p:spPr>
      </p:pic>
      <p:pic>
        <p:nvPicPr>
          <p:cNvPr id="715" name="Google Shape;715;p23"/>
          <p:cNvPicPr preferRelativeResize="0"/>
          <p:nvPr/>
        </p:nvPicPr>
        <p:blipFill rotWithShape="1">
          <a:blip r:embed="rId6">
            <a:alphaModFix/>
          </a:blip>
          <a:srcRect/>
          <a:stretch/>
        </p:blipFill>
        <p:spPr>
          <a:xfrm>
            <a:off x="8029575" y="1590675"/>
            <a:ext cx="57300" cy="57300"/>
          </a:xfrm>
          <a:prstGeom prst="rect">
            <a:avLst/>
          </a:prstGeom>
          <a:noFill/>
          <a:ln>
            <a:noFill/>
          </a:ln>
        </p:spPr>
      </p:pic>
      <p:grpSp>
        <p:nvGrpSpPr>
          <p:cNvPr id="716" name="Google Shape;716;p23"/>
          <p:cNvGrpSpPr/>
          <p:nvPr/>
        </p:nvGrpSpPr>
        <p:grpSpPr>
          <a:xfrm>
            <a:off x="8201025" y="904875"/>
            <a:ext cx="514500" cy="1428900"/>
            <a:chOff x="0" y="0"/>
            <a:chExt cx="514500" cy="1428900"/>
          </a:xfrm>
        </p:grpSpPr>
        <p:sp>
          <p:nvSpPr>
            <p:cNvPr id="717" name="Google Shape;717;p23"/>
            <p:cNvSpPr/>
            <p:nvPr/>
          </p:nvSpPr>
          <p:spPr>
            <a:xfrm>
              <a:off x="0" y="0"/>
              <a:ext cx="514500" cy="1428900"/>
            </a:xfrm>
            <a:prstGeom prst="roundRect">
              <a:avLst>
                <a:gd name="adj" fmla="val 22222"/>
              </a:avLst>
            </a:prstGeom>
            <a:solidFill>
              <a:srgbClr val="10B981">
                <a:alpha val="10000"/>
              </a:srgbClr>
            </a:solidFill>
            <a:ln w="14300" cap="flat" cmpd="sng">
              <a:solidFill>
                <a:srgbClr val="10B981"/>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18" name="Google Shape;718;p23"/>
            <p:cNvSpPr txBox="1"/>
            <p:nvPr/>
          </p:nvSpPr>
          <p:spPr>
            <a:xfrm>
              <a:off x="95250" y="114300"/>
              <a:ext cx="324000" cy="1200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581" b="1">
                  <a:solidFill>
                    <a:srgbClr val="10B981"/>
                  </a:solidFill>
                  <a:latin typeface="Poppins"/>
                  <a:ea typeface="Poppins"/>
                  <a:cs typeface="Poppins"/>
                  <a:sym typeface="Poppins"/>
                </a:rPr>
                <a:t>OUT</a:t>
              </a:r>
              <a:endParaRPr sz="581" b="1">
                <a:solidFill>
                  <a:srgbClr val="10B981"/>
                </a:solidFill>
                <a:latin typeface="Poppins"/>
                <a:ea typeface="Poppins"/>
                <a:cs typeface="Poppins"/>
                <a:sym typeface="Poppins"/>
              </a:endParaRPr>
            </a:p>
            <a:p>
              <a:pPr marL="0" lvl="0" indent="0" algn="l" rtl="0">
                <a:spcBef>
                  <a:spcPts val="150"/>
                </a:spcBef>
                <a:spcAft>
                  <a:spcPts val="0"/>
                </a:spcAft>
                <a:buNone/>
              </a:pPr>
              <a:r>
                <a:rPr lang="en-GB" sz="504" b="0">
                  <a:solidFill>
                    <a:srgbClr val="FFFFFF"/>
                  </a:solidFill>
                  <a:latin typeface="Poppins SemiBold"/>
                  <a:ea typeface="Poppins SemiBold"/>
                  <a:cs typeface="Poppins SemiBold"/>
                  <a:sym typeface="Poppins SemiBold"/>
                </a:rPr>
                <a:t>Diagnosis</a:t>
              </a:r>
              <a:endParaRPr sz="504" b="0">
                <a:solidFill>
                  <a:srgbClr val="FFFFFF"/>
                </a:solidFill>
                <a:latin typeface="Poppins SemiBold"/>
                <a:ea typeface="Poppins SemiBold"/>
                <a:cs typeface="Poppins SemiBold"/>
                <a:sym typeface="Poppins SemiBold"/>
              </a:endParaRPr>
            </a:p>
            <a:p>
              <a:pPr marL="0" lvl="0" indent="0" algn="l" rtl="0">
                <a:spcBef>
                  <a:spcPts val="600"/>
                </a:spcBef>
                <a:spcAft>
                  <a:spcPts val="0"/>
                </a:spcAft>
                <a:buNone/>
              </a:pPr>
              <a:r>
                <a:rPr lang="en-GB" sz="581" b="0">
                  <a:solidFill>
                    <a:srgbClr val="FFFFFF"/>
                  </a:solidFill>
                  <a:latin typeface="Poppins ExtraBold"/>
                  <a:ea typeface="Poppins ExtraBold"/>
                  <a:cs typeface="Poppins ExtraBold"/>
                  <a:sym typeface="Poppins ExtraBold"/>
                </a:rPr>
                <a:t>No</a:t>
              </a:r>
              <a:br>
                <a:rPr lang="en-GB" sz="581" b="0">
                  <a:solidFill>
                    <a:srgbClr val="FFFFFF"/>
                  </a:solidFill>
                  <a:latin typeface="Poppins ExtraBold"/>
                  <a:ea typeface="Poppins ExtraBold"/>
                  <a:cs typeface="Poppins ExtraBold"/>
                  <a:sym typeface="Poppins ExtraBold"/>
                </a:rPr>
              </a:br>
              <a:r>
                <a:rPr lang="en-GB" sz="581" b="0">
                  <a:solidFill>
                    <a:srgbClr val="FFFFFF"/>
                  </a:solidFill>
                  <a:latin typeface="Poppins ExtraBold"/>
                  <a:ea typeface="Poppins ExtraBold"/>
                  <a:cs typeface="Poppins ExtraBold"/>
                  <a:sym typeface="Poppins ExtraBold"/>
                </a:rPr>
                <a:t>Tumor</a:t>
              </a:r>
              <a:endParaRPr sz="581" b="0">
                <a:solidFill>
                  <a:srgbClr val="FFFFFF"/>
                </a:solidFill>
                <a:latin typeface="Poppins ExtraBold"/>
                <a:ea typeface="Poppins ExtraBold"/>
                <a:cs typeface="Poppins ExtraBold"/>
                <a:sym typeface="Poppins ExtraBold"/>
              </a:endParaRPr>
            </a:p>
            <a:p>
              <a:pPr marL="0" lvl="0" indent="0" algn="l" rtl="0">
                <a:spcBef>
                  <a:spcPts val="900"/>
                </a:spcBef>
                <a:spcAft>
                  <a:spcPts val="0"/>
                </a:spcAft>
                <a:buNone/>
              </a:pPr>
              <a:r>
                <a:rPr lang="en-GB" sz="465" b="1">
                  <a:solidFill>
                    <a:srgbClr val="10B981"/>
                  </a:solidFill>
                  <a:latin typeface="Poppins"/>
                  <a:ea typeface="Poppins"/>
                  <a:cs typeface="Poppins"/>
                  <a:sym typeface="Poppins"/>
                </a:rPr>
                <a:t>CONF</a:t>
              </a:r>
              <a:endParaRPr sz="465" b="1">
                <a:solidFill>
                  <a:srgbClr val="10B981"/>
                </a:solidFill>
                <a:latin typeface="Poppins"/>
                <a:ea typeface="Poppins"/>
                <a:cs typeface="Poppins"/>
                <a:sym typeface="Poppins"/>
              </a:endParaRPr>
            </a:p>
            <a:p>
              <a:pPr marL="0" lvl="0" indent="0" algn="l" rtl="0">
                <a:spcBef>
                  <a:spcPts val="150"/>
                </a:spcBef>
                <a:spcAft>
                  <a:spcPts val="0"/>
                </a:spcAft>
                <a:buNone/>
              </a:pPr>
              <a:r>
                <a:rPr lang="en-GB" sz="853" b="0">
                  <a:solidFill>
                    <a:srgbClr val="FFFFFF"/>
                  </a:solidFill>
                  <a:latin typeface="Poppins ExtraBold"/>
                  <a:ea typeface="Poppins ExtraBold"/>
                  <a:cs typeface="Poppins ExtraBold"/>
                  <a:sym typeface="Poppins ExtraBold"/>
                </a:rPr>
                <a:t>99%</a:t>
              </a:r>
              <a:endParaRPr sz="853" b="0">
                <a:solidFill>
                  <a:srgbClr val="FFFFFF"/>
                </a:solidFill>
                <a:latin typeface="Poppins ExtraBold"/>
                <a:ea typeface="Poppins ExtraBold"/>
                <a:cs typeface="Poppins ExtraBold"/>
                <a:sym typeface="Poppins ExtraBold"/>
              </a:endParaRPr>
            </a:p>
          </p:txBody>
        </p:sp>
      </p:grpSp>
      <p:grpSp>
        <p:nvGrpSpPr>
          <p:cNvPr id="719" name="Google Shape;719;p23"/>
          <p:cNvGrpSpPr/>
          <p:nvPr/>
        </p:nvGrpSpPr>
        <p:grpSpPr>
          <a:xfrm>
            <a:off x="428625" y="2476500"/>
            <a:ext cx="4048200" cy="1571700"/>
            <a:chOff x="0" y="0"/>
            <a:chExt cx="4048200" cy="1571700"/>
          </a:xfrm>
        </p:grpSpPr>
        <p:sp>
          <p:nvSpPr>
            <p:cNvPr id="720" name="Google Shape;720;p23"/>
            <p:cNvSpPr/>
            <p:nvPr/>
          </p:nvSpPr>
          <p:spPr>
            <a:xfrm>
              <a:off x="0" y="0"/>
              <a:ext cx="4048200" cy="1571700"/>
            </a:xfrm>
            <a:prstGeom prst="roundRect">
              <a:avLst>
                <a:gd name="adj" fmla="val 7272"/>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1" name="Google Shape;721;p23"/>
            <p:cNvSpPr/>
            <p:nvPr/>
          </p:nvSpPr>
          <p:spPr>
            <a:xfrm>
              <a:off x="0" y="0"/>
              <a:ext cx="38100" cy="15717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2" name="Google Shape;722;p23"/>
            <p:cNvSpPr txBox="1"/>
            <p:nvPr/>
          </p:nvSpPr>
          <p:spPr>
            <a:xfrm>
              <a:off x="190500" y="142875"/>
              <a:ext cx="3667200" cy="12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00F2FE"/>
                  </a:solidFill>
                  <a:latin typeface="Poppins"/>
                  <a:ea typeface="Poppins"/>
                  <a:cs typeface="Poppins"/>
                  <a:sym typeface="Poppins"/>
                </a:rPr>
                <a:t>⚙ Inference Pipeline Execution</a:t>
              </a:r>
              <a:endParaRPr sz="850" b="1">
                <a:solidFill>
                  <a:srgbClr val="00F2FE"/>
                </a:solidFill>
                <a:latin typeface="Poppins"/>
                <a:ea typeface="Poppins"/>
                <a:cs typeface="Poppins"/>
                <a:sym typeface="Poppins"/>
              </a:endParaRPr>
            </a:p>
            <a:p>
              <a:pPr marL="0" lvl="0" indent="0" algn="l" rtl="0">
                <a:spcBef>
                  <a:spcPts val="600"/>
                </a:spcBef>
                <a:spcAft>
                  <a:spcPts val="0"/>
                </a:spcAft>
                <a:buNone/>
              </a:pPr>
              <a:r>
                <a:rPr lang="en-GB" sz="581" b="0">
                  <a:solidFill>
                    <a:srgbClr val="E2E8F0"/>
                  </a:solidFill>
                  <a:latin typeface="Poppins"/>
                  <a:ea typeface="Poppins"/>
                  <a:cs typeface="Poppins"/>
                  <a:sym typeface="Poppins"/>
                </a:rPr>
                <a:t>✔ Image Loaded </a:t>
              </a:r>
              <a:r>
                <a:rPr lang="en-GB" sz="700" b="0">
                  <a:solidFill>
                    <a:srgbClr val="94A3B8"/>
                  </a:solidFill>
                  <a:latin typeface="Poppins"/>
                  <a:ea typeface="Poppins"/>
                  <a:cs typeface="Poppins"/>
                  <a:sym typeface="Poppins"/>
                </a:rPr>
                <a:t>— Completed in 12ms</a:t>
              </a:r>
              <a:endParaRPr sz="581" b="0">
                <a:solidFill>
                  <a:srgbClr val="E2E8F0"/>
                </a:solidFill>
                <a:latin typeface="Poppins"/>
                <a:ea typeface="Poppins"/>
                <a:cs typeface="Poppins"/>
                <a:sym typeface="Poppins"/>
              </a:endParaRPr>
            </a:p>
            <a:p>
              <a:pPr marL="0" lvl="0" indent="0" algn="l" rtl="0">
                <a:spcBef>
                  <a:spcPts val="375"/>
                </a:spcBef>
                <a:spcAft>
                  <a:spcPts val="0"/>
                </a:spcAft>
                <a:buNone/>
              </a:pPr>
              <a:r>
                <a:rPr lang="en-GB" sz="581" b="0">
                  <a:solidFill>
                    <a:srgbClr val="E2E8F0"/>
                  </a:solidFill>
                  <a:latin typeface="Poppins"/>
                  <a:ea typeface="Poppins"/>
                  <a:cs typeface="Poppins"/>
                  <a:sym typeface="Poppins"/>
                </a:rPr>
                <a:t>✔ Converted to Array &amp; Normalized </a:t>
              </a:r>
              <a:r>
                <a:rPr lang="en-GB" sz="700" b="0">
                  <a:solidFill>
                    <a:srgbClr val="94A3B8"/>
                  </a:solidFill>
                  <a:latin typeface="Poppins"/>
                  <a:ea typeface="Poppins"/>
                  <a:cs typeface="Poppins"/>
                  <a:sym typeface="Poppins"/>
                </a:rPr>
                <a:t>— Preprocessed [0, 1]</a:t>
              </a:r>
              <a:endParaRPr sz="581" b="0">
                <a:solidFill>
                  <a:srgbClr val="E2E8F0"/>
                </a:solidFill>
                <a:latin typeface="Poppins"/>
                <a:ea typeface="Poppins"/>
                <a:cs typeface="Poppins"/>
                <a:sym typeface="Poppins"/>
              </a:endParaRPr>
            </a:p>
            <a:p>
              <a:pPr marL="0" lvl="0" indent="0" algn="l" rtl="0">
                <a:spcBef>
                  <a:spcPts val="375"/>
                </a:spcBef>
                <a:spcAft>
                  <a:spcPts val="0"/>
                </a:spcAft>
                <a:buNone/>
              </a:pPr>
              <a:r>
                <a:rPr lang="en-GB" sz="581" b="0">
                  <a:solidFill>
                    <a:srgbClr val="E2E8F0"/>
                  </a:solidFill>
                  <a:latin typeface="Poppins"/>
                  <a:ea typeface="Poppins"/>
                  <a:cs typeface="Poppins"/>
                  <a:sym typeface="Poppins"/>
                </a:rPr>
                <a:t>✔ Expanded to Batch Dimension </a:t>
              </a:r>
              <a:r>
                <a:rPr lang="en-GB" sz="700" b="0">
                  <a:solidFill>
                    <a:srgbClr val="94A3B8"/>
                  </a:solidFill>
                  <a:latin typeface="Poppins"/>
                  <a:ea typeface="Poppins"/>
                  <a:cs typeface="Poppins"/>
                  <a:sym typeface="Poppins"/>
                </a:rPr>
                <a:t>— Tensor shaped to [1, 224, 224, 3]</a:t>
              </a:r>
              <a:endParaRPr sz="581" b="0">
                <a:solidFill>
                  <a:srgbClr val="E2E8F0"/>
                </a:solidFill>
                <a:latin typeface="Poppins"/>
                <a:ea typeface="Poppins"/>
                <a:cs typeface="Poppins"/>
                <a:sym typeface="Poppins"/>
              </a:endParaRPr>
            </a:p>
            <a:p>
              <a:pPr marL="0" lvl="0" indent="0" algn="l" rtl="0">
                <a:spcBef>
                  <a:spcPts val="375"/>
                </a:spcBef>
                <a:spcAft>
                  <a:spcPts val="0"/>
                </a:spcAft>
                <a:buNone/>
              </a:pPr>
              <a:r>
                <a:rPr lang="en-GB" sz="581" b="0">
                  <a:solidFill>
                    <a:srgbClr val="E2E8F0"/>
                  </a:solidFill>
                  <a:latin typeface="Poppins"/>
                  <a:ea typeface="Poppins"/>
                  <a:cs typeface="Poppins"/>
                  <a:sym typeface="Poppins"/>
                </a:rPr>
                <a:t>✔ Passed into CNN &amp; Softmax Applied </a:t>
              </a:r>
              <a:r>
                <a:rPr lang="en-GB" sz="700" b="0">
                  <a:solidFill>
                    <a:srgbClr val="94A3B8"/>
                  </a:solidFill>
                  <a:latin typeface="Poppins"/>
                  <a:ea typeface="Poppins"/>
                  <a:cs typeface="Poppins"/>
                  <a:sym typeface="Poppins"/>
                </a:rPr>
                <a:t>— Forward-pass completed</a:t>
              </a:r>
              <a:endParaRPr sz="581" b="0">
                <a:solidFill>
                  <a:srgbClr val="E2E8F0"/>
                </a:solidFill>
                <a:latin typeface="Poppins"/>
                <a:ea typeface="Poppins"/>
                <a:cs typeface="Poppins"/>
                <a:sym typeface="Poppins"/>
              </a:endParaRPr>
            </a:p>
            <a:p>
              <a:pPr marL="0" lvl="0" indent="0" algn="l" rtl="0">
                <a:spcBef>
                  <a:spcPts val="375"/>
                </a:spcBef>
                <a:spcAft>
                  <a:spcPts val="0"/>
                </a:spcAft>
                <a:buNone/>
              </a:pPr>
              <a:r>
                <a:rPr lang="en-GB" sz="581" b="0">
                  <a:solidFill>
                    <a:srgbClr val="E2E8F0"/>
                  </a:solidFill>
                  <a:latin typeface="Poppins"/>
                  <a:ea typeface="Poppins"/>
                  <a:cs typeface="Poppins"/>
                  <a:sym typeface="Poppins"/>
                </a:rPr>
                <a:t>✔ Highest Probability Selected </a:t>
              </a:r>
              <a:r>
                <a:rPr lang="en-GB" sz="581" b="1">
                  <a:solidFill>
                    <a:srgbClr val="10B981"/>
                  </a:solidFill>
                  <a:latin typeface="Poppins"/>
                  <a:ea typeface="Poppins"/>
                  <a:cs typeface="Poppins"/>
                  <a:sym typeface="Poppins"/>
                </a:rPr>
                <a:t>— Class: No Tumor (99% confidence)</a:t>
              </a:r>
              <a:endParaRPr sz="581" b="0">
                <a:solidFill>
                  <a:srgbClr val="E2E8F0"/>
                </a:solidFill>
                <a:latin typeface="Poppins"/>
                <a:ea typeface="Poppins"/>
                <a:cs typeface="Poppins"/>
                <a:sym typeface="Poppins"/>
              </a:endParaRPr>
            </a:p>
          </p:txBody>
        </p:sp>
      </p:grpSp>
      <p:grpSp>
        <p:nvGrpSpPr>
          <p:cNvPr id="723" name="Google Shape;723;p23"/>
          <p:cNvGrpSpPr/>
          <p:nvPr/>
        </p:nvGrpSpPr>
        <p:grpSpPr>
          <a:xfrm>
            <a:off x="4667250" y="2476500"/>
            <a:ext cx="4048200" cy="1571700"/>
            <a:chOff x="0" y="0"/>
            <a:chExt cx="4048200" cy="1571700"/>
          </a:xfrm>
        </p:grpSpPr>
        <p:sp>
          <p:nvSpPr>
            <p:cNvPr id="724" name="Google Shape;724;p23"/>
            <p:cNvSpPr/>
            <p:nvPr/>
          </p:nvSpPr>
          <p:spPr>
            <a:xfrm>
              <a:off x="0" y="0"/>
              <a:ext cx="4048200" cy="1571700"/>
            </a:xfrm>
            <a:prstGeom prst="roundRect">
              <a:avLst>
                <a:gd name="adj" fmla="val 7272"/>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5" name="Google Shape;725;p23"/>
            <p:cNvSpPr/>
            <p:nvPr/>
          </p:nvSpPr>
          <p:spPr>
            <a:xfrm>
              <a:off x="0" y="0"/>
              <a:ext cx="38100" cy="15717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6" name="Google Shape;726;p23"/>
            <p:cNvSpPr txBox="1"/>
            <p:nvPr/>
          </p:nvSpPr>
          <p:spPr>
            <a:xfrm>
              <a:off x="190500" y="142875"/>
              <a:ext cx="3667200" cy="1285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00F2FE"/>
                  </a:solidFill>
                  <a:latin typeface="Poppins"/>
                  <a:ea typeface="Poppins"/>
                  <a:cs typeface="Poppins"/>
                  <a:sym typeface="Poppins"/>
                </a:rPr>
                <a:t>🌍 Clinical Integration &amp; Applications</a:t>
              </a:r>
              <a:endParaRPr sz="850" b="1">
                <a:solidFill>
                  <a:srgbClr val="00F2FE"/>
                </a:solidFill>
                <a:latin typeface="Poppins"/>
                <a:ea typeface="Poppins"/>
                <a:cs typeface="Poppins"/>
                <a:sym typeface="Poppins"/>
              </a:endParaRPr>
            </a:p>
            <a:p>
              <a:pPr marL="0" lvl="0" indent="0" algn="l" rtl="0">
                <a:spcBef>
                  <a:spcPts val="600"/>
                </a:spcBef>
                <a:spcAft>
                  <a:spcPts val="0"/>
                </a:spcAft>
                <a:buNone/>
              </a:pPr>
              <a:r>
                <a:rPr lang="en-GB" sz="581" b="1">
                  <a:solidFill>
                    <a:srgbClr val="00F2FE"/>
                  </a:solidFill>
                  <a:latin typeface="Poppins"/>
                  <a:ea typeface="Poppins"/>
                  <a:cs typeface="Poppins"/>
                  <a:sym typeface="Poppins"/>
                </a:rPr>
                <a:t>🏥 Clinical Decision Support System</a:t>
              </a:r>
              <a:br>
                <a:rPr lang="en-GB" sz="581" b="0">
                  <a:solidFill>
                    <a:srgbClr val="E2E8F0"/>
                  </a:solidFill>
                  <a:latin typeface="Poppins"/>
                  <a:ea typeface="Poppins"/>
                  <a:cs typeface="Poppins"/>
                  <a:sym typeface="Poppins"/>
                </a:rPr>
              </a:br>
              <a:r>
                <a:rPr lang="en-GB" sz="700" b="0">
                  <a:solidFill>
                    <a:srgbClr val="94A3B8"/>
                  </a:solidFill>
                  <a:latin typeface="Poppins"/>
                  <a:ea typeface="Poppins"/>
                  <a:cs typeface="Poppins"/>
                  <a:sym typeface="Poppins"/>
                </a:rPr>
                <a:t>Provides automated secondary validation for clinical neuroradiologists.</a:t>
              </a:r>
              <a:endParaRPr sz="581" b="0">
                <a:solidFill>
                  <a:srgbClr val="E2E8F0"/>
                </a:solidFill>
                <a:latin typeface="Poppins"/>
                <a:ea typeface="Poppins"/>
                <a:cs typeface="Poppins"/>
                <a:sym typeface="Poppins"/>
              </a:endParaRPr>
            </a:p>
            <a:p>
              <a:pPr marL="0" lvl="0" indent="0" algn="l" rtl="0">
                <a:spcBef>
                  <a:spcPts val="600"/>
                </a:spcBef>
                <a:spcAft>
                  <a:spcPts val="0"/>
                </a:spcAft>
                <a:buNone/>
              </a:pPr>
              <a:r>
                <a:rPr lang="en-GB" sz="581" b="1">
                  <a:solidFill>
                    <a:srgbClr val="00F2FE"/>
                  </a:solidFill>
                  <a:latin typeface="Poppins"/>
                  <a:ea typeface="Poppins"/>
                  <a:cs typeface="Poppins"/>
                  <a:sym typeface="Poppins"/>
                </a:rPr>
                <a:t>⚕ Emergency Room Triage Assistance</a:t>
              </a:r>
              <a:br>
                <a:rPr lang="en-GB" sz="581" b="0">
                  <a:solidFill>
                    <a:srgbClr val="E2E8F0"/>
                  </a:solidFill>
                  <a:latin typeface="Poppins"/>
                  <a:ea typeface="Poppins"/>
                  <a:cs typeface="Poppins"/>
                  <a:sym typeface="Poppins"/>
                </a:rPr>
              </a:br>
              <a:r>
                <a:rPr lang="en-GB" sz="700" b="0">
                  <a:solidFill>
                    <a:srgbClr val="94A3B8"/>
                  </a:solidFill>
                  <a:latin typeface="Poppins"/>
                  <a:ea typeface="Poppins"/>
                  <a:cs typeface="Poppins"/>
                  <a:sym typeface="Poppins"/>
                </a:rPr>
                <a:t>Instantly flags anomalous scans to prioritize urgent radiologist reviews.</a:t>
              </a:r>
              <a:endParaRPr sz="581" b="0">
                <a:solidFill>
                  <a:srgbClr val="E2E8F0"/>
                </a:solidFill>
                <a:latin typeface="Poppins"/>
                <a:ea typeface="Poppins"/>
                <a:cs typeface="Poppins"/>
                <a:sym typeface="Poppins"/>
              </a:endParaRPr>
            </a:p>
            <a:p>
              <a:pPr marL="0" lvl="0" indent="0" algn="l" rtl="0">
                <a:spcBef>
                  <a:spcPts val="600"/>
                </a:spcBef>
                <a:spcAft>
                  <a:spcPts val="0"/>
                </a:spcAft>
                <a:buNone/>
              </a:pPr>
              <a:r>
                <a:rPr lang="en-GB" sz="581" b="1">
                  <a:solidFill>
                    <a:srgbClr val="00F2FE"/>
                  </a:solidFill>
                  <a:latin typeface="Poppins"/>
                  <a:ea typeface="Poppins"/>
                  <a:cs typeface="Poppins"/>
                  <a:sym typeface="Poppins"/>
                </a:rPr>
                <a:t>🤖 AI-based Healthcare Screening Platforms</a:t>
              </a:r>
              <a:br>
                <a:rPr lang="en-GB" sz="581" b="0">
                  <a:solidFill>
                    <a:srgbClr val="E2E8F0"/>
                  </a:solidFill>
                  <a:latin typeface="Poppins"/>
                  <a:ea typeface="Poppins"/>
                  <a:cs typeface="Poppins"/>
                  <a:sym typeface="Poppins"/>
                </a:rPr>
              </a:br>
              <a:r>
                <a:rPr lang="en-GB" sz="700" b="0">
                  <a:solidFill>
                    <a:srgbClr val="94A3B8"/>
                  </a:solidFill>
                  <a:latin typeface="Poppins"/>
                  <a:ea typeface="Poppins"/>
                  <a:cs typeface="Poppins"/>
                  <a:sym typeface="Poppins"/>
                </a:rPr>
                <a:t>Integrates directly into modern PACS networks for high-throughput screening.</a:t>
              </a:r>
              <a:endParaRPr sz="581" b="0">
                <a:solidFill>
                  <a:srgbClr val="E2E8F0"/>
                </a:solidFill>
                <a:latin typeface="Poppins"/>
                <a:ea typeface="Poppins"/>
                <a:cs typeface="Poppins"/>
                <a:sym typeface="Poppins"/>
              </a:endParaRPr>
            </a:p>
          </p:txBody>
        </p:sp>
      </p:grpSp>
      <p:grpSp>
        <p:nvGrpSpPr>
          <p:cNvPr id="727" name="Google Shape;727;p23"/>
          <p:cNvGrpSpPr/>
          <p:nvPr/>
        </p:nvGrpSpPr>
        <p:grpSpPr>
          <a:xfrm>
            <a:off x="428625" y="4191000"/>
            <a:ext cx="8286900" cy="495300"/>
            <a:chOff x="0" y="0"/>
            <a:chExt cx="8286900" cy="495300"/>
          </a:xfrm>
        </p:grpSpPr>
        <p:sp>
          <p:nvSpPr>
            <p:cNvPr id="728" name="Google Shape;728;p23"/>
            <p:cNvSpPr/>
            <p:nvPr/>
          </p:nvSpPr>
          <p:spPr>
            <a:xfrm>
              <a:off x="0" y="0"/>
              <a:ext cx="8286900" cy="495300"/>
            </a:xfrm>
            <a:prstGeom prst="roundRect">
              <a:avLst>
                <a:gd name="adj" fmla="val 15384"/>
              </a:avLst>
            </a:prstGeom>
            <a:solidFill>
              <a:srgbClr val="0F172A"/>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29" name="Google Shape;729;p23"/>
            <p:cNvSpPr/>
            <p:nvPr/>
          </p:nvSpPr>
          <p:spPr>
            <a:xfrm>
              <a:off x="0" y="0"/>
              <a:ext cx="38100" cy="4953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30" name="Google Shape;730;p23"/>
            <p:cNvSpPr txBox="1"/>
            <p:nvPr/>
          </p:nvSpPr>
          <p:spPr>
            <a:xfrm>
              <a:off x="190500" y="95250"/>
              <a:ext cx="7905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00" b="1">
                  <a:solidFill>
                    <a:srgbClr val="00F2FE"/>
                  </a:solidFill>
                  <a:latin typeface="Poppins"/>
                  <a:ea typeface="Poppins"/>
                  <a:cs typeface="Poppins"/>
                  <a:sym typeface="Poppins"/>
                </a:rPr>
                <a:t>Key Takeaway:</a:t>
              </a:r>
              <a:r>
                <a:rPr lang="en-GB" sz="581" b="0">
                  <a:solidFill>
                    <a:srgbClr val="E2E8F0"/>
                  </a:solidFill>
                  <a:latin typeface="Poppins"/>
                  <a:ea typeface="Poppins"/>
                  <a:cs typeface="Poppins"/>
                  <a:sym typeface="Poppins"/>
                </a:rPr>
                <a:t> The trained CNN can automatically analyze a previously unseen Brain MRI image and generate a prediction within seconds, making it a valuable AI-assisted diagnostic tool.</a:t>
              </a:r>
              <a:endParaRPr sz="800" b="1">
                <a:solidFill>
                  <a:srgbClr val="00F2FE"/>
                </a:solidFill>
                <a:latin typeface="Poppins"/>
                <a:ea typeface="Poppins"/>
                <a:cs typeface="Poppins"/>
                <a:sym typeface="Poppins"/>
              </a:endParaRPr>
            </a:p>
          </p:txBody>
        </p:sp>
      </p:grpSp>
      <p:sp>
        <p:nvSpPr>
          <p:cNvPr id="731" name="Google Shape;731;p23"/>
          <p:cNvSpPr txBox="1"/>
          <p:nvPr/>
        </p:nvSpPr>
        <p:spPr>
          <a:xfrm>
            <a:off x="428625" y="4876800"/>
            <a:ext cx="38100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465" b="0">
                <a:solidFill>
                  <a:srgbClr val="475569"/>
                </a:solidFill>
                <a:latin typeface="Poppins"/>
                <a:ea typeface="Poppins"/>
                <a:cs typeface="Poppins"/>
                <a:sym typeface="Poppins"/>
              </a:rPr>
              <a:t>Department of Data Science &amp; Artificial Intelligence | Real-Time Prediction Demonstration</a:t>
            </a:r>
            <a:endParaRPr sz="465" b="0">
              <a:solidFill>
                <a:srgbClr val="475569"/>
              </a:solidFill>
              <a:latin typeface="Poppins"/>
              <a:ea typeface="Poppins"/>
              <a:cs typeface="Poppins"/>
              <a:sym typeface="Poppins"/>
            </a:endParaRPr>
          </a:p>
        </p:txBody>
      </p:sp>
      <p:sp>
        <p:nvSpPr>
          <p:cNvPr id="732" name="Google Shape;732;p23"/>
          <p:cNvSpPr txBox="1"/>
          <p:nvPr/>
        </p:nvSpPr>
        <p:spPr>
          <a:xfrm>
            <a:off x="6810375" y="4876800"/>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465" b="0">
                <a:solidFill>
                  <a:srgbClr val="00F2FE"/>
                </a:solidFill>
                <a:latin typeface="Poppins"/>
                <a:ea typeface="Poppins"/>
                <a:cs typeface="Poppins"/>
                <a:sym typeface="Poppins"/>
              </a:rPr>
              <a:t>Presenter: Steve Emmanuel</a:t>
            </a:r>
            <a:endParaRPr sz="465" b="0">
              <a:solidFill>
                <a:srgbClr val="00F2FE"/>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pic>
        <p:nvPicPr>
          <p:cNvPr id="737" name="Google Shape;737;p24"/>
          <p:cNvPicPr preferRelativeResize="0"/>
          <p:nvPr/>
        </p:nvPicPr>
        <p:blipFill rotWithShape="1">
          <a:blip r:embed="rId3">
            <a:alphaModFix/>
          </a:blip>
          <a:srcRect/>
          <a:stretch/>
        </p:blipFill>
        <p:spPr>
          <a:xfrm>
            <a:off x="0" y="0"/>
            <a:ext cx="9144000" cy="5143500"/>
          </a:xfrm>
          <a:prstGeom prst="rect">
            <a:avLst/>
          </a:prstGeom>
          <a:noFill/>
          <a:ln>
            <a:noFill/>
          </a:ln>
        </p:spPr>
      </p:pic>
      <p:grpSp>
        <p:nvGrpSpPr>
          <p:cNvPr id="738" name="Google Shape;738;p24"/>
          <p:cNvGrpSpPr/>
          <p:nvPr/>
        </p:nvGrpSpPr>
        <p:grpSpPr>
          <a:xfrm>
            <a:off x="947738" y="757238"/>
            <a:ext cx="7629600" cy="2100300"/>
            <a:chOff x="947738" y="757238"/>
            <a:chExt cx="7629600" cy="2100300"/>
          </a:xfrm>
        </p:grpSpPr>
        <p:pic>
          <p:nvPicPr>
            <p:cNvPr id="739" name="Google Shape;739;p24"/>
            <p:cNvPicPr preferRelativeResize="0"/>
            <p:nvPr/>
          </p:nvPicPr>
          <p:blipFill rotWithShape="1">
            <a:blip r:embed="rId4">
              <a:alphaModFix/>
            </a:blip>
            <a:srcRect/>
            <a:stretch/>
          </p:blipFill>
          <p:spPr>
            <a:xfrm>
              <a:off x="947738" y="757238"/>
              <a:ext cx="7629600" cy="2100300"/>
            </a:xfrm>
            <a:prstGeom prst="rect">
              <a:avLst/>
            </a:prstGeom>
            <a:noFill/>
            <a:ln>
              <a:noFill/>
            </a:ln>
          </p:spPr>
        </p:pic>
        <p:pic>
          <p:nvPicPr>
            <p:cNvPr id="740" name="Google Shape;740;p24"/>
            <p:cNvPicPr preferRelativeResize="0"/>
            <p:nvPr/>
          </p:nvPicPr>
          <p:blipFill rotWithShape="1">
            <a:blip r:embed="rId5">
              <a:alphaModFix/>
            </a:blip>
            <a:srcRect/>
            <a:stretch/>
          </p:blipFill>
          <p:spPr>
            <a:xfrm>
              <a:off x="1390650" y="1390650"/>
              <a:ext cx="76200" cy="76200"/>
            </a:xfrm>
            <a:prstGeom prst="rect">
              <a:avLst/>
            </a:prstGeom>
            <a:noFill/>
            <a:ln>
              <a:noFill/>
            </a:ln>
          </p:spPr>
        </p:pic>
        <p:pic>
          <p:nvPicPr>
            <p:cNvPr id="741" name="Google Shape;741;p24"/>
            <p:cNvPicPr preferRelativeResize="0"/>
            <p:nvPr/>
          </p:nvPicPr>
          <p:blipFill rotWithShape="1">
            <a:blip r:embed="rId5">
              <a:alphaModFix/>
            </a:blip>
            <a:srcRect/>
            <a:stretch/>
          </p:blipFill>
          <p:spPr>
            <a:xfrm>
              <a:off x="5200650" y="1104900"/>
              <a:ext cx="76200" cy="76200"/>
            </a:xfrm>
            <a:prstGeom prst="rect">
              <a:avLst/>
            </a:prstGeom>
            <a:noFill/>
            <a:ln>
              <a:noFill/>
            </a:ln>
          </p:spPr>
        </p:pic>
        <p:pic>
          <p:nvPicPr>
            <p:cNvPr id="742" name="Google Shape;742;p24"/>
            <p:cNvPicPr preferRelativeResize="0"/>
            <p:nvPr/>
          </p:nvPicPr>
          <p:blipFill rotWithShape="1">
            <a:blip r:embed="rId5">
              <a:alphaModFix/>
            </a:blip>
            <a:srcRect/>
            <a:stretch/>
          </p:blipFill>
          <p:spPr>
            <a:xfrm>
              <a:off x="8058150" y="2343150"/>
              <a:ext cx="76200" cy="76200"/>
            </a:xfrm>
            <a:prstGeom prst="rect">
              <a:avLst/>
            </a:prstGeom>
            <a:noFill/>
            <a:ln>
              <a:noFill/>
            </a:ln>
          </p:spPr>
        </p:pic>
      </p:grpSp>
      <p:sp>
        <p:nvSpPr>
          <p:cNvPr id="743" name="Google Shape;743;p24"/>
          <p:cNvSpPr txBox="1"/>
          <p:nvPr/>
        </p:nvSpPr>
        <p:spPr>
          <a:xfrm>
            <a:off x="428625" y="2381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Challenges Faced &amp; Solutions Implemented</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850" b="0">
                <a:solidFill>
                  <a:srgbClr val="A5F3FC"/>
                </a:solidFill>
                <a:latin typeface="Poppins"/>
                <a:ea typeface="Poppins"/>
                <a:cs typeface="Poppins"/>
                <a:sym typeface="Poppins"/>
              </a:rPr>
              <a:t>Real-world debugging and improvements during model development.</a:t>
            </a:r>
            <a:endParaRPr sz="850" b="0">
              <a:solidFill>
                <a:srgbClr val="A5F3FC"/>
              </a:solidFill>
              <a:latin typeface="Poppins"/>
              <a:ea typeface="Poppins"/>
              <a:cs typeface="Poppins"/>
              <a:sym typeface="Poppins"/>
            </a:endParaRPr>
          </a:p>
        </p:txBody>
      </p:sp>
      <p:grpSp>
        <p:nvGrpSpPr>
          <p:cNvPr id="744" name="Google Shape;744;p24"/>
          <p:cNvGrpSpPr/>
          <p:nvPr/>
        </p:nvGrpSpPr>
        <p:grpSpPr>
          <a:xfrm>
            <a:off x="428625" y="904875"/>
            <a:ext cx="2286000" cy="2228850"/>
            <a:chOff x="428625" y="904875"/>
            <a:chExt cx="2286000" cy="2228850"/>
          </a:xfrm>
        </p:grpSpPr>
        <p:sp>
          <p:nvSpPr>
            <p:cNvPr id="745" name="Google Shape;745;p24"/>
            <p:cNvSpPr/>
            <p:nvPr/>
          </p:nvSpPr>
          <p:spPr>
            <a:xfrm>
              <a:off x="428625" y="904875"/>
              <a:ext cx="2286000" cy="647700"/>
            </a:xfrm>
            <a:prstGeom prst="roundRect">
              <a:avLst>
                <a:gd name="adj" fmla="val 11764"/>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6" name="Google Shape;746;p24"/>
            <p:cNvSpPr/>
            <p:nvPr/>
          </p:nvSpPr>
          <p:spPr>
            <a:xfrm>
              <a:off x="428625" y="904875"/>
              <a:ext cx="28500" cy="647700"/>
            </a:xfrm>
            <a:prstGeom prst="roundRect">
              <a:avLst>
                <a:gd name="adj" fmla="val 50000"/>
              </a:avLst>
            </a:prstGeom>
            <a:solidFill>
              <a:srgbClr val="F43F5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7" name="Google Shape;747;p24"/>
            <p:cNvSpPr txBox="1"/>
            <p:nvPr/>
          </p:nvSpPr>
          <p:spPr>
            <a:xfrm>
              <a:off x="552450" y="981075"/>
              <a:ext cx="2047800" cy="4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Challenge 1</a:t>
              </a:r>
              <a:endParaRPr sz="750" b="1">
                <a:solidFill>
                  <a:srgbClr val="00F2FE"/>
                </a:solidFill>
                <a:latin typeface="Poppins"/>
                <a:ea typeface="Poppins"/>
                <a:cs typeface="Poppins"/>
                <a:sym typeface="Poppins"/>
              </a:endParaRPr>
            </a:p>
            <a:p>
              <a:pPr marL="0" lvl="0" indent="0" algn="l" rtl="0">
                <a:spcBef>
                  <a:spcPts val="300"/>
                </a:spcBef>
                <a:spcAft>
                  <a:spcPts val="0"/>
                </a:spcAft>
                <a:buNone/>
              </a:pPr>
              <a:r>
                <a:rPr lang="en-GB" sz="650" b="0">
                  <a:solidFill>
                    <a:srgbClr val="94A3B8"/>
                  </a:solidFill>
                  <a:latin typeface="Poppins"/>
                  <a:ea typeface="Poppins"/>
                  <a:cs typeface="Poppins"/>
                  <a:sym typeface="Poppins"/>
                </a:rPr>
                <a:t>Validation accuracy was </a:t>
              </a:r>
              <a:r>
                <a:rPr lang="en-GB" sz="650" b="0">
                  <a:solidFill>
                    <a:srgbClr val="FFFFFF"/>
                  </a:solidFill>
                  <a:latin typeface="Poppins SemiBold"/>
                  <a:ea typeface="Poppins SemiBold"/>
                  <a:cs typeface="Poppins SemiBold"/>
                  <a:sym typeface="Poppins SemiBold"/>
                </a:rPr>
                <a:t>too low</a:t>
              </a:r>
              <a:r>
                <a:rPr lang="en-GB" sz="650" b="0">
                  <a:solidFill>
                    <a:srgbClr val="94A3B8"/>
                  </a:solidFill>
                  <a:latin typeface="Poppins"/>
                  <a:ea typeface="Poppins"/>
                  <a:cs typeface="Poppins"/>
                  <a:sym typeface="Poppins"/>
                </a:rPr>
                <a:t>, indicating that the model was not learning correctly.</a:t>
              </a:r>
              <a:endParaRPr sz="650" b="0">
                <a:solidFill>
                  <a:srgbClr val="94A3B8"/>
                </a:solidFill>
                <a:latin typeface="Poppins"/>
                <a:ea typeface="Poppins"/>
                <a:cs typeface="Poppins"/>
                <a:sym typeface="Poppins"/>
              </a:endParaRPr>
            </a:p>
          </p:txBody>
        </p:sp>
        <p:sp>
          <p:nvSpPr>
            <p:cNvPr id="748" name="Google Shape;748;p24"/>
            <p:cNvSpPr/>
            <p:nvPr/>
          </p:nvSpPr>
          <p:spPr>
            <a:xfrm>
              <a:off x="428625" y="1695450"/>
              <a:ext cx="2286000" cy="647700"/>
            </a:xfrm>
            <a:prstGeom prst="roundRect">
              <a:avLst>
                <a:gd name="adj" fmla="val 11764"/>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49" name="Google Shape;749;p24"/>
            <p:cNvSpPr/>
            <p:nvPr/>
          </p:nvSpPr>
          <p:spPr>
            <a:xfrm>
              <a:off x="428625" y="1695450"/>
              <a:ext cx="28500" cy="6477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0" name="Google Shape;750;p24"/>
            <p:cNvSpPr txBox="1"/>
            <p:nvPr/>
          </p:nvSpPr>
          <p:spPr>
            <a:xfrm>
              <a:off x="552450" y="1771650"/>
              <a:ext cx="2047800" cy="4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Challenge 2</a:t>
              </a:r>
              <a:endParaRPr sz="750" b="1">
                <a:solidFill>
                  <a:srgbClr val="00F2FE"/>
                </a:solidFill>
                <a:latin typeface="Poppins"/>
                <a:ea typeface="Poppins"/>
                <a:cs typeface="Poppins"/>
                <a:sym typeface="Poppins"/>
              </a:endParaRPr>
            </a:p>
            <a:p>
              <a:pPr marL="0" lvl="0" indent="0" algn="l" rtl="0">
                <a:spcBef>
                  <a:spcPts val="300"/>
                </a:spcBef>
                <a:spcAft>
                  <a:spcPts val="0"/>
                </a:spcAft>
                <a:buNone/>
              </a:pPr>
              <a:r>
                <a:rPr lang="en-GB" sz="650" b="0">
                  <a:solidFill>
                    <a:srgbClr val="94A3B8"/>
                  </a:solidFill>
                  <a:latin typeface="Poppins"/>
                  <a:ea typeface="Poppins"/>
                  <a:cs typeface="Poppins"/>
                  <a:sym typeface="Poppins"/>
                </a:rPr>
                <a:t>Image preprocessing was </a:t>
              </a:r>
              <a:r>
                <a:rPr lang="en-GB" sz="650" b="0">
                  <a:solidFill>
                    <a:srgbClr val="FFFFFF"/>
                  </a:solidFill>
                  <a:latin typeface="Poppins SemiBold"/>
                  <a:ea typeface="Poppins SemiBold"/>
                  <a:cs typeface="Poppins SemiBold"/>
                  <a:sym typeface="Poppins SemiBold"/>
                </a:rPr>
                <a:t>inconsistent</a:t>
              </a:r>
              <a:r>
                <a:rPr lang="en-GB" sz="650" b="0">
                  <a:solidFill>
                    <a:srgbClr val="94A3B8"/>
                  </a:solidFill>
                  <a:latin typeface="Poppins"/>
                  <a:ea typeface="Poppins"/>
                  <a:cs typeface="Poppins"/>
                  <a:sym typeface="Poppins"/>
                </a:rPr>
                <a:t> because of an incorrect image size configuration.</a:t>
              </a:r>
              <a:endParaRPr sz="650" b="0">
                <a:solidFill>
                  <a:srgbClr val="94A3B8"/>
                </a:solidFill>
                <a:latin typeface="Poppins"/>
                <a:ea typeface="Poppins"/>
                <a:cs typeface="Poppins"/>
                <a:sym typeface="Poppins"/>
              </a:endParaRPr>
            </a:p>
          </p:txBody>
        </p:sp>
        <p:sp>
          <p:nvSpPr>
            <p:cNvPr id="751" name="Google Shape;751;p24"/>
            <p:cNvSpPr/>
            <p:nvPr/>
          </p:nvSpPr>
          <p:spPr>
            <a:xfrm>
              <a:off x="428625" y="2486025"/>
              <a:ext cx="2286000" cy="647700"/>
            </a:xfrm>
            <a:prstGeom prst="roundRect">
              <a:avLst>
                <a:gd name="adj" fmla="val 11764"/>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2" name="Google Shape;752;p24"/>
            <p:cNvSpPr/>
            <p:nvPr/>
          </p:nvSpPr>
          <p:spPr>
            <a:xfrm>
              <a:off x="428625" y="2486025"/>
              <a:ext cx="28500" cy="647700"/>
            </a:xfrm>
            <a:prstGeom prst="roundRect">
              <a:avLst>
                <a:gd name="adj" fmla="val 50000"/>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53" name="Google Shape;753;p24"/>
            <p:cNvSpPr txBox="1"/>
            <p:nvPr/>
          </p:nvSpPr>
          <p:spPr>
            <a:xfrm>
              <a:off x="552450" y="2562225"/>
              <a:ext cx="2047800" cy="4953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Challenge 3</a:t>
              </a:r>
              <a:endParaRPr sz="750" b="1">
                <a:solidFill>
                  <a:srgbClr val="00F2FE"/>
                </a:solidFill>
                <a:latin typeface="Poppins"/>
                <a:ea typeface="Poppins"/>
                <a:cs typeface="Poppins"/>
                <a:sym typeface="Poppins"/>
              </a:endParaRPr>
            </a:p>
            <a:p>
              <a:pPr marL="0" lvl="0" indent="0" algn="l" rtl="0">
                <a:spcBef>
                  <a:spcPts val="300"/>
                </a:spcBef>
                <a:spcAft>
                  <a:spcPts val="0"/>
                </a:spcAft>
                <a:buNone/>
              </a:pPr>
              <a:r>
                <a:rPr lang="en-GB" sz="650" b="0">
                  <a:solidFill>
                    <a:srgbClr val="94A3B8"/>
                  </a:solidFill>
                  <a:latin typeface="Poppins"/>
                  <a:ea typeface="Poppins"/>
                  <a:cs typeface="Poppins"/>
                  <a:sym typeface="Poppins"/>
                </a:rPr>
                <a:t>The TensorFlow data pipeline </a:t>
              </a:r>
              <a:r>
                <a:rPr lang="en-GB" sz="650" b="0">
                  <a:solidFill>
                    <a:srgbClr val="FFFFFF"/>
                  </a:solidFill>
                  <a:latin typeface="Poppins SemiBold"/>
                  <a:ea typeface="Poppins SemiBold"/>
                  <a:cs typeface="Poppins SemiBold"/>
                  <a:sym typeface="Poppins SemiBold"/>
                </a:rPr>
                <a:t>required rebuilding</a:t>
              </a:r>
              <a:r>
                <a:rPr lang="en-GB" sz="650" b="0">
                  <a:solidFill>
                    <a:srgbClr val="94A3B8"/>
                  </a:solidFill>
                  <a:latin typeface="Poppins"/>
                  <a:ea typeface="Poppins"/>
                  <a:cs typeface="Poppins"/>
                  <a:sym typeface="Poppins"/>
                </a:rPr>
                <a:t> to ensure correct preprocessing before training.</a:t>
              </a:r>
              <a:endParaRPr sz="650" b="0">
                <a:solidFill>
                  <a:srgbClr val="94A3B8"/>
                </a:solidFill>
                <a:latin typeface="Poppins"/>
                <a:ea typeface="Poppins"/>
                <a:cs typeface="Poppins"/>
                <a:sym typeface="Poppins"/>
              </a:endParaRPr>
            </a:p>
          </p:txBody>
        </p:sp>
      </p:grpSp>
      <p:grpSp>
        <p:nvGrpSpPr>
          <p:cNvPr id="754" name="Google Shape;754;p24"/>
          <p:cNvGrpSpPr/>
          <p:nvPr/>
        </p:nvGrpSpPr>
        <p:grpSpPr>
          <a:xfrm>
            <a:off x="2947988" y="904875"/>
            <a:ext cx="3248100" cy="1919213"/>
            <a:chOff x="2947988" y="904875"/>
            <a:chExt cx="3248100" cy="1919213"/>
          </a:xfrm>
        </p:grpSpPr>
        <p:pic>
          <p:nvPicPr>
            <p:cNvPr id="755" name="Google Shape;755;p24"/>
            <p:cNvPicPr preferRelativeResize="0"/>
            <p:nvPr/>
          </p:nvPicPr>
          <p:blipFill rotWithShape="1">
            <a:blip r:embed="rId6">
              <a:alphaModFix/>
            </a:blip>
            <a:srcRect/>
            <a:stretch/>
          </p:blipFill>
          <p:spPr>
            <a:xfrm>
              <a:off x="4533900" y="1390650"/>
              <a:ext cx="76200" cy="76200"/>
            </a:xfrm>
            <a:prstGeom prst="rect">
              <a:avLst/>
            </a:prstGeom>
            <a:noFill/>
            <a:ln>
              <a:noFill/>
            </a:ln>
          </p:spPr>
        </p:pic>
        <p:pic>
          <p:nvPicPr>
            <p:cNvPr id="756" name="Google Shape;756;p24"/>
            <p:cNvPicPr preferRelativeResize="0"/>
            <p:nvPr/>
          </p:nvPicPr>
          <p:blipFill rotWithShape="1">
            <a:blip r:embed="rId7">
              <a:alphaModFix/>
            </a:blip>
            <a:srcRect/>
            <a:stretch/>
          </p:blipFill>
          <p:spPr>
            <a:xfrm>
              <a:off x="4533900" y="1895475"/>
              <a:ext cx="76200" cy="76200"/>
            </a:xfrm>
            <a:prstGeom prst="rect">
              <a:avLst/>
            </a:prstGeom>
            <a:noFill/>
            <a:ln>
              <a:noFill/>
            </a:ln>
          </p:spPr>
        </p:pic>
        <p:pic>
          <p:nvPicPr>
            <p:cNvPr id="757" name="Google Shape;757;p24"/>
            <p:cNvPicPr preferRelativeResize="0"/>
            <p:nvPr/>
          </p:nvPicPr>
          <p:blipFill rotWithShape="1">
            <a:blip r:embed="rId8">
              <a:alphaModFix/>
            </a:blip>
            <a:srcRect/>
            <a:stretch/>
          </p:blipFill>
          <p:spPr>
            <a:xfrm>
              <a:off x="4533900" y="2400300"/>
              <a:ext cx="76200" cy="76200"/>
            </a:xfrm>
            <a:prstGeom prst="rect">
              <a:avLst/>
            </a:prstGeom>
            <a:noFill/>
            <a:ln>
              <a:noFill/>
            </a:ln>
          </p:spPr>
        </p:pic>
        <p:grpSp>
          <p:nvGrpSpPr>
            <p:cNvPr id="758" name="Google Shape;758;p24"/>
            <p:cNvGrpSpPr/>
            <p:nvPr/>
          </p:nvGrpSpPr>
          <p:grpSpPr>
            <a:xfrm>
              <a:off x="2952750" y="904875"/>
              <a:ext cx="3238500" cy="400200"/>
              <a:chOff x="0" y="0"/>
              <a:chExt cx="3238500" cy="400200"/>
            </a:xfrm>
          </p:grpSpPr>
          <p:sp>
            <p:nvSpPr>
              <p:cNvPr id="759" name="Google Shape;759;p24"/>
              <p:cNvSpPr/>
              <p:nvPr/>
            </p:nvSpPr>
            <p:spPr>
              <a:xfrm>
                <a:off x="0" y="0"/>
                <a:ext cx="3238500" cy="400200"/>
              </a:xfrm>
              <a:prstGeom prst="roundRect">
                <a:avLst>
                  <a:gd name="adj" fmla="val 14285"/>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0" name="Google Shape;760;p24"/>
              <p:cNvSpPr/>
              <p:nvPr/>
            </p:nvSpPr>
            <p:spPr>
              <a:xfrm>
                <a:off x="85725" y="95250"/>
                <a:ext cx="209700" cy="209700"/>
              </a:xfrm>
              <a:prstGeom prst="ellipse">
                <a:avLst/>
              </a:prstGeom>
              <a:solidFill>
                <a:srgbClr val="F43F5E">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1" name="Google Shape;761;p24"/>
              <p:cNvSpPr txBox="1"/>
              <p:nvPr/>
            </p:nvSpPr>
            <p:spPr>
              <a:xfrm>
                <a:off x="85725" y="95250"/>
                <a:ext cx="2097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F43F5E"/>
                    </a:solidFill>
                    <a:latin typeface="Poppins ExtraBold"/>
                    <a:ea typeface="Poppins ExtraBold"/>
                    <a:cs typeface="Poppins ExtraBold"/>
                    <a:sym typeface="Poppins ExtraBold"/>
                  </a:rPr>
                  <a:t>01</a:t>
                </a:r>
                <a:endParaRPr sz="900" b="0">
                  <a:solidFill>
                    <a:srgbClr val="F43F5E"/>
                  </a:solidFill>
                  <a:latin typeface="Poppins ExtraBold"/>
                  <a:ea typeface="Poppins ExtraBold"/>
                  <a:cs typeface="Poppins ExtraBold"/>
                  <a:sym typeface="Poppins ExtraBold"/>
                </a:endParaRPr>
              </a:p>
            </p:txBody>
          </p:sp>
          <p:sp>
            <p:nvSpPr>
              <p:cNvPr id="762" name="Google Shape;762;p24"/>
              <p:cNvSpPr txBox="1"/>
              <p:nvPr/>
            </p:nvSpPr>
            <p:spPr>
              <a:xfrm>
                <a:off x="400050" y="85725"/>
                <a:ext cx="27147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00" b="1">
                    <a:solidFill>
                      <a:srgbClr val="FFFFFF"/>
                    </a:solidFill>
                    <a:latin typeface="Poppins"/>
                    <a:ea typeface="Poppins"/>
                    <a:cs typeface="Poppins"/>
                    <a:sym typeface="Poppins"/>
                  </a:rPr>
                  <a:t>Validation Accuracy at ~29%</a:t>
                </a:r>
                <a:endParaRPr sz="700" b="1">
                  <a:solidFill>
                    <a:srgbClr val="FFFFFF"/>
                  </a:solidFill>
                  <a:latin typeface="Poppins"/>
                  <a:ea typeface="Poppins"/>
                  <a:cs typeface="Poppins"/>
                  <a:sym typeface="Poppins"/>
                </a:endParaRPr>
              </a:p>
              <a:p>
                <a:pPr marL="0" lvl="0" indent="0" algn="l" rtl="0">
                  <a:spcBef>
                    <a:spcPts val="150"/>
                  </a:spcBef>
                  <a:spcAft>
                    <a:spcPts val="0"/>
                  </a:spcAft>
                  <a:buNone/>
                </a:pPr>
                <a:r>
                  <a:rPr lang="en-GB" sz="550" b="0">
                    <a:solidFill>
                      <a:srgbClr val="94A3B8"/>
                    </a:solidFill>
                    <a:latin typeface="Poppins"/>
                    <a:ea typeface="Poppins"/>
                    <a:cs typeface="Poppins"/>
                    <a:sym typeface="Poppins"/>
                  </a:rPr>
                  <a:t>The model struggled to learn features correctly during initial runs.</a:t>
                </a:r>
                <a:endParaRPr sz="550" b="0">
                  <a:solidFill>
                    <a:srgbClr val="94A3B8"/>
                  </a:solidFill>
                  <a:latin typeface="Poppins"/>
                  <a:ea typeface="Poppins"/>
                  <a:cs typeface="Poppins"/>
                  <a:sym typeface="Poppins"/>
                </a:endParaRPr>
              </a:p>
            </p:txBody>
          </p:sp>
        </p:grpSp>
        <p:grpSp>
          <p:nvGrpSpPr>
            <p:cNvPr id="763" name="Google Shape;763;p24"/>
            <p:cNvGrpSpPr/>
            <p:nvPr/>
          </p:nvGrpSpPr>
          <p:grpSpPr>
            <a:xfrm>
              <a:off x="2952750" y="1409700"/>
              <a:ext cx="3238500" cy="400200"/>
              <a:chOff x="0" y="0"/>
              <a:chExt cx="3238500" cy="400200"/>
            </a:xfrm>
          </p:grpSpPr>
          <p:sp>
            <p:nvSpPr>
              <p:cNvPr id="764" name="Google Shape;764;p24"/>
              <p:cNvSpPr/>
              <p:nvPr/>
            </p:nvSpPr>
            <p:spPr>
              <a:xfrm>
                <a:off x="0" y="0"/>
                <a:ext cx="3238500" cy="400200"/>
              </a:xfrm>
              <a:prstGeom prst="roundRect">
                <a:avLst>
                  <a:gd name="adj" fmla="val 14285"/>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5" name="Google Shape;765;p24"/>
              <p:cNvSpPr/>
              <p:nvPr/>
            </p:nvSpPr>
            <p:spPr>
              <a:xfrm>
                <a:off x="85725" y="95250"/>
                <a:ext cx="209700" cy="209700"/>
              </a:xfrm>
              <a:prstGeom prst="ellipse">
                <a:avLst/>
              </a:prstGeom>
              <a:solidFill>
                <a:srgbClr val="F59E0B">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66" name="Google Shape;766;p24"/>
              <p:cNvSpPr txBox="1"/>
              <p:nvPr/>
            </p:nvSpPr>
            <p:spPr>
              <a:xfrm>
                <a:off x="85725" y="95250"/>
                <a:ext cx="2097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F59E0B"/>
                    </a:solidFill>
                    <a:latin typeface="Poppins ExtraBold"/>
                    <a:ea typeface="Poppins ExtraBold"/>
                    <a:cs typeface="Poppins ExtraBold"/>
                    <a:sym typeface="Poppins ExtraBold"/>
                  </a:rPr>
                  <a:t>02</a:t>
                </a:r>
                <a:endParaRPr sz="900" b="0">
                  <a:solidFill>
                    <a:srgbClr val="F59E0B"/>
                  </a:solidFill>
                  <a:latin typeface="Poppins ExtraBold"/>
                  <a:ea typeface="Poppins ExtraBold"/>
                  <a:cs typeface="Poppins ExtraBold"/>
                  <a:sym typeface="Poppins ExtraBold"/>
                </a:endParaRPr>
              </a:p>
            </p:txBody>
          </p:sp>
          <p:sp>
            <p:nvSpPr>
              <p:cNvPr id="767" name="Google Shape;767;p24"/>
              <p:cNvSpPr txBox="1"/>
              <p:nvPr/>
            </p:nvSpPr>
            <p:spPr>
              <a:xfrm>
                <a:off x="400050" y="85725"/>
                <a:ext cx="27147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00" b="1">
                    <a:solidFill>
                      <a:srgbClr val="FFFFFF"/>
                    </a:solidFill>
                    <a:latin typeface="Poppins"/>
                    <a:ea typeface="Poppins"/>
                    <a:cs typeface="Poppins"/>
                    <a:sym typeface="Poppins"/>
                  </a:rPr>
                  <a:t>Preprocessing Pipeline Audit</a:t>
                </a:r>
                <a:endParaRPr sz="700" b="1">
                  <a:solidFill>
                    <a:srgbClr val="FFFFFF"/>
                  </a:solidFill>
                  <a:latin typeface="Poppins"/>
                  <a:ea typeface="Poppins"/>
                  <a:cs typeface="Poppins"/>
                  <a:sym typeface="Poppins"/>
                </a:endParaRPr>
              </a:p>
              <a:p>
                <a:pPr marL="0" lvl="0" indent="0" algn="l" rtl="0">
                  <a:spcBef>
                    <a:spcPts val="150"/>
                  </a:spcBef>
                  <a:spcAft>
                    <a:spcPts val="0"/>
                  </a:spcAft>
                  <a:buNone/>
                </a:pPr>
                <a:r>
                  <a:rPr lang="en-GB" sz="550" b="0">
                    <a:solidFill>
                      <a:srgbClr val="94A3B8"/>
                    </a:solidFill>
                    <a:latin typeface="Poppins"/>
                    <a:ea typeface="Poppins"/>
                    <a:cs typeface="Poppins"/>
                    <a:sym typeface="Poppins"/>
                  </a:rPr>
                  <a:t>Identified critical size and normalization errors in image handling.</a:t>
                </a:r>
                <a:endParaRPr sz="550" b="0">
                  <a:solidFill>
                    <a:srgbClr val="94A3B8"/>
                  </a:solidFill>
                  <a:latin typeface="Poppins"/>
                  <a:ea typeface="Poppins"/>
                  <a:cs typeface="Poppins"/>
                  <a:sym typeface="Poppins"/>
                </a:endParaRPr>
              </a:p>
            </p:txBody>
          </p:sp>
        </p:grpSp>
        <p:grpSp>
          <p:nvGrpSpPr>
            <p:cNvPr id="768" name="Google Shape;768;p24"/>
            <p:cNvGrpSpPr/>
            <p:nvPr/>
          </p:nvGrpSpPr>
          <p:grpSpPr>
            <a:xfrm>
              <a:off x="2952750" y="1914525"/>
              <a:ext cx="3238500" cy="400200"/>
              <a:chOff x="0" y="0"/>
              <a:chExt cx="3238500" cy="400200"/>
            </a:xfrm>
          </p:grpSpPr>
          <p:sp>
            <p:nvSpPr>
              <p:cNvPr id="769" name="Google Shape;769;p24"/>
              <p:cNvSpPr/>
              <p:nvPr/>
            </p:nvSpPr>
            <p:spPr>
              <a:xfrm>
                <a:off x="0" y="0"/>
                <a:ext cx="3238500" cy="400200"/>
              </a:xfrm>
              <a:prstGeom prst="roundRect">
                <a:avLst>
                  <a:gd name="adj" fmla="val 14285"/>
                </a:avLst>
              </a:prstGeom>
              <a:solidFill>
                <a:srgbClr val="0F172A">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0" name="Google Shape;770;p24"/>
              <p:cNvSpPr/>
              <p:nvPr/>
            </p:nvSpPr>
            <p:spPr>
              <a:xfrm>
                <a:off x="85725" y="95250"/>
                <a:ext cx="209700" cy="209700"/>
              </a:xfrm>
              <a:prstGeom prst="ellipse">
                <a:avLst/>
              </a:prstGeom>
              <a:solidFill>
                <a:srgbClr val="3B82F6">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1" name="Google Shape;771;p24"/>
              <p:cNvSpPr txBox="1"/>
              <p:nvPr/>
            </p:nvSpPr>
            <p:spPr>
              <a:xfrm>
                <a:off x="85725" y="95250"/>
                <a:ext cx="2097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3B82F6"/>
                    </a:solidFill>
                    <a:latin typeface="Poppins ExtraBold"/>
                    <a:ea typeface="Poppins ExtraBold"/>
                    <a:cs typeface="Poppins ExtraBold"/>
                    <a:sym typeface="Poppins ExtraBold"/>
                  </a:rPr>
                  <a:t>03</a:t>
                </a:r>
                <a:endParaRPr sz="900" b="0">
                  <a:solidFill>
                    <a:srgbClr val="3B82F6"/>
                  </a:solidFill>
                  <a:latin typeface="Poppins ExtraBold"/>
                  <a:ea typeface="Poppins ExtraBold"/>
                  <a:cs typeface="Poppins ExtraBold"/>
                  <a:sym typeface="Poppins ExtraBold"/>
                </a:endParaRPr>
              </a:p>
            </p:txBody>
          </p:sp>
          <p:sp>
            <p:nvSpPr>
              <p:cNvPr id="772" name="Google Shape;772;p24"/>
              <p:cNvSpPr txBox="1"/>
              <p:nvPr/>
            </p:nvSpPr>
            <p:spPr>
              <a:xfrm>
                <a:off x="400050" y="85725"/>
                <a:ext cx="27147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00" b="1">
                    <a:solidFill>
                      <a:srgbClr val="FFFFFF"/>
                    </a:solidFill>
                    <a:latin typeface="Poppins"/>
                    <a:ea typeface="Poppins"/>
                    <a:cs typeface="Poppins"/>
                    <a:sym typeface="Poppins"/>
                  </a:rPr>
                  <a:t>Rebuilt TensorFlow Pipeline</a:t>
                </a:r>
                <a:endParaRPr sz="700" b="1">
                  <a:solidFill>
                    <a:srgbClr val="FFFFFF"/>
                  </a:solidFill>
                  <a:latin typeface="Poppins"/>
                  <a:ea typeface="Poppins"/>
                  <a:cs typeface="Poppins"/>
                  <a:sym typeface="Poppins"/>
                </a:endParaRPr>
              </a:p>
              <a:p>
                <a:pPr marL="0" lvl="0" indent="0" algn="l" rtl="0">
                  <a:spcBef>
                    <a:spcPts val="150"/>
                  </a:spcBef>
                  <a:spcAft>
                    <a:spcPts val="0"/>
                  </a:spcAft>
                  <a:buNone/>
                </a:pPr>
                <a:r>
                  <a:rPr lang="en-GB" sz="550" b="0">
                    <a:solidFill>
                      <a:srgbClr val="94A3B8"/>
                    </a:solidFill>
                    <a:latin typeface="Poppins"/>
                    <a:ea typeface="Poppins"/>
                    <a:cs typeface="Poppins"/>
                    <a:sym typeface="Poppins"/>
                  </a:rPr>
                  <a:t>Implemented strict 224x224 resizing and dynamic batching controls.</a:t>
                </a:r>
                <a:endParaRPr sz="550" b="0">
                  <a:solidFill>
                    <a:srgbClr val="94A3B8"/>
                  </a:solidFill>
                  <a:latin typeface="Poppins"/>
                  <a:ea typeface="Poppins"/>
                  <a:cs typeface="Poppins"/>
                  <a:sym typeface="Poppins"/>
                </a:endParaRPr>
              </a:p>
            </p:txBody>
          </p:sp>
        </p:grpSp>
        <p:grpSp>
          <p:nvGrpSpPr>
            <p:cNvPr id="773" name="Google Shape;773;p24"/>
            <p:cNvGrpSpPr/>
            <p:nvPr/>
          </p:nvGrpSpPr>
          <p:grpSpPr>
            <a:xfrm>
              <a:off x="2947988" y="2414588"/>
              <a:ext cx="3248100" cy="409500"/>
              <a:chOff x="-4762" y="-4762"/>
              <a:chExt cx="3248100" cy="409500"/>
            </a:xfrm>
          </p:grpSpPr>
          <p:pic>
            <p:nvPicPr>
              <p:cNvPr id="774" name="Google Shape;774;p24"/>
              <p:cNvPicPr preferRelativeResize="0"/>
              <p:nvPr/>
            </p:nvPicPr>
            <p:blipFill rotWithShape="1">
              <a:blip r:embed="rId9">
                <a:alphaModFix/>
              </a:blip>
              <a:srcRect/>
              <a:stretch/>
            </p:blipFill>
            <p:spPr>
              <a:xfrm>
                <a:off x="-4762" y="-4762"/>
                <a:ext cx="3248100" cy="409500"/>
              </a:xfrm>
              <a:prstGeom prst="rect">
                <a:avLst/>
              </a:prstGeom>
              <a:noFill/>
              <a:ln>
                <a:noFill/>
              </a:ln>
            </p:spPr>
          </p:pic>
          <p:sp>
            <p:nvSpPr>
              <p:cNvPr id="775" name="Google Shape;775;p24"/>
              <p:cNvSpPr/>
              <p:nvPr/>
            </p:nvSpPr>
            <p:spPr>
              <a:xfrm>
                <a:off x="85725" y="95250"/>
                <a:ext cx="209700" cy="209700"/>
              </a:xfrm>
              <a:prstGeom prst="ellipse">
                <a:avLst/>
              </a:prstGeom>
              <a:solidFill>
                <a:srgbClr val="10B981">
                  <a:alpha val="20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76" name="Google Shape;776;p24"/>
              <p:cNvSpPr txBox="1"/>
              <p:nvPr/>
            </p:nvSpPr>
            <p:spPr>
              <a:xfrm>
                <a:off x="85725" y="95250"/>
                <a:ext cx="209700" cy="2097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900" b="0">
                    <a:solidFill>
                      <a:srgbClr val="10B981"/>
                    </a:solidFill>
                    <a:latin typeface="Poppins ExtraBold"/>
                    <a:ea typeface="Poppins ExtraBold"/>
                    <a:cs typeface="Poppins ExtraBold"/>
                    <a:sym typeface="Poppins ExtraBold"/>
                  </a:rPr>
                  <a:t>04</a:t>
                </a:r>
                <a:endParaRPr sz="900" b="0">
                  <a:solidFill>
                    <a:srgbClr val="10B981"/>
                  </a:solidFill>
                  <a:latin typeface="Poppins ExtraBold"/>
                  <a:ea typeface="Poppins ExtraBold"/>
                  <a:cs typeface="Poppins ExtraBold"/>
                  <a:sym typeface="Poppins ExtraBold"/>
                </a:endParaRPr>
              </a:p>
            </p:txBody>
          </p:sp>
          <p:sp>
            <p:nvSpPr>
              <p:cNvPr id="777" name="Google Shape;777;p24"/>
              <p:cNvSpPr txBox="1"/>
              <p:nvPr/>
            </p:nvSpPr>
            <p:spPr>
              <a:xfrm>
                <a:off x="400050" y="85725"/>
                <a:ext cx="2714700" cy="228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00" b="1">
                    <a:solidFill>
                      <a:srgbClr val="10B981"/>
                    </a:solidFill>
                    <a:latin typeface="Poppins"/>
                    <a:ea typeface="Poppins"/>
                    <a:cs typeface="Poppins"/>
                    <a:sym typeface="Poppins"/>
                  </a:rPr>
                  <a:t>Validation Accuracy: 93.84%</a:t>
                </a:r>
                <a:endParaRPr sz="700" b="1">
                  <a:solidFill>
                    <a:srgbClr val="10B981"/>
                  </a:solidFill>
                  <a:latin typeface="Poppins"/>
                  <a:ea typeface="Poppins"/>
                  <a:cs typeface="Poppins"/>
                  <a:sym typeface="Poppins"/>
                </a:endParaRPr>
              </a:p>
              <a:p>
                <a:pPr marL="0" lvl="0" indent="0" algn="l" rtl="0">
                  <a:spcBef>
                    <a:spcPts val="150"/>
                  </a:spcBef>
                  <a:spcAft>
                    <a:spcPts val="0"/>
                  </a:spcAft>
                  <a:buNone/>
                </a:pPr>
                <a:r>
                  <a:rPr lang="en-GB" sz="550" b="0">
                    <a:solidFill>
                      <a:srgbClr val="E2E8F0"/>
                    </a:solidFill>
                    <a:latin typeface="Poppins"/>
                    <a:ea typeface="Poppins"/>
                    <a:cs typeface="Poppins"/>
                    <a:sym typeface="Poppins"/>
                  </a:rPr>
                  <a:t>The CNN achieved solid stability, confirming successful optimization.</a:t>
                </a:r>
                <a:endParaRPr sz="550" b="0">
                  <a:solidFill>
                    <a:srgbClr val="E2E8F0"/>
                  </a:solidFill>
                  <a:latin typeface="Poppins"/>
                  <a:ea typeface="Poppins"/>
                  <a:cs typeface="Poppins"/>
                  <a:sym typeface="Poppins"/>
                </a:endParaRPr>
              </a:p>
            </p:txBody>
          </p:sp>
        </p:grpSp>
      </p:grpSp>
      <p:grpSp>
        <p:nvGrpSpPr>
          <p:cNvPr id="778" name="Google Shape;778;p24"/>
          <p:cNvGrpSpPr/>
          <p:nvPr/>
        </p:nvGrpSpPr>
        <p:grpSpPr>
          <a:xfrm>
            <a:off x="6429375" y="904875"/>
            <a:ext cx="2286000" cy="2228850"/>
            <a:chOff x="0" y="0"/>
            <a:chExt cx="2286000" cy="2228850"/>
          </a:xfrm>
        </p:grpSpPr>
        <p:grpSp>
          <p:nvGrpSpPr>
            <p:cNvPr id="779" name="Google Shape;779;p24"/>
            <p:cNvGrpSpPr/>
            <p:nvPr/>
          </p:nvGrpSpPr>
          <p:grpSpPr>
            <a:xfrm>
              <a:off x="0" y="0"/>
              <a:ext cx="2286000" cy="647700"/>
              <a:chOff x="0" y="0"/>
              <a:chExt cx="2286000" cy="647700"/>
            </a:xfrm>
          </p:grpSpPr>
          <p:sp>
            <p:nvSpPr>
              <p:cNvPr id="780" name="Google Shape;780;p24"/>
              <p:cNvSpPr/>
              <p:nvPr/>
            </p:nvSpPr>
            <p:spPr>
              <a:xfrm>
                <a:off x="0" y="0"/>
                <a:ext cx="2286000" cy="647700"/>
              </a:xfrm>
              <a:prstGeom prst="roundRect">
                <a:avLst>
                  <a:gd name="adj" fmla="val 11764"/>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1" name="Google Shape;781;p24"/>
              <p:cNvSpPr/>
              <p:nvPr/>
            </p:nvSpPr>
            <p:spPr>
              <a:xfrm>
                <a:off x="0" y="0"/>
                <a:ext cx="28500" cy="6477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2" name="Google Shape;782;p24"/>
              <p:cNvSpPr txBox="1"/>
              <p:nvPr/>
            </p:nvSpPr>
            <p:spPr>
              <a:xfrm>
                <a:off x="142875" y="95250"/>
                <a:ext cx="20001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1">
                    <a:solidFill>
                      <a:srgbClr val="10B981"/>
                    </a:solidFill>
                    <a:latin typeface="Poppins"/>
                    <a:ea typeface="Poppins"/>
                    <a:cs typeface="Poppins"/>
                    <a:sym typeface="Poppins"/>
                  </a:rPr>
                  <a:t>✔️ Pipeline Verified</a:t>
                </a:r>
                <a:endParaRPr sz="750" b="1">
                  <a:solidFill>
                    <a:srgbClr val="10B981"/>
                  </a:solidFill>
                  <a:latin typeface="Poppins"/>
                  <a:ea typeface="Poppins"/>
                  <a:cs typeface="Poppins"/>
                  <a:sym typeface="Poppins"/>
                </a:endParaRPr>
              </a:p>
              <a:p>
                <a:pPr marL="0" lvl="0" indent="0" algn="l" rtl="0">
                  <a:spcBef>
                    <a:spcPts val="300"/>
                  </a:spcBef>
                  <a:spcAft>
                    <a:spcPts val="0"/>
                  </a:spcAft>
                  <a:buNone/>
                </a:pPr>
                <a:r>
                  <a:rPr lang="en-GB" sz="650" b="0">
                    <a:solidFill>
                      <a:srgbClr val="94A3B8"/>
                    </a:solidFill>
                    <a:latin typeface="Poppins"/>
                    <a:ea typeface="Poppins"/>
                    <a:cs typeface="Poppins"/>
                    <a:sym typeface="Poppins"/>
                  </a:rPr>
                  <a:t>Pre-execution validation tests were introduced to prevent corrupted frames from entering the training graph.</a:t>
                </a:r>
                <a:endParaRPr sz="650" b="0">
                  <a:solidFill>
                    <a:srgbClr val="94A3B8"/>
                  </a:solidFill>
                  <a:latin typeface="Poppins"/>
                  <a:ea typeface="Poppins"/>
                  <a:cs typeface="Poppins"/>
                  <a:sym typeface="Poppins"/>
                </a:endParaRPr>
              </a:p>
            </p:txBody>
          </p:sp>
        </p:grpSp>
        <p:grpSp>
          <p:nvGrpSpPr>
            <p:cNvPr id="783" name="Google Shape;783;p24"/>
            <p:cNvGrpSpPr/>
            <p:nvPr/>
          </p:nvGrpSpPr>
          <p:grpSpPr>
            <a:xfrm>
              <a:off x="0" y="790575"/>
              <a:ext cx="2286000" cy="647700"/>
              <a:chOff x="0" y="0"/>
              <a:chExt cx="2286000" cy="647700"/>
            </a:xfrm>
          </p:grpSpPr>
          <p:sp>
            <p:nvSpPr>
              <p:cNvPr id="784" name="Google Shape;784;p24"/>
              <p:cNvSpPr/>
              <p:nvPr/>
            </p:nvSpPr>
            <p:spPr>
              <a:xfrm>
                <a:off x="0" y="0"/>
                <a:ext cx="2286000" cy="647700"/>
              </a:xfrm>
              <a:prstGeom prst="roundRect">
                <a:avLst>
                  <a:gd name="adj" fmla="val 11764"/>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5" name="Google Shape;785;p24"/>
              <p:cNvSpPr/>
              <p:nvPr/>
            </p:nvSpPr>
            <p:spPr>
              <a:xfrm>
                <a:off x="0" y="0"/>
                <a:ext cx="28500" cy="6477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6" name="Google Shape;786;p24"/>
              <p:cNvSpPr txBox="1"/>
              <p:nvPr/>
            </p:nvSpPr>
            <p:spPr>
              <a:xfrm>
                <a:off x="142875" y="95250"/>
                <a:ext cx="20001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1">
                    <a:solidFill>
                      <a:srgbClr val="10B981"/>
                    </a:solidFill>
                    <a:latin typeface="Poppins"/>
                    <a:ea typeface="Poppins"/>
                    <a:cs typeface="Poppins"/>
                    <a:sym typeface="Poppins"/>
                  </a:rPr>
                  <a:t>✔️ Correct Dimensions</a:t>
                </a:r>
                <a:endParaRPr sz="750" b="1">
                  <a:solidFill>
                    <a:srgbClr val="10B981"/>
                  </a:solidFill>
                  <a:latin typeface="Poppins"/>
                  <a:ea typeface="Poppins"/>
                  <a:cs typeface="Poppins"/>
                  <a:sym typeface="Poppins"/>
                </a:endParaRPr>
              </a:p>
              <a:p>
                <a:pPr marL="0" lvl="0" indent="0" algn="l" rtl="0">
                  <a:spcBef>
                    <a:spcPts val="300"/>
                  </a:spcBef>
                  <a:spcAft>
                    <a:spcPts val="0"/>
                  </a:spcAft>
                  <a:buNone/>
                </a:pPr>
                <a:r>
                  <a:rPr lang="en-GB" sz="650" b="0">
                    <a:solidFill>
                      <a:srgbClr val="94A3B8"/>
                    </a:solidFill>
                    <a:latin typeface="Poppins"/>
                    <a:ea typeface="Poppins"/>
                    <a:cs typeface="Poppins"/>
                    <a:sym typeface="Poppins"/>
                  </a:rPr>
                  <a:t>Locked image dimensions strictly to </a:t>
                </a:r>
                <a:r>
                  <a:rPr lang="en-GB" sz="650" b="0">
                    <a:solidFill>
                      <a:srgbClr val="FFFFFF"/>
                    </a:solidFill>
                    <a:latin typeface="Poppins SemiBold"/>
                    <a:ea typeface="Poppins SemiBold"/>
                    <a:cs typeface="Poppins SemiBold"/>
                    <a:sym typeface="Poppins SemiBold"/>
                  </a:rPr>
                  <a:t>224 × 224</a:t>
                </a:r>
                <a:r>
                  <a:rPr lang="en-GB" sz="650" b="0">
                    <a:solidFill>
                      <a:srgbClr val="94A3B8"/>
                    </a:solidFill>
                    <a:latin typeface="Poppins"/>
                    <a:ea typeface="Poppins"/>
                    <a:cs typeface="Poppins"/>
                    <a:sym typeface="Poppins"/>
                  </a:rPr>
                  <a:t> pixels, eliminating spatial distortion errors.</a:t>
                </a:r>
                <a:endParaRPr sz="650" b="0">
                  <a:solidFill>
                    <a:srgbClr val="94A3B8"/>
                  </a:solidFill>
                  <a:latin typeface="Poppins"/>
                  <a:ea typeface="Poppins"/>
                  <a:cs typeface="Poppins"/>
                  <a:sym typeface="Poppins"/>
                </a:endParaRPr>
              </a:p>
            </p:txBody>
          </p:sp>
        </p:grpSp>
        <p:grpSp>
          <p:nvGrpSpPr>
            <p:cNvPr id="787" name="Google Shape;787;p24"/>
            <p:cNvGrpSpPr/>
            <p:nvPr/>
          </p:nvGrpSpPr>
          <p:grpSpPr>
            <a:xfrm>
              <a:off x="0" y="1581150"/>
              <a:ext cx="2286000" cy="647700"/>
              <a:chOff x="0" y="0"/>
              <a:chExt cx="2286000" cy="647700"/>
            </a:xfrm>
          </p:grpSpPr>
          <p:sp>
            <p:nvSpPr>
              <p:cNvPr id="788" name="Google Shape;788;p24"/>
              <p:cNvSpPr/>
              <p:nvPr/>
            </p:nvSpPr>
            <p:spPr>
              <a:xfrm>
                <a:off x="0" y="0"/>
                <a:ext cx="2286000" cy="647700"/>
              </a:xfrm>
              <a:prstGeom prst="roundRect">
                <a:avLst>
                  <a:gd name="adj" fmla="val 11764"/>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89" name="Google Shape;789;p24"/>
              <p:cNvSpPr/>
              <p:nvPr/>
            </p:nvSpPr>
            <p:spPr>
              <a:xfrm>
                <a:off x="0" y="0"/>
                <a:ext cx="28500" cy="647700"/>
              </a:xfrm>
              <a:prstGeom prst="roundRect">
                <a:avLst>
                  <a:gd name="adj" fmla="val 50000"/>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0" name="Google Shape;790;p24"/>
              <p:cNvSpPr txBox="1"/>
              <p:nvPr/>
            </p:nvSpPr>
            <p:spPr>
              <a:xfrm>
                <a:off x="142875" y="95250"/>
                <a:ext cx="20001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1">
                    <a:solidFill>
                      <a:srgbClr val="10B981"/>
                    </a:solidFill>
                    <a:latin typeface="Poppins"/>
                    <a:ea typeface="Poppins"/>
                    <a:cs typeface="Poppins"/>
                    <a:sym typeface="Poppins"/>
                  </a:rPr>
                  <a:t>✔️ Performance Restored</a:t>
                </a:r>
                <a:endParaRPr sz="750" b="1">
                  <a:solidFill>
                    <a:srgbClr val="10B981"/>
                  </a:solidFill>
                  <a:latin typeface="Poppins"/>
                  <a:ea typeface="Poppins"/>
                  <a:cs typeface="Poppins"/>
                  <a:sym typeface="Poppins"/>
                </a:endParaRPr>
              </a:p>
              <a:p>
                <a:pPr marL="0" lvl="0" indent="0" algn="l" rtl="0">
                  <a:spcBef>
                    <a:spcPts val="300"/>
                  </a:spcBef>
                  <a:spcAft>
                    <a:spcPts val="0"/>
                  </a:spcAft>
                  <a:buNone/>
                </a:pPr>
                <a:r>
                  <a:rPr lang="en-GB" sz="650" b="0">
                    <a:solidFill>
                      <a:srgbClr val="94A3B8"/>
                    </a:solidFill>
                    <a:latin typeface="Poppins"/>
                    <a:ea typeface="Poppins"/>
                    <a:cs typeface="Poppins"/>
                    <a:sym typeface="Poppins"/>
                  </a:rPr>
                  <a:t>Re-trained the CNN with the optimized pipeline, yielding immediate validation performance boosts.</a:t>
                </a:r>
                <a:endParaRPr sz="650" b="0">
                  <a:solidFill>
                    <a:srgbClr val="94A3B8"/>
                  </a:solidFill>
                  <a:latin typeface="Poppins"/>
                  <a:ea typeface="Poppins"/>
                  <a:cs typeface="Poppins"/>
                  <a:sym typeface="Poppins"/>
                </a:endParaRPr>
              </a:p>
            </p:txBody>
          </p:sp>
        </p:grpSp>
      </p:grpSp>
      <p:grpSp>
        <p:nvGrpSpPr>
          <p:cNvPr id="791" name="Google Shape;791;p24"/>
          <p:cNvGrpSpPr/>
          <p:nvPr/>
        </p:nvGrpSpPr>
        <p:grpSpPr>
          <a:xfrm>
            <a:off x="428625" y="3314700"/>
            <a:ext cx="8286900" cy="705000"/>
            <a:chOff x="428625" y="3314700"/>
            <a:chExt cx="8286900" cy="705000"/>
          </a:xfrm>
        </p:grpSpPr>
        <p:sp>
          <p:nvSpPr>
            <p:cNvPr id="792" name="Google Shape;792;p24"/>
            <p:cNvSpPr/>
            <p:nvPr/>
          </p:nvSpPr>
          <p:spPr>
            <a:xfrm>
              <a:off x="428625" y="3314700"/>
              <a:ext cx="8286900" cy="705000"/>
            </a:xfrm>
            <a:prstGeom prst="roundRect">
              <a:avLst>
                <a:gd name="adj" fmla="val 10810"/>
              </a:avLst>
            </a:prstGeom>
            <a:solidFill>
              <a:srgbClr val="0F172A"/>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3" name="Google Shape;793;p24"/>
            <p:cNvSpPr/>
            <p:nvPr/>
          </p:nvSpPr>
          <p:spPr>
            <a:xfrm>
              <a:off x="428625" y="3314700"/>
              <a:ext cx="38100" cy="7050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794" name="Google Shape;794;p24"/>
            <p:cNvSpPr txBox="1"/>
            <p:nvPr/>
          </p:nvSpPr>
          <p:spPr>
            <a:xfrm>
              <a:off x="619125" y="3390900"/>
              <a:ext cx="7905900" cy="5526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850" b="1">
                  <a:solidFill>
                    <a:srgbClr val="00F2FE"/>
                  </a:solidFill>
                  <a:latin typeface="Poppins"/>
                  <a:ea typeface="Poppins"/>
                  <a:cs typeface="Poppins"/>
                  <a:sym typeface="Poppins"/>
                </a:rPr>
                <a:t>💡 Key Engineering Learning</a:t>
              </a:r>
              <a:endParaRPr sz="850" b="1">
                <a:solidFill>
                  <a:srgbClr val="00F2FE"/>
                </a:solidFill>
                <a:latin typeface="Poppins"/>
                <a:ea typeface="Poppins"/>
                <a:cs typeface="Poppins"/>
                <a:sym typeface="Poppins"/>
              </a:endParaRPr>
            </a:p>
            <a:p>
              <a:pPr marL="0" lvl="0" indent="0" algn="l" rtl="0">
                <a:spcBef>
                  <a:spcPts val="300"/>
                </a:spcBef>
                <a:spcAft>
                  <a:spcPts val="0"/>
                </a:spcAft>
                <a:buNone/>
              </a:pPr>
              <a:r>
                <a:rPr lang="en-GB" sz="750" b="0">
                  <a:solidFill>
                    <a:srgbClr val="E2E8F0"/>
                  </a:solidFill>
                  <a:latin typeface="Poppins"/>
                  <a:ea typeface="Poppins"/>
                  <a:cs typeface="Poppins"/>
                  <a:sym typeface="Poppins"/>
                </a:rPr>
                <a:t>Building a reliable Deep Learning model is not just about writing code—it requires </a:t>
              </a:r>
              <a:r>
                <a:rPr lang="en-GB" sz="750" b="0">
                  <a:solidFill>
                    <a:srgbClr val="00F2FE"/>
                  </a:solidFill>
                  <a:latin typeface="Poppins SemiBold"/>
                  <a:ea typeface="Poppins SemiBold"/>
                  <a:cs typeface="Poppins SemiBold"/>
                  <a:sym typeface="Poppins SemiBold"/>
                </a:rPr>
                <a:t>systematic debugging, rigorous preprocessing validation, empirical experimentation, and continuous pipeline optimization</a:t>
              </a:r>
              <a:r>
                <a:rPr lang="en-GB" sz="750" b="0">
                  <a:solidFill>
                    <a:srgbClr val="E2E8F0"/>
                  </a:solidFill>
                  <a:latin typeface="Poppins"/>
                  <a:ea typeface="Poppins"/>
                  <a:cs typeface="Poppins"/>
                  <a:sym typeface="Poppins"/>
                </a:rPr>
                <a:t> to translate theoretical model structures into dependable clinical results.</a:t>
              </a:r>
              <a:endParaRPr sz="750" b="0">
                <a:solidFill>
                  <a:srgbClr val="E2E8F0"/>
                </a:solidFill>
                <a:latin typeface="Poppins"/>
                <a:ea typeface="Poppins"/>
                <a:cs typeface="Poppins"/>
                <a:sym typeface="Poppins"/>
              </a:endParaRPr>
            </a:p>
          </p:txBody>
        </p:sp>
      </p:grpSp>
      <p:grpSp>
        <p:nvGrpSpPr>
          <p:cNvPr id="795" name="Google Shape;795;p24"/>
          <p:cNvGrpSpPr/>
          <p:nvPr/>
        </p:nvGrpSpPr>
        <p:grpSpPr>
          <a:xfrm>
            <a:off x="428625" y="4191000"/>
            <a:ext cx="8286900" cy="219000"/>
            <a:chOff x="428625" y="4191000"/>
            <a:chExt cx="8286900" cy="219000"/>
          </a:xfrm>
        </p:grpSpPr>
        <p:cxnSp>
          <p:nvCxnSpPr>
            <p:cNvPr id="796" name="Google Shape;796;p24"/>
            <p:cNvCxnSpPr/>
            <p:nvPr/>
          </p:nvCxnSpPr>
          <p:spPr>
            <a:xfrm>
              <a:off x="428625" y="419100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797" name="Google Shape;797;p24"/>
            <p:cNvSpPr txBox="1"/>
            <p:nvPr/>
          </p:nvSpPr>
          <p:spPr>
            <a:xfrm>
              <a:off x="428625" y="4267200"/>
              <a:ext cx="3810000" cy="142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600" b="0">
                  <a:solidFill>
                    <a:srgbClr val="475569"/>
                  </a:solidFill>
                  <a:latin typeface="Poppins"/>
                  <a:ea typeface="Poppins"/>
                  <a:cs typeface="Poppins"/>
                  <a:sym typeface="Poppins"/>
                </a:rPr>
                <a:t>Department of Data Science &amp; Artificial Intelligence | Clinical AI Evaluation</a:t>
              </a:r>
              <a:endParaRPr sz="600" b="0">
                <a:solidFill>
                  <a:srgbClr val="475569"/>
                </a:solidFill>
                <a:latin typeface="Poppins"/>
                <a:ea typeface="Poppins"/>
                <a:cs typeface="Poppins"/>
                <a:sym typeface="Poppins"/>
              </a:endParaRPr>
            </a:p>
          </p:txBody>
        </p:sp>
        <p:sp>
          <p:nvSpPr>
            <p:cNvPr id="798" name="Google Shape;798;p24"/>
            <p:cNvSpPr txBox="1"/>
            <p:nvPr/>
          </p:nvSpPr>
          <p:spPr>
            <a:xfrm>
              <a:off x="6810375" y="4267200"/>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600" b="0">
                  <a:solidFill>
                    <a:srgbClr val="00F2FE"/>
                  </a:solidFill>
                  <a:latin typeface="Poppins"/>
                  <a:ea typeface="Poppins"/>
                  <a:cs typeface="Poppins"/>
                  <a:sym typeface="Poppins"/>
                </a:rPr>
                <a:t>Presenter: Steve Emmanuel</a:t>
              </a:r>
              <a:endParaRPr sz="600" b="0">
                <a:solidFill>
                  <a:srgbClr val="00F2FE"/>
                </a:solidFill>
                <a:latin typeface="Poppins"/>
                <a:ea typeface="Poppins"/>
                <a:cs typeface="Poppins"/>
                <a:sym typeface="Poppi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02"/>
        <p:cNvGrpSpPr/>
        <p:nvPr/>
      </p:nvGrpSpPr>
      <p:grpSpPr>
        <a:xfrm>
          <a:off x="0" y="0"/>
          <a:ext cx="0" cy="0"/>
          <a:chOff x="0" y="0"/>
          <a:chExt cx="0" cy="0"/>
        </a:xfrm>
      </p:grpSpPr>
      <p:pic>
        <p:nvPicPr>
          <p:cNvPr id="803" name="Google Shape;803;p25"/>
          <p:cNvPicPr preferRelativeResize="0"/>
          <p:nvPr/>
        </p:nvPicPr>
        <p:blipFill rotWithShape="1">
          <a:blip r:embed="rId3">
            <a:alphaModFix/>
          </a:blip>
          <a:srcRect/>
          <a:stretch/>
        </p:blipFill>
        <p:spPr>
          <a:xfrm>
            <a:off x="0" y="0"/>
            <a:ext cx="9144000" cy="5143500"/>
          </a:xfrm>
          <a:prstGeom prst="rect">
            <a:avLst/>
          </a:prstGeom>
          <a:noFill/>
          <a:ln>
            <a:noFill/>
          </a:ln>
        </p:spPr>
      </p:pic>
      <p:grpSp>
        <p:nvGrpSpPr>
          <p:cNvPr id="804" name="Google Shape;804;p25"/>
          <p:cNvGrpSpPr/>
          <p:nvPr/>
        </p:nvGrpSpPr>
        <p:grpSpPr>
          <a:xfrm>
            <a:off x="2571750" y="333375"/>
            <a:ext cx="3914700" cy="3914700"/>
            <a:chOff x="2571750" y="333375"/>
            <a:chExt cx="3914700" cy="3914700"/>
          </a:xfrm>
        </p:grpSpPr>
        <p:pic>
          <p:nvPicPr>
            <p:cNvPr id="805" name="Google Shape;805;p25"/>
            <p:cNvPicPr preferRelativeResize="0"/>
            <p:nvPr/>
          </p:nvPicPr>
          <p:blipFill rotWithShape="1">
            <a:blip r:embed="rId4">
              <a:alphaModFix/>
            </a:blip>
            <a:srcRect/>
            <a:stretch/>
          </p:blipFill>
          <p:spPr>
            <a:xfrm>
              <a:off x="2757488" y="519113"/>
              <a:ext cx="3629100" cy="3629100"/>
            </a:xfrm>
            <a:prstGeom prst="rect">
              <a:avLst/>
            </a:prstGeom>
            <a:noFill/>
            <a:ln>
              <a:noFill/>
            </a:ln>
          </p:spPr>
        </p:pic>
        <p:pic>
          <p:nvPicPr>
            <p:cNvPr id="806" name="Google Shape;806;p25"/>
            <p:cNvPicPr preferRelativeResize="0"/>
            <p:nvPr/>
          </p:nvPicPr>
          <p:blipFill rotWithShape="1">
            <a:blip r:embed="rId5">
              <a:alphaModFix/>
            </a:blip>
            <a:srcRect/>
            <a:stretch/>
          </p:blipFill>
          <p:spPr>
            <a:xfrm>
              <a:off x="3471863" y="1233488"/>
              <a:ext cx="2200200" cy="2200200"/>
            </a:xfrm>
            <a:prstGeom prst="rect">
              <a:avLst/>
            </a:prstGeom>
            <a:noFill/>
            <a:ln>
              <a:noFill/>
            </a:ln>
          </p:spPr>
        </p:pic>
        <p:pic>
          <p:nvPicPr>
            <p:cNvPr id="807" name="Google Shape;807;p25"/>
            <p:cNvPicPr preferRelativeResize="0"/>
            <p:nvPr/>
          </p:nvPicPr>
          <p:blipFill rotWithShape="1">
            <a:blip r:embed="rId6">
              <a:alphaModFix/>
            </a:blip>
            <a:srcRect/>
            <a:stretch/>
          </p:blipFill>
          <p:spPr>
            <a:xfrm>
              <a:off x="2571750" y="333375"/>
              <a:ext cx="3914700" cy="3914700"/>
            </a:xfrm>
            <a:prstGeom prst="rect">
              <a:avLst/>
            </a:prstGeom>
            <a:noFill/>
            <a:ln>
              <a:noFill/>
            </a:ln>
          </p:spPr>
        </p:pic>
      </p:grpSp>
      <p:pic>
        <p:nvPicPr>
          <p:cNvPr id="808" name="Google Shape;808;p25"/>
          <p:cNvPicPr preferRelativeResize="0"/>
          <p:nvPr/>
        </p:nvPicPr>
        <p:blipFill rotWithShape="1">
          <a:blip r:embed="rId7">
            <a:alphaModFix/>
          </a:blip>
          <a:srcRect/>
          <a:stretch/>
        </p:blipFill>
        <p:spPr>
          <a:xfrm>
            <a:off x="3181350" y="942975"/>
            <a:ext cx="2781300" cy="2781300"/>
          </a:xfrm>
          <a:prstGeom prst="rect">
            <a:avLst/>
          </a:prstGeom>
          <a:noFill/>
          <a:ln>
            <a:noFill/>
          </a:ln>
        </p:spPr>
      </p:pic>
      <p:pic>
        <p:nvPicPr>
          <p:cNvPr id="809" name="Google Shape;809;p25"/>
          <p:cNvPicPr preferRelativeResize="0"/>
          <p:nvPr/>
        </p:nvPicPr>
        <p:blipFill rotWithShape="1">
          <a:blip r:embed="rId8">
            <a:alphaModFix/>
          </a:blip>
          <a:srcRect/>
          <a:stretch/>
        </p:blipFill>
        <p:spPr>
          <a:xfrm>
            <a:off x="2995613" y="757238"/>
            <a:ext cx="3152700" cy="3152700"/>
          </a:xfrm>
          <a:prstGeom prst="rect">
            <a:avLst/>
          </a:prstGeom>
          <a:noFill/>
          <a:ln>
            <a:noFill/>
          </a:ln>
        </p:spPr>
      </p:pic>
      <p:sp>
        <p:nvSpPr>
          <p:cNvPr id="810" name="Google Shape;810;p25"/>
          <p:cNvSpPr txBox="1"/>
          <p:nvPr/>
        </p:nvSpPr>
        <p:spPr>
          <a:xfrm>
            <a:off x="428625" y="200050"/>
            <a:ext cx="82869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Key Learnings </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850" b="0">
                <a:solidFill>
                  <a:srgbClr val="A5F3FC"/>
                </a:solidFill>
                <a:latin typeface="Poppins"/>
                <a:ea typeface="Poppins"/>
                <a:cs typeface="Poppins"/>
                <a:sym typeface="Poppins"/>
              </a:rPr>
              <a:t>Technical knowledge and practical experience gained throughout this Deep Learning project.</a:t>
            </a:r>
            <a:endParaRPr sz="850" b="0">
              <a:solidFill>
                <a:srgbClr val="A5F3FC"/>
              </a:solidFill>
              <a:latin typeface="Poppins"/>
              <a:ea typeface="Poppins"/>
              <a:cs typeface="Poppins"/>
              <a:sym typeface="Poppins"/>
            </a:endParaRPr>
          </a:p>
        </p:txBody>
      </p:sp>
      <p:pic>
        <p:nvPicPr>
          <p:cNvPr id="811" name="Google Shape;811;p25"/>
          <p:cNvPicPr preferRelativeResize="0"/>
          <p:nvPr/>
        </p:nvPicPr>
        <p:blipFill rotWithShape="1">
          <a:blip r:embed="rId9">
            <a:alphaModFix/>
          </a:blip>
          <a:srcRect/>
          <a:stretch/>
        </p:blipFill>
        <p:spPr>
          <a:xfrm>
            <a:off x="4086225" y="1847850"/>
            <a:ext cx="971700" cy="971700"/>
          </a:xfrm>
          <a:prstGeom prst="rect">
            <a:avLst/>
          </a:prstGeom>
          <a:noFill/>
          <a:ln>
            <a:noFill/>
          </a:ln>
        </p:spPr>
      </p:pic>
      <p:sp>
        <p:nvSpPr>
          <p:cNvPr id="812" name="Google Shape;812;p25"/>
          <p:cNvSpPr txBox="1"/>
          <p:nvPr/>
        </p:nvSpPr>
        <p:spPr>
          <a:xfrm>
            <a:off x="4095750" y="2114550"/>
            <a:ext cx="952500" cy="4383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850" b="1">
                <a:solidFill>
                  <a:srgbClr val="00F2FE"/>
                </a:solidFill>
                <a:latin typeface="Poppins"/>
                <a:ea typeface="Poppins"/>
                <a:cs typeface="Poppins"/>
                <a:sym typeface="Poppins"/>
              </a:rPr>
              <a:t>🧠 DL Project</a:t>
            </a:r>
            <a:endParaRPr sz="850" b="1">
              <a:solidFill>
                <a:srgbClr val="00F2FE"/>
              </a:solidFill>
              <a:latin typeface="Poppins"/>
              <a:ea typeface="Poppins"/>
              <a:cs typeface="Poppins"/>
              <a:sym typeface="Poppins"/>
            </a:endParaRPr>
          </a:p>
          <a:p>
            <a:pPr marL="0" lvl="0" indent="0" algn="ctr" rtl="0">
              <a:spcBef>
                <a:spcPts val="0"/>
              </a:spcBef>
              <a:spcAft>
                <a:spcPts val="0"/>
              </a:spcAft>
              <a:buNone/>
            </a:pPr>
            <a:r>
              <a:rPr lang="en-GB" sz="543" b="0">
                <a:solidFill>
                  <a:srgbClr val="FFFFFF"/>
                </a:solidFill>
                <a:latin typeface="Poppins SemiBold"/>
                <a:ea typeface="Poppins SemiBold"/>
                <a:cs typeface="Poppins SemiBold"/>
                <a:sym typeface="Poppins SemiBold"/>
              </a:rPr>
              <a:t>Core Mastery</a:t>
            </a:r>
            <a:endParaRPr sz="543" b="0">
              <a:solidFill>
                <a:srgbClr val="FFFFFF"/>
              </a:solidFill>
              <a:latin typeface="Poppins SemiBold"/>
              <a:ea typeface="Poppins SemiBold"/>
              <a:cs typeface="Poppins SemiBold"/>
              <a:sym typeface="Poppins SemiBold"/>
            </a:endParaRPr>
          </a:p>
        </p:txBody>
      </p:sp>
      <p:grpSp>
        <p:nvGrpSpPr>
          <p:cNvPr id="813" name="Google Shape;813;p25"/>
          <p:cNvGrpSpPr/>
          <p:nvPr/>
        </p:nvGrpSpPr>
        <p:grpSpPr>
          <a:xfrm>
            <a:off x="3857625" y="714525"/>
            <a:ext cx="1428900" cy="552600"/>
            <a:chOff x="0" y="0"/>
            <a:chExt cx="1428900" cy="552600"/>
          </a:xfrm>
        </p:grpSpPr>
        <p:sp>
          <p:nvSpPr>
            <p:cNvPr id="814" name="Google Shape;814;p25"/>
            <p:cNvSpPr/>
            <p:nvPr/>
          </p:nvSpPr>
          <p:spPr>
            <a:xfrm>
              <a:off x="0" y="0"/>
              <a:ext cx="1428900" cy="552600"/>
            </a:xfrm>
            <a:prstGeom prst="roundRect">
              <a:avLst>
                <a:gd name="adj" fmla="val 13793"/>
              </a:avLst>
            </a:prstGeom>
            <a:solidFill>
              <a:srgbClr val="0B1329">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5" name="Google Shape;815;p25"/>
            <p:cNvSpPr/>
            <p:nvPr/>
          </p:nvSpPr>
          <p:spPr>
            <a:xfrm>
              <a:off x="0" y="0"/>
              <a:ext cx="14289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6" name="Google Shape;816;p25"/>
            <p:cNvSpPr txBox="1"/>
            <p:nvPr/>
          </p:nvSpPr>
          <p:spPr>
            <a:xfrm>
              <a:off x="76200" y="57150"/>
              <a:ext cx="12765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20" b="1">
                  <a:solidFill>
                    <a:srgbClr val="00F2FE"/>
                  </a:solidFill>
                  <a:latin typeface="Poppins"/>
                  <a:ea typeface="Poppins"/>
                  <a:cs typeface="Poppins"/>
                  <a:sym typeface="Poppins"/>
                </a:rPr>
                <a:t>📊 1. Data Understanding</a:t>
              </a:r>
              <a:endParaRPr sz="620" b="1">
                <a:solidFill>
                  <a:srgbClr val="00F2FE"/>
                </a:solidFill>
                <a:latin typeface="Poppins"/>
                <a:ea typeface="Poppins"/>
                <a:cs typeface="Poppins"/>
                <a:sym typeface="Poppins"/>
              </a:endParaRPr>
            </a:p>
            <a:p>
              <a:pPr marL="38100" marR="0" lvl="0" indent="-38100" algn="l" rtl="0">
                <a:spcBef>
                  <a:spcPts val="150"/>
                </a:spcBef>
                <a:spcAft>
                  <a:spcPts val="0"/>
                </a:spcAft>
                <a:buNone/>
              </a:pPr>
              <a:r>
                <a:rPr lang="en-GB" sz="537" b="0">
                  <a:solidFill>
                    <a:srgbClr val="94A3B8"/>
                  </a:solidFill>
                  <a:latin typeface="Poppins"/>
                  <a:ea typeface="Poppins"/>
                  <a:cs typeface="Poppins"/>
                  <a:sym typeface="Poppins"/>
                </a:rPr>
                <a:t>• Dataset exploration</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Image classification</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Medical imaging basics</a:t>
              </a:r>
              <a:endParaRPr sz="537" b="0">
                <a:solidFill>
                  <a:srgbClr val="94A3B8"/>
                </a:solidFill>
                <a:latin typeface="Poppins"/>
                <a:ea typeface="Poppins"/>
                <a:cs typeface="Poppins"/>
                <a:sym typeface="Poppins"/>
              </a:endParaRPr>
            </a:p>
          </p:txBody>
        </p:sp>
      </p:grpSp>
      <p:grpSp>
        <p:nvGrpSpPr>
          <p:cNvPr id="817" name="Google Shape;817;p25"/>
          <p:cNvGrpSpPr/>
          <p:nvPr/>
        </p:nvGrpSpPr>
        <p:grpSpPr>
          <a:xfrm>
            <a:off x="6038025" y="1498500"/>
            <a:ext cx="1428900" cy="552600"/>
            <a:chOff x="0" y="0"/>
            <a:chExt cx="1428900" cy="552600"/>
          </a:xfrm>
        </p:grpSpPr>
        <p:sp>
          <p:nvSpPr>
            <p:cNvPr id="818" name="Google Shape;818;p25"/>
            <p:cNvSpPr/>
            <p:nvPr/>
          </p:nvSpPr>
          <p:spPr>
            <a:xfrm>
              <a:off x="0" y="0"/>
              <a:ext cx="1428900" cy="552600"/>
            </a:xfrm>
            <a:prstGeom prst="roundRect">
              <a:avLst>
                <a:gd name="adj" fmla="val 13793"/>
              </a:avLst>
            </a:prstGeom>
            <a:solidFill>
              <a:srgbClr val="0B1329">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19" name="Google Shape;819;p25"/>
            <p:cNvSpPr/>
            <p:nvPr/>
          </p:nvSpPr>
          <p:spPr>
            <a:xfrm>
              <a:off x="0" y="0"/>
              <a:ext cx="14289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0" name="Google Shape;820;p25"/>
            <p:cNvSpPr txBox="1"/>
            <p:nvPr/>
          </p:nvSpPr>
          <p:spPr>
            <a:xfrm>
              <a:off x="76200" y="57150"/>
              <a:ext cx="12765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20" b="1">
                  <a:solidFill>
                    <a:srgbClr val="00F2FE"/>
                  </a:solidFill>
                  <a:latin typeface="Poppins"/>
                  <a:ea typeface="Poppins"/>
                  <a:cs typeface="Poppins"/>
                  <a:sym typeface="Poppins"/>
                </a:rPr>
                <a:t>🖼️ 2. Preprocessing</a:t>
              </a:r>
              <a:endParaRPr sz="620" b="1">
                <a:solidFill>
                  <a:srgbClr val="00F2FE"/>
                </a:solidFill>
                <a:latin typeface="Poppins"/>
                <a:ea typeface="Poppins"/>
                <a:cs typeface="Poppins"/>
                <a:sym typeface="Poppins"/>
              </a:endParaRPr>
            </a:p>
            <a:p>
              <a:pPr marL="38100" marR="0" lvl="0" indent="-38100" algn="l" rtl="0">
                <a:spcBef>
                  <a:spcPts val="150"/>
                </a:spcBef>
                <a:spcAft>
                  <a:spcPts val="0"/>
                </a:spcAft>
                <a:buNone/>
              </a:pPr>
              <a:r>
                <a:rPr lang="en-GB" sz="537" b="0">
                  <a:solidFill>
                    <a:srgbClr val="94A3B8"/>
                  </a:solidFill>
                  <a:latin typeface="Poppins"/>
                  <a:ea typeface="Poppins"/>
                  <a:cs typeface="Poppins"/>
                  <a:sym typeface="Poppins"/>
                </a:rPr>
                <a:t>• Size: 224x224 resize</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Normalization [0,1]</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TensorFlow pipeline</a:t>
              </a:r>
              <a:endParaRPr sz="537" b="0">
                <a:solidFill>
                  <a:srgbClr val="94A3B8"/>
                </a:solidFill>
                <a:latin typeface="Poppins"/>
                <a:ea typeface="Poppins"/>
                <a:cs typeface="Poppins"/>
                <a:sym typeface="Poppins"/>
              </a:endParaRPr>
            </a:p>
          </p:txBody>
        </p:sp>
      </p:grpSp>
      <p:grpSp>
        <p:nvGrpSpPr>
          <p:cNvPr id="821" name="Google Shape;821;p25"/>
          <p:cNvGrpSpPr/>
          <p:nvPr/>
        </p:nvGrpSpPr>
        <p:grpSpPr>
          <a:xfrm>
            <a:off x="5795675" y="3357338"/>
            <a:ext cx="1428900" cy="552600"/>
            <a:chOff x="0" y="0"/>
            <a:chExt cx="1428900" cy="552600"/>
          </a:xfrm>
        </p:grpSpPr>
        <p:sp>
          <p:nvSpPr>
            <p:cNvPr id="822" name="Google Shape;822;p25"/>
            <p:cNvSpPr/>
            <p:nvPr/>
          </p:nvSpPr>
          <p:spPr>
            <a:xfrm>
              <a:off x="0" y="0"/>
              <a:ext cx="1428900" cy="552600"/>
            </a:xfrm>
            <a:prstGeom prst="roundRect">
              <a:avLst>
                <a:gd name="adj" fmla="val 13793"/>
              </a:avLst>
            </a:prstGeom>
            <a:solidFill>
              <a:srgbClr val="0B1329">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3" name="Google Shape;823;p25"/>
            <p:cNvSpPr/>
            <p:nvPr/>
          </p:nvSpPr>
          <p:spPr>
            <a:xfrm>
              <a:off x="0" y="0"/>
              <a:ext cx="14289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4" name="Google Shape;824;p25"/>
            <p:cNvSpPr txBox="1"/>
            <p:nvPr/>
          </p:nvSpPr>
          <p:spPr>
            <a:xfrm>
              <a:off x="76200" y="57150"/>
              <a:ext cx="12765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20" b="1">
                  <a:solidFill>
                    <a:srgbClr val="00F2FE"/>
                  </a:solidFill>
                  <a:latin typeface="Poppins"/>
                  <a:ea typeface="Poppins"/>
                  <a:cs typeface="Poppins"/>
                  <a:sym typeface="Poppins"/>
                </a:rPr>
                <a:t>🧠 3. CNN Architecture</a:t>
              </a:r>
              <a:endParaRPr sz="620" b="1">
                <a:solidFill>
                  <a:srgbClr val="00F2FE"/>
                </a:solidFill>
                <a:latin typeface="Poppins"/>
                <a:ea typeface="Poppins"/>
                <a:cs typeface="Poppins"/>
                <a:sym typeface="Poppins"/>
              </a:endParaRPr>
            </a:p>
            <a:p>
              <a:pPr marL="38100" marR="0" lvl="0" indent="-38100" algn="l" rtl="0">
                <a:spcBef>
                  <a:spcPts val="150"/>
                </a:spcBef>
                <a:spcAft>
                  <a:spcPts val="0"/>
                </a:spcAft>
                <a:buNone/>
              </a:pPr>
              <a:r>
                <a:rPr lang="en-GB" sz="537" b="0">
                  <a:solidFill>
                    <a:srgbClr val="94A3B8"/>
                  </a:solidFill>
                  <a:latin typeface="Poppins"/>
                  <a:ea typeface="Poppins"/>
                  <a:cs typeface="Poppins"/>
                  <a:sym typeface="Poppins"/>
                </a:rPr>
                <a:t>• Convolution &amp; Pooling</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Flatten &amp; Dense layers</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Softmax activation</a:t>
              </a:r>
              <a:endParaRPr sz="537" b="0">
                <a:solidFill>
                  <a:srgbClr val="94A3B8"/>
                </a:solidFill>
                <a:latin typeface="Poppins"/>
                <a:ea typeface="Poppins"/>
                <a:cs typeface="Poppins"/>
                <a:sym typeface="Poppins"/>
              </a:endParaRPr>
            </a:p>
          </p:txBody>
        </p:sp>
      </p:grpSp>
      <p:grpSp>
        <p:nvGrpSpPr>
          <p:cNvPr id="825" name="Google Shape;825;p25"/>
          <p:cNvGrpSpPr/>
          <p:nvPr/>
        </p:nvGrpSpPr>
        <p:grpSpPr>
          <a:xfrm>
            <a:off x="1895675" y="3357350"/>
            <a:ext cx="1428900" cy="552600"/>
            <a:chOff x="0" y="0"/>
            <a:chExt cx="1428900" cy="552600"/>
          </a:xfrm>
        </p:grpSpPr>
        <p:sp>
          <p:nvSpPr>
            <p:cNvPr id="826" name="Google Shape;826;p25"/>
            <p:cNvSpPr/>
            <p:nvPr/>
          </p:nvSpPr>
          <p:spPr>
            <a:xfrm>
              <a:off x="0" y="0"/>
              <a:ext cx="1428900" cy="552600"/>
            </a:xfrm>
            <a:prstGeom prst="roundRect">
              <a:avLst>
                <a:gd name="adj" fmla="val 13793"/>
              </a:avLst>
            </a:prstGeom>
            <a:solidFill>
              <a:srgbClr val="0B1329">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7" name="Google Shape;827;p25"/>
            <p:cNvSpPr/>
            <p:nvPr/>
          </p:nvSpPr>
          <p:spPr>
            <a:xfrm>
              <a:off x="0" y="0"/>
              <a:ext cx="1428900" cy="192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28" name="Google Shape;828;p25"/>
            <p:cNvSpPr txBox="1"/>
            <p:nvPr/>
          </p:nvSpPr>
          <p:spPr>
            <a:xfrm>
              <a:off x="76200" y="57150"/>
              <a:ext cx="12765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20" b="1">
                  <a:solidFill>
                    <a:srgbClr val="00F2FE"/>
                  </a:solidFill>
                  <a:latin typeface="Poppins"/>
                  <a:ea typeface="Poppins"/>
                  <a:cs typeface="Poppins"/>
                  <a:sym typeface="Poppins"/>
                </a:rPr>
                <a:t>⚙️ 4. Model Training</a:t>
              </a:r>
              <a:endParaRPr sz="620" b="1">
                <a:solidFill>
                  <a:srgbClr val="00F2FE"/>
                </a:solidFill>
                <a:latin typeface="Poppins"/>
                <a:ea typeface="Poppins"/>
                <a:cs typeface="Poppins"/>
                <a:sym typeface="Poppins"/>
              </a:endParaRPr>
            </a:p>
            <a:p>
              <a:pPr marL="38100" marR="0" lvl="0" indent="-38100" algn="l" rtl="0">
                <a:spcBef>
                  <a:spcPts val="150"/>
                </a:spcBef>
                <a:spcAft>
                  <a:spcPts val="0"/>
                </a:spcAft>
                <a:buNone/>
              </a:pPr>
              <a:r>
                <a:rPr lang="en-GB" sz="537" b="0">
                  <a:solidFill>
                    <a:srgbClr val="94A3B8"/>
                  </a:solidFill>
                  <a:latin typeface="Poppins"/>
                  <a:ea typeface="Poppins"/>
                  <a:cs typeface="Poppins"/>
                  <a:sym typeface="Poppins"/>
                </a:rPr>
                <a:t>• Epochs &amp; Batches</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Forward &amp; Backprop</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Adam optimizer</a:t>
              </a:r>
              <a:endParaRPr sz="537" b="0">
                <a:solidFill>
                  <a:srgbClr val="94A3B8"/>
                </a:solidFill>
                <a:latin typeface="Poppins"/>
                <a:ea typeface="Poppins"/>
                <a:cs typeface="Poppins"/>
                <a:sym typeface="Poppins"/>
              </a:endParaRPr>
            </a:p>
          </p:txBody>
        </p:sp>
      </p:grpSp>
      <p:grpSp>
        <p:nvGrpSpPr>
          <p:cNvPr id="829" name="Google Shape;829;p25"/>
          <p:cNvGrpSpPr/>
          <p:nvPr/>
        </p:nvGrpSpPr>
        <p:grpSpPr>
          <a:xfrm>
            <a:off x="1677075" y="1498500"/>
            <a:ext cx="1428900" cy="552600"/>
            <a:chOff x="0" y="0"/>
            <a:chExt cx="1428900" cy="552600"/>
          </a:xfrm>
        </p:grpSpPr>
        <p:sp>
          <p:nvSpPr>
            <p:cNvPr id="830" name="Google Shape;830;p25"/>
            <p:cNvSpPr/>
            <p:nvPr/>
          </p:nvSpPr>
          <p:spPr>
            <a:xfrm>
              <a:off x="0" y="0"/>
              <a:ext cx="1428900" cy="552600"/>
            </a:xfrm>
            <a:prstGeom prst="roundRect">
              <a:avLst>
                <a:gd name="adj" fmla="val 13793"/>
              </a:avLst>
            </a:prstGeom>
            <a:solidFill>
              <a:srgbClr val="0B1329">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1" name="Google Shape;831;p25"/>
            <p:cNvSpPr/>
            <p:nvPr/>
          </p:nvSpPr>
          <p:spPr>
            <a:xfrm>
              <a:off x="0" y="0"/>
              <a:ext cx="1428900" cy="192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2" name="Google Shape;832;p25"/>
            <p:cNvSpPr txBox="1"/>
            <p:nvPr/>
          </p:nvSpPr>
          <p:spPr>
            <a:xfrm>
              <a:off x="76200" y="57150"/>
              <a:ext cx="1276500" cy="438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20" b="1">
                  <a:solidFill>
                    <a:srgbClr val="00F2FE"/>
                  </a:solidFill>
                  <a:latin typeface="Poppins"/>
                  <a:ea typeface="Poppins"/>
                  <a:cs typeface="Poppins"/>
                  <a:sym typeface="Poppins"/>
                </a:rPr>
                <a:t>📈 5. Model Evaluation</a:t>
              </a:r>
              <a:endParaRPr sz="620" b="1">
                <a:solidFill>
                  <a:srgbClr val="00F2FE"/>
                </a:solidFill>
                <a:latin typeface="Poppins"/>
                <a:ea typeface="Poppins"/>
                <a:cs typeface="Poppins"/>
                <a:sym typeface="Poppins"/>
              </a:endParaRPr>
            </a:p>
            <a:p>
              <a:pPr marL="38100" marR="0" lvl="0" indent="-38100" algn="l" rtl="0">
                <a:spcBef>
                  <a:spcPts val="150"/>
                </a:spcBef>
                <a:spcAft>
                  <a:spcPts val="0"/>
                </a:spcAft>
                <a:buNone/>
              </a:pPr>
              <a:r>
                <a:rPr lang="en-GB" sz="537" b="0">
                  <a:solidFill>
                    <a:srgbClr val="94A3B8"/>
                  </a:solidFill>
                  <a:latin typeface="Poppins"/>
                  <a:ea typeface="Poppins"/>
                  <a:cs typeface="Poppins"/>
                  <a:sym typeface="Poppins"/>
                </a:rPr>
                <a:t>• Accuracy &amp; Loss curves</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Confusion matrix</a:t>
              </a:r>
              <a:endParaRPr sz="537" b="0">
                <a:solidFill>
                  <a:srgbClr val="94A3B8"/>
                </a:solidFill>
                <a:latin typeface="Poppins"/>
                <a:ea typeface="Poppins"/>
                <a:cs typeface="Poppins"/>
                <a:sym typeface="Poppins"/>
              </a:endParaRPr>
            </a:p>
            <a:p>
              <a:pPr marL="38100" marR="0" lvl="0" indent="-38100" algn="l" rtl="0">
                <a:spcBef>
                  <a:spcPts val="0"/>
                </a:spcBef>
                <a:spcAft>
                  <a:spcPts val="0"/>
                </a:spcAft>
                <a:buNone/>
              </a:pPr>
              <a:r>
                <a:rPr lang="en-GB" sz="537" b="0">
                  <a:solidFill>
                    <a:srgbClr val="94A3B8"/>
                  </a:solidFill>
                  <a:latin typeface="Poppins"/>
                  <a:ea typeface="Poppins"/>
                  <a:cs typeface="Poppins"/>
                  <a:sym typeface="Poppins"/>
                </a:rPr>
                <a:t>• Classification report</a:t>
              </a:r>
              <a:endParaRPr sz="537" b="0">
                <a:solidFill>
                  <a:srgbClr val="94A3B8"/>
                </a:solidFill>
                <a:latin typeface="Poppins"/>
                <a:ea typeface="Poppins"/>
                <a:cs typeface="Poppins"/>
                <a:sym typeface="Poppins"/>
              </a:endParaRPr>
            </a:p>
          </p:txBody>
        </p:sp>
      </p:grpSp>
      <p:grpSp>
        <p:nvGrpSpPr>
          <p:cNvPr id="833" name="Google Shape;833;p25"/>
          <p:cNvGrpSpPr/>
          <p:nvPr/>
        </p:nvGrpSpPr>
        <p:grpSpPr>
          <a:xfrm>
            <a:off x="428625" y="4305300"/>
            <a:ext cx="8286900" cy="457200"/>
            <a:chOff x="0" y="0"/>
            <a:chExt cx="8286900" cy="457200"/>
          </a:xfrm>
        </p:grpSpPr>
        <p:sp>
          <p:nvSpPr>
            <p:cNvPr id="834" name="Google Shape;834;p25"/>
            <p:cNvSpPr/>
            <p:nvPr/>
          </p:nvSpPr>
          <p:spPr>
            <a:xfrm>
              <a:off x="0" y="0"/>
              <a:ext cx="8286900" cy="457200"/>
            </a:xfrm>
            <a:prstGeom prst="roundRect">
              <a:avLst>
                <a:gd name="adj" fmla="val 12500"/>
              </a:avLst>
            </a:prstGeom>
            <a:solidFill>
              <a:srgbClr val="091325">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5" name="Google Shape;835;p25"/>
            <p:cNvSpPr/>
            <p:nvPr/>
          </p:nvSpPr>
          <p:spPr>
            <a:xfrm>
              <a:off x="0" y="0"/>
              <a:ext cx="38100" cy="4572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36" name="Google Shape;836;p25"/>
            <p:cNvSpPr txBox="1"/>
            <p:nvPr/>
          </p:nvSpPr>
          <p:spPr>
            <a:xfrm>
              <a:off x="190500" y="76200"/>
              <a:ext cx="7905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20" b="1">
                  <a:solidFill>
                    <a:srgbClr val="00F2FE"/>
                  </a:solidFill>
                  <a:latin typeface="Poppins"/>
                  <a:ea typeface="Poppins"/>
                  <a:cs typeface="Poppins"/>
                  <a:sym typeface="Poppins"/>
                </a:rPr>
                <a:t>🎯 Project Outcome</a:t>
              </a:r>
              <a:endParaRPr sz="620" b="1">
                <a:solidFill>
                  <a:srgbClr val="00F2FE"/>
                </a:solidFill>
                <a:latin typeface="Poppins"/>
                <a:ea typeface="Poppins"/>
                <a:cs typeface="Poppins"/>
                <a:sym typeface="Poppins"/>
              </a:endParaRPr>
            </a:p>
            <a:p>
              <a:pPr marL="0" lvl="0" indent="0" algn="l" rtl="0">
                <a:spcBef>
                  <a:spcPts val="225"/>
                </a:spcBef>
                <a:spcAft>
                  <a:spcPts val="0"/>
                </a:spcAft>
                <a:buNone/>
              </a:pPr>
              <a:r>
                <a:rPr lang="en-GB" sz="543" b="0">
                  <a:solidFill>
                    <a:srgbClr val="E2E8F0"/>
                  </a:solidFill>
                  <a:latin typeface="Poppins"/>
                  <a:ea typeface="Poppins"/>
                  <a:cs typeface="Poppins"/>
                  <a:sym typeface="Poppins"/>
                </a:rPr>
                <a:t>This project provided hands-on experience in building an end-to-end Deep Learning solution—from understanding medical imaging data to developing, evaluating, debugging, and deploying a CNN-based classification pipeline.</a:t>
              </a:r>
              <a:endParaRPr sz="543" b="0">
                <a:solidFill>
                  <a:srgbClr val="E2E8F0"/>
                </a:solidFill>
                <a:latin typeface="Poppins"/>
                <a:ea typeface="Poppins"/>
                <a:cs typeface="Poppins"/>
                <a:sym typeface="Poppins"/>
              </a:endParaRPr>
            </a:p>
          </p:txBody>
        </p:sp>
      </p:grpSp>
      <p:cxnSp>
        <p:nvCxnSpPr>
          <p:cNvPr id="837" name="Google Shape;837;p25"/>
          <p:cNvCxnSpPr/>
          <p:nvPr/>
        </p:nvCxnSpPr>
        <p:spPr>
          <a:xfrm>
            <a:off x="428625" y="487680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838" name="Google Shape;838;p25"/>
          <p:cNvSpPr txBox="1"/>
          <p:nvPr/>
        </p:nvSpPr>
        <p:spPr>
          <a:xfrm>
            <a:off x="428625" y="4914900"/>
            <a:ext cx="38100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00">
                <a:solidFill>
                  <a:srgbClr val="475569"/>
                </a:solidFill>
                <a:latin typeface="Poppins"/>
                <a:ea typeface="Poppins"/>
                <a:cs typeface="Poppins"/>
                <a:sym typeface="Poppins"/>
              </a:rPr>
              <a:t>Department of Data Science &amp; Artificial Intelligence | Clinical AI Evaluation</a:t>
            </a:r>
            <a:endParaRPr sz="600">
              <a:solidFill>
                <a:srgbClr val="475569"/>
              </a:solidFill>
              <a:latin typeface="Poppins"/>
              <a:ea typeface="Poppins"/>
              <a:cs typeface="Poppins"/>
              <a:sym typeface="Poppins"/>
            </a:endParaRPr>
          </a:p>
        </p:txBody>
      </p:sp>
      <p:sp>
        <p:nvSpPr>
          <p:cNvPr id="839" name="Google Shape;839;p25"/>
          <p:cNvSpPr txBox="1"/>
          <p:nvPr/>
        </p:nvSpPr>
        <p:spPr>
          <a:xfrm>
            <a:off x="6810375" y="4914900"/>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600">
                <a:solidFill>
                  <a:srgbClr val="00F2FE"/>
                </a:solidFill>
                <a:latin typeface="Poppins"/>
                <a:ea typeface="Poppins"/>
                <a:cs typeface="Poppins"/>
                <a:sym typeface="Poppins"/>
              </a:rPr>
              <a:t>Presenter: Steve Emmanuel</a:t>
            </a:r>
            <a:endParaRPr sz="600">
              <a:solidFill>
                <a:srgbClr val="00F2FE"/>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43"/>
        <p:cNvGrpSpPr/>
        <p:nvPr/>
      </p:nvGrpSpPr>
      <p:grpSpPr>
        <a:xfrm>
          <a:off x="0" y="0"/>
          <a:ext cx="0" cy="0"/>
          <a:chOff x="0" y="0"/>
          <a:chExt cx="0" cy="0"/>
        </a:xfrm>
      </p:grpSpPr>
      <p:grpSp>
        <p:nvGrpSpPr>
          <p:cNvPr id="844" name="Google Shape;844;p26"/>
          <p:cNvGrpSpPr/>
          <p:nvPr/>
        </p:nvGrpSpPr>
        <p:grpSpPr>
          <a:xfrm>
            <a:off x="1443038" y="1190625"/>
            <a:ext cx="6258000" cy="1619363"/>
            <a:chOff x="1443038" y="1190625"/>
            <a:chExt cx="6258000" cy="1619363"/>
          </a:xfrm>
        </p:grpSpPr>
        <p:pic>
          <p:nvPicPr>
            <p:cNvPr id="845" name="Google Shape;845;p26"/>
            <p:cNvPicPr preferRelativeResize="0"/>
            <p:nvPr/>
          </p:nvPicPr>
          <p:blipFill rotWithShape="1">
            <a:blip r:embed="rId4">
              <a:alphaModFix/>
            </a:blip>
            <a:srcRect/>
            <a:stretch/>
          </p:blipFill>
          <p:spPr>
            <a:xfrm>
              <a:off x="1443038" y="1190625"/>
              <a:ext cx="3133800" cy="814500"/>
            </a:xfrm>
            <a:prstGeom prst="rect">
              <a:avLst/>
            </a:prstGeom>
            <a:noFill/>
            <a:ln>
              <a:noFill/>
            </a:ln>
          </p:spPr>
        </p:pic>
        <p:pic>
          <p:nvPicPr>
            <p:cNvPr id="846" name="Google Shape;846;p26"/>
            <p:cNvPicPr preferRelativeResize="0"/>
            <p:nvPr/>
          </p:nvPicPr>
          <p:blipFill rotWithShape="1">
            <a:blip r:embed="rId5">
              <a:alphaModFix/>
            </a:blip>
            <a:srcRect/>
            <a:stretch/>
          </p:blipFill>
          <p:spPr>
            <a:xfrm>
              <a:off x="1457325" y="1995488"/>
              <a:ext cx="3114600" cy="9600"/>
            </a:xfrm>
            <a:prstGeom prst="rect">
              <a:avLst/>
            </a:prstGeom>
            <a:noFill/>
            <a:ln>
              <a:noFill/>
            </a:ln>
          </p:spPr>
        </p:pic>
        <p:pic>
          <p:nvPicPr>
            <p:cNvPr id="847" name="Google Shape;847;p26"/>
            <p:cNvPicPr preferRelativeResize="0"/>
            <p:nvPr/>
          </p:nvPicPr>
          <p:blipFill rotWithShape="1">
            <a:blip r:embed="rId6">
              <a:alphaModFix/>
            </a:blip>
            <a:srcRect/>
            <a:stretch/>
          </p:blipFill>
          <p:spPr>
            <a:xfrm>
              <a:off x="1443038" y="1995488"/>
              <a:ext cx="3133800" cy="814500"/>
            </a:xfrm>
            <a:prstGeom prst="rect">
              <a:avLst/>
            </a:prstGeom>
            <a:noFill/>
            <a:ln>
              <a:noFill/>
            </a:ln>
          </p:spPr>
        </p:pic>
        <p:pic>
          <p:nvPicPr>
            <p:cNvPr id="848" name="Google Shape;848;p26"/>
            <p:cNvPicPr preferRelativeResize="0"/>
            <p:nvPr/>
          </p:nvPicPr>
          <p:blipFill rotWithShape="1">
            <a:blip r:embed="rId7">
              <a:alphaModFix/>
            </a:blip>
            <a:srcRect/>
            <a:stretch/>
          </p:blipFill>
          <p:spPr>
            <a:xfrm>
              <a:off x="4567238" y="1190625"/>
              <a:ext cx="3133800" cy="814500"/>
            </a:xfrm>
            <a:prstGeom prst="rect">
              <a:avLst/>
            </a:prstGeom>
            <a:noFill/>
            <a:ln>
              <a:noFill/>
            </a:ln>
          </p:spPr>
        </p:pic>
        <p:pic>
          <p:nvPicPr>
            <p:cNvPr id="849" name="Google Shape;849;p26"/>
            <p:cNvPicPr preferRelativeResize="0"/>
            <p:nvPr/>
          </p:nvPicPr>
          <p:blipFill rotWithShape="1">
            <a:blip r:embed="rId5">
              <a:alphaModFix/>
            </a:blip>
            <a:srcRect/>
            <a:stretch/>
          </p:blipFill>
          <p:spPr>
            <a:xfrm>
              <a:off x="4572000" y="1995488"/>
              <a:ext cx="3114600" cy="9600"/>
            </a:xfrm>
            <a:prstGeom prst="rect">
              <a:avLst/>
            </a:prstGeom>
            <a:noFill/>
            <a:ln>
              <a:noFill/>
            </a:ln>
          </p:spPr>
        </p:pic>
        <p:pic>
          <p:nvPicPr>
            <p:cNvPr id="850" name="Google Shape;850;p26"/>
            <p:cNvPicPr preferRelativeResize="0"/>
            <p:nvPr/>
          </p:nvPicPr>
          <p:blipFill rotWithShape="1">
            <a:blip r:embed="rId8">
              <a:alphaModFix/>
            </a:blip>
            <a:srcRect/>
            <a:stretch/>
          </p:blipFill>
          <p:spPr>
            <a:xfrm>
              <a:off x="4567238" y="1995488"/>
              <a:ext cx="3133800" cy="814500"/>
            </a:xfrm>
            <a:prstGeom prst="rect">
              <a:avLst/>
            </a:prstGeom>
            <a:noFill/>
            <a:ln>
              <a:noFill/>
            </a:ln>
          </p:spPr>
        </p:pic>
      </p:grpSp>
      <p:sp>
        <p:nvSpPr>
          <p:cNvPr id="851" name="Google Shape;851;p26"/>
          <p:cNvSpPr txBox="1"/>
          <p:nvPr/>
        </p:nvSpPr>
        <p:spPr>
          <a:xfrm>
            <a:off x="428625" y="228600"/>
            <a:ext cx="82869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00" b="1">
                <a:solidFill>
                  <a:srgbClr val="FFFFFF"/>
                </a:solidFill>
                <a:latin typeface="Poppins"/>
                <a:ea typeface="Poppins"/>
                <a:cs typeface="Poppins"/>
                <a:sym typeface="Poppins"/>
              </a:rPr>
              <a:t>Real-World Applications &amp; Project Impact</a:t>
            </a:r>
            <a:endParaRPr sz="2000" b="1">
              <a:solidFill>
                <a:srgbClr val="FFFFFF"/>
              </a:solidFill>
              <a:latin typeface="Poppins"/>
              <a:ea typeface="Poppins"/>
              <a:cs typeface="Poppins"/>
              <a:sym typeface="Poppins"/>
            </a:endParaRPr>
          </a:p>
          <a:p>
            <a:pPr marL="0" lvl="0" indent="0" algn="l" rtl="0">
              <a:spcBef>
                <a:spcPts val="0"/>
              </a:spcBef>
              <a:spcAft>
                <a:spcPts val="0"/>
              </a:spcAft>
              <a:buNone/>
            </a:pPr>
            <a:r>
              <a:rPr lang="en-GB" sz="850" b="0">
                <a:solidFill>
                  <a:srgbClr val="A5F3FC"/>
                </a:solidFill>
                <a:latin typeface="Poppins"/>
                <a:ea typeface="Poppins"/>
                <a:cs typeface="Poppins"/>
                <a:sym typeface="Poppins"/>
              </a:rPr>
              <a:t>Exploring how AI-powered brain MRI classification can support modern healthcare.</a:t>
            </a:r>
            <a:endParaRPr sz="850" b="0">
              <a:solidFill>
                <a:srgbClr val="A5F3FC"/>
              </a:solidFill>
              <a:latin typeface="Poppins"/>
              <a:ea typeface="Poppins"/>
              <a:cs typeface="Poppins"/>
              <a:sym typeface="Poppins"/>
            </a:endParaRPr>
          </a:p>
        </p:txBody>
      </p:sp>
      <p:grpSp>
        <p:nvGrpSpPr>
          <p:cNvPr id="852" name="Google Shape;852;p26"/>
          <p:cNvGrpSpPr/>
          <p:nvPr/>
        </p:nvGrpSpPr>
        <p:grpSpPr>
          <a:xfrm>
            <a:off x="3910013" y="1338263"/>
            <a:ext cx="1323900" cy="1323900"/>
            <a:chOff x="3910013" y="1338263"/>
            <a:chExt cx="1323900" cy="1323900"/>
          </a:xfrm>
        </p:grpSpPr>
        <p:pic>
          <p:nvPicPr>
            <p:cNvPr id="853" name="Google Shape;853;p26"/>
            <p:cNvPicPr preferRelativeResize="0"/>
            <p:nvPr/>
          </p:nvPicPr>
          <p:blipFill rotWithShape="1">
            <a:blip r:embed="rId9">
              <a:alphaModFix/>
            </a:blip>
            <a:srcRect/>
            <a:stretch/>
          </p:blipFill>
          <p:spPr>
            <a:xfrm>
              <a:off x="3910013" y="1338263"/>
              <a:ext cx="1323900" cy="1323900"/>
            </a:xfrm>
            <a:prstGeom prst="rect">
              <a:avLst/>
            </a:prstGeom>
            <a:noFill/>
            <a:ln>
              <a:noFill/>
            </a:ln>
          </p:spPr>
        </p:pic>
        <p:sp>
          <p:nvSpPr>
            <p:cNvPr id="854" name="Google Shape;854;p26"/>
            <p:cNvSpPr/>
            <p:nvPr/>
          </p:nvSpPr>
          <p:spPr>
            <a:xfrm>
              <a:off x="4114800" y="1543050"/>
              <a:ext cx="914400" cy="914400"/>
            </a:xfrm>
            <a:prstGeom prst="ellipse">
              <a:avLst/>
            </a:prstGeom>
            <a:solidFill>
              <a:srgbClr val="0B1329"/>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855" name="Google Shape;855;p26"/>
            <p:cNvPicPr preferRelativeResize="0"/>
            <p:nvPr/>
          </p:nvPicPr>
          <p:blipFill rotWithShape="1">
            <a:blip r:embed="rId10">
              <a:alphaModFix/>
            </a:blip>
            <a:srcRect/>
            <a:stretch/>
          </p:blipFill>
          <p:spPr>
            <a:xfrm>
              <a:off x="4143375" y="1571625"/>
              <a:ext cx="857400" cy="857400"/>
            </a:xfrm>
            <a:prstGeom prst="rect">
              <a:avLst/>
            </a:prstGeom>
            <a:noFill/>
            <a:ln>
              <a:noFill/>
            </a:ln>
          </p:spPr>
        </p:pic>
        <p:pic>
          <p:nvPicPr>
            <p:cNvPr id="856" name="Google Shape;856;p26" descr="A glowing blue vector style brain icon with abstract medical technology nodes, healthcare AI symbol, dark background."/>
            <p:cNvPicPr preferRelativeResize="0"/>
            <p:nvPr/>
          </p:nvPicPr>
          <p:blipFill rotWithShape="1">
            <a:blip r:embed="rId11">
              <a:alphaModFix/>
            </a:blip>
            <a:srcRect/>
            <a:stretch/>
          </p:blipFill>
          <p:spPr>
            <a:xfrm>
              <a:off x="4381500" y="1638300"/>
              <a:ext cx="381000" cy="381000"/>
            </a:xfrm>
            <a:prstGeom prst="rect">
              <a:avLst/>
            </a:prstGeom>
            <a:noFill/>
            <a:ln>
              <a:noFill/>
            </a:ln>
          </p:spPr>
        </p:pic>
        <p:sp>
          <p:nvSpPr>
            <p:cNvPr id="857" name="Google Shape;857;p26"/>
            <p:cNvSpPr txBox="1"/>
            <p:nvPr/>
          </p:nvSpPr>
          <p:spPr>
            <a:xfrm>
              <a:off x="4114800" y="2047875"/>
              <a:ext cx="914400" cy="285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650" b="1">
                  <a:solidFill>
                    <a:srgbClr val="00F2FE"/>
                  </a:solidFill>
                  <a:latin typeface="Poppins"/>
                  <a:ea typeface="Poppins"/>
                  <a:cs typeface="Poppins"/>
                  <a:sym typeface="Poppins"/>
                </a:rPr>
                <a:t>CNN Brain AI</a:t>
              </a:r>
              <a:endParaRPr sz="650" b="1">
                <a:solidFill>
                  <a:srgbClr val="00F2FE"/>
                </a:solidFill>
                <a:latin typeface="Poppins"/>
                <a:ea typeface="Poppins"/>
                <a:cs typeface="Poppins"/>
                <a:sym typeface="Poppins"/>
              </a:endParaRPr>
            </a:p>
            <a:p>
              <a:pPr marL="0" lvl="0" indent="0" algn="ctr" rtl="0">
                <a:spcBef>
                  <a:spcPts val="0"/>
                </a:spcBef>
                <a:spcAft>
                  <a:spcPts val="0"/>
                </a:spcAft>
                <a:buNone/>
              </a:pPr>
              <a:r>
                <a:rPr lang="en-GB" sz="550" b="0">
                  <a:solidFill>
                    <a:srgbClr val="94A3B8"/>
                  </a:solidFill>
                  <a:latin typeface="Poppins"/>
                  <a:ea typeface="Poppins"/>
                  <a:cs typeface="Poppins"/>
                  <a:sym typeface="Poppins"/>
                </a:rPr>
                <a:t>Diagnostic Engine</a:t>
              </a:r>
              <a:endParaRPr sz="550" b="0">
                <a:solidFill>
                  <a:srgbClr val="94A3B8"/>
                </a:solidFill>
                <a:latin typeface="Poppins"/>
                <a:ea typeface="Poppins"/>
                <a:cs typeface="Poppins"/>
                <a:sym typeface="Poppins"/>
              </a:endParaRPr>
            </a:p>
          </p:txBody>
        </p:sp>
      </p:grpSp>
      <p:grpSp>
        <p:nvGrpSpPr>
          <p:cNvPr id="858" name="Google Shape;858;p26"/>
          <p:cNvGrpSpPr/>
          <p:nvPr/>
        </p:nvGrpSpPr>
        <p:grpSpPr>
          <a:xfrm>
            <a:off x="428625" y="904875"/>
            <a:ext cx="2000100" cy="2190750"/>
            <a:chOff x="428625" y="904875"/>
            <a:chExt cx="2000100" cy="2190750"/>
          </a:xfrm>
        </p:grpSpPr>
        <p:grpSp>
          <p:nvGrpSpPr>
            <p:cNvPr id="859" name="Google Shape;859;p26"/>
            <p:cNvGrpSpPr/>
            <p:nvPr/>
          </p:nvGrpSpPr>
          <p:grpSpPr>
            <a:xfrm>
              <a:off x="428625" y="904875"/>
              <a:ext cx="2000100" cy="571500"/>
              <a:chOff x="428625" y="904875"/>
              <a:chExt cx="2000100" cy="571500"/>
            </a:xfrm>
          </p:grpSpPr>
          <p:sp>
            <p:nvSpPr>
              <p:cNvPr id="860" name="Google Shape;860;p26"/>
              <p:cNvSpPr/>
              <p:nvPr/>
            </p:nvSpPr>
            <p:spPr>
              <a:xfrm>
                <a:off x="428625" y="904875"/>
                <a:ext cx="2000100" cy="571500"/>
              </a:xfrm>
              <a:prstGeom prst="roundRect">
                <a:avLst>
                  <a:gd name="adj" fmla="val 1333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1" name="Google Shape;861;p26"/>
              <p:cNvSpPr/>
              <p:nvPr/>
            </p:nvSpPr>
            <p:spPr>
              <a:xfrm>
                <a:off x="428625" y="904875"/>
                <a:ext cx="28500" cy="5715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2" name="Google Shape;862;p26"/>
              <p:cNvSpPr txBox="1"/>
              <p:nvPr/>
            </p:nvSpPr>
            <p:spPr>
              <a:xfrm>
                <a:off x="552450" y="962025"/>
                <a:ext cx="17811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a:solidFill>
                      <a:srgbClr val="FFFFFF"/>
                    </a:solidFill>
                    <a:latin typeface="Poppins"/>
                    <a:ea typeface="Poppins"/>
                    <a:cs typeface="Poppins"/>
                    <a:sym typeface="Poppins"/>
                  </a:rPr>
                  <a:t>🏥 Hospital Decision Support</a:t>
                </a:r>
                <a:endParaRPr sz="700" b="1">
                  <a:solidFill>
                    <a:srgbClr val="FFFFFF"/>
                  </a:solidFill>
                  <a:latin typeface="Poppins"/>
                  <a:ea typeface="Poppins"/>
                  <a:cs typeface="Poppins"/>
                  <a:sym typeface="Poppins"/>
                </a:endParaRPr>
              </a:p>
              <a:p>
                <a:pPr marL="0" lvl="0" indent="0" algn="l" rtl="0">
                  <a:spcBef>
                    <a:spcPts val="150"/>
                  </a:spcBef>
                  <a:spcAft>
                    <a:spcPts val="0"/>
                  </a:spcAft>
                  <a:buNone/>
                </a:pPr>
                <a:r>
                  <a:rPr lang="en-GB" sz="580" b="0">
                    <a:solidFill>
                      <a:srgbClr val="94A3B8"/>
                    </a:solidFill>
                    <a:latin typeface="Poppins"/>
                    <a:ea typeface="Poppins"/>
                    <a:cs typeface="Poppins"/>
                    <a:sym typeface="Poppins"/>
                  </a:rPr>
                  <a:t>Assist radiologists by providing a preliminary MRI classification to speed up diagnosis.</a:t>
                </a:r>
                <a:endParaRPr sz="580" b="0">
                  <a:solidFill>
                    <a:srgbClr val="94A3B8"/>
                  </a:solidFill>
                  <a:latin typeface="Poppins"/>
                  <a:ea typeface="Poppins"/>
                  <a:cs typeface="Poppins"/>
                  <a:sym typeface="Poppins"/>
                </a:endParaRPr>
              </a:p>
            </p:txBody>
          </p:sp>
        </p:grpSp>
        <p:grpSp>
          <p:nvGrpSpPr>
            <p:cNvPr id="863" name="Google Shape;863;p26"/>
            <p:cNvGrpSpPr/>
            <p:nvPr/>
          </p:nvGrpSpPr>
          <p:grpSpPr>
            <a:xfrm>
              <a:off x="428625" y="1714500"/>
              <a:ext cx="2000100" cy="571500"/>
              <a:chOff x="428625" y="1714500"/>
              <a:chExt cx="2000100" cy="571500"/>
            </a:xfrm>
          </p:grpSpPr>
          <p:sp>
            <p:nvSpPr>
              <p:cNvPr id="864" name="Google Shape;864;p26"/>
              <p:cNvSpPr/>
              <p:nvPr/>
            </p:nvSpPr>
            <p:spPr>
              <a:xfrm>
                <a:off x="428625" y="1714500"/>
                <a:ext cx="2000100" cy="571500"/>
              </a:xfrm>
              <a:prstGeom prst="roundRect">
                <a:avLst>
                  <a:gd name="adj" fmla="val 1333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5" name="Google Shape;865;p26"/>
              <p:cNvSpPr/>
              <p:nvPr/>
            </p:nvSpPr>
            <p:spPr>
              <a:xfrm>
                <a:off x="428625" y="1714500"/>
                <a:ext cx="28500" cy="5715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6" name="Google Shape;866;p26"/>
              <p:cNvSpPr txBox="1"/>
              <p:nvPr/>
            </p:nvSpPr>
            <p:spPr>
              <a:xfrm>
                <a:off x="552450" y="1771650"/>
                <a:ext cx="17811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a:solidFill>
                      <a:srgbClr val="FFFFFF"/>
                    </a:solidFill>
                    <a:latin typeface="Poppins"/>
                    <a:ea typeface="Poppins"/>
                    <a:cs typeface="Poppins"/>
                    <a:sym typeface="Poppins"/>
                  </a:rPr>
                  <a:t>⚕ Medical Imaging Centers</a:t>
                </a:r>
                <a:endParaRPr sz="700" b="1">
                  <a:solidFill>
                    <a:srgbClr val="FFFFFF"/>
                  </a:solidFill>
                  <a:latin typeface="Poppins"/>
                  <a:ea typeface="Poppins"/>
                  <a:cs typeface="Poppins"/>
                  <a:sym typeface="Poppins"/>
                </a:endParaRPr>
              </a:p>
              <a:p>
                <a:pPr marL="0" lvl="0" indent="0" algn="l" rtl="0">
                  <a:spcBef>
                    <a:spcPts val="150"/>
                  </a:spcBef>
                  <a:spcAft>
                    <a:spcPts val="0"/>
                  </a:spcAft>
                  <a:buNone/>
                </a:pPr>
                <a:r>
                  <a:rPr lang="en-GB" sz="580" b="0">
                    <a:solidFill>
                      <a:srgbClr val="94A3B8"/>
                    </a:solidFill>
                    <a:latin typeface="Poppins"/>
                    <a:ea typeface="Poppins"/>
                    <a:cs typeface="Poppins"/>
                    <a:sym typeface="Poppins"/>
                  </a:rPr>
                  <a:t>Automate the initial screening of large volumes of MRI scans.</a:t>
                </a:r>
                <a:endParaRPr sz="580" b="0">
                  <a:solidFill>
                    <a:srgbClr val="94A3B8"/>
                  </a:solidFill>
                  <a:latin typeface="Poppins"/>
                  <a:ea typeface="Poppins"/>
                  <a:cs typeface="Poppins"/>
                  <a:sym typeface="Poppins"/>
                </a:endParaRPr>
              </a:p>
            </p:txBody>
          </p:sp>
        </p:grpSp>
        <p:grpSp>
          <p:nvGrpSpPr>
            <p:cNvPr id="867" name="Google Shape;867;p26"/>
            <p:cNvGrpSpPr/>
            <p:nvPr/>
          </p:nvGrpSpPr>
          <p:grpSpPr>
            <a:xfrm>
              <a:off x="428625" y="2524125"/>
              <a:ext cx="2000100" cy="571500"/>
              <a:chOff x="428625" y="2524125"/>
              <a:chExt cx="2000100" cy="571500"/>
            </a:xfrm>
          </p:grpSpPr>
          <p:sp>
            <p:nvSpPr>
              <p:cNvPr id="868" name="Google Shape;868;p26"/>
              <p:cNvSpPr/>
              <p:nvPr/>
            </p:nvSpPr>
            <p:spPr>
              <a:xfrm>
                <a:off x="428625" y="2524125"/>
                <a:ext cx="2000100" cy="571500"/>
              </a:xfrm>
              <a:prstGeom prst="roundRect">
                <a:avLst>
                  <a:gd name="adj" fmla="val 1333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69" name="Google Shape;869;p26"/>
              <p:cNvSpPr/>
              <p:nvPr/>
            </p:nvSpPr>
            <p:spPr>
              <a:xfrm>
                <a:off x="428625" y="2524125"/>
                <a:ext cx="28500" cy="5715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0" name="Google Shape;870;p26"/>
              <p:cNvSpPr txBox="1"/>
              <p:nvPr/>
            </p:nvSpPr>
            <p:spPr>
              <a:xfrm>
                <a:off x="552450" y="2581275"/>
                <a:ext cx="1781100" cy="457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a:solidFill>
                      <a:srgbClr val="FFFFFF"/>
                    </a:solidFill>
                    <a:latin typeface="Poppins"/>
                    <a:ea typeface="Poppins"/>
                    <a:cs typeface="Poppins"/>
                    <a:sym typeface="Poppins"/>
                  </a:rPr>
                  <a:t>🌍 Rural Healthcare Support</a:t>
                </a:r>
                <a:endParaRPr sz="700" b="1">
                  <a:solidFill>
                    <a:srgbClr val="FFFFFF"/>
                  </a:solidFill>
                  <a:latin typeface="Poppins"/>
                  <a:ea typeface="Poppins"/>
                  <a:cs typeface="Poppins"/>
                  <a:sym typeface="Poppins"/>
                </a:endParaRPr>
              </a:p>
              <a:p>
                <a:pPr marL="0" lvl="0" indent="0" algn="l" rtl="0">
                  <a:spcBef>
                    <a:spcPts val="150"/>
                  </a:spcBef>
                  <a:spcAft>
                    <a:spcPts val="0"/>
                  </a:spcAft>
                  <a:buNone/>
                </a:pPr>
                <a:r>
                  <a:rPr lang="en-GB" sz="580" b="0">
                    <a:solidFill>
                      <a:srgbClr val="94A3B8"/>
                    </a:solidFill>
                    <a:latin typeface="Poppins"/>
                    <a:ea typeface="Poppins"/>
                    <a:cs typeface="Poppins"/>
                    <a:sym typeface="Poppins"/>
                  </a:rPr>
                  <a:t>Support hospitals in remote areas where specialist radiologists may not always be available.</a:t>
                </a:r>
                <a:endParaRPr sz="580" b="0">
                  <a:solidFill>
                    <a:srgbClr val="94A3B8"/>
                  </a:solidFill>
                  <a:latin typeface="Poppins"/>
                  <a:ea typeface="Poppins"/>
                  <a:cs typeface="Poppins"/>
                  <a:sym typeface="Poppins"/>
                </a:endParaRPr>
              </a:p>
            </p:txBody>
          </p:sp>
        </p:grpSp>
      </p:grpSp>
      <p:grpSp>
        <p:nvGrpSpPr>
          <p:cNvPr id="871" name="Google Shape;871;p26"/>
          <p:cNvGrpSpPr/>
          <p:nvPr/>
        </p:nvGrpSpPr>
        <p:grpSpPr>
          <a:xfrm>
            <a:off x="6715125" y="904875"/>
            <a:ext cx="2000175" cy="2190750"/>
            <a:chOff x="6715125" y="904875"/>
            <a:chExt cx="2000175" cy="2190750"/>
          </a:xfrm>
        </p:grpSpPr>
        <p:grpSp>
          <p:nvGrpSpPr>
            <p:cNvPr id="872" name="Google Shape;872;p26"/>
            <p:cNvGrpSpPr/>
            <p:nvPr/>
          </p:nvGrpSpPr>
          <p:grpSpPr>
            <a:xfrm>
              <a:off x="6715125" y="904875"/>
              <a:ext cx="2000175" cy="571500"/>
              <a:chOff x="6715125" y="904875"/>
              <a:chExt cx="2000175" cy="571500"/>
            </a:xfrm>
          </p:grpSpPr>
          <p:sp>
            <p:nvSpPr>
              <p:cNvPr id="873" name="Google Shape;873;p26"/>
              <p:cNvSpPr/>
              <p:nvPr/>
            </p:nvSpPr>
            <p:spPr>
              <a:xfrm>
                <a:off x="6715125" y="904875"/>
                <a:ext cx="2000100" cy="571500"/>
              </a:xfrm>
              <a:prstGeom prst="roundRect">
                <a:avLst>
                  <a:gd name="adj" fmla="val 1333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4" name="Google Shape;874;p26"/>
              <p:cNvSpPr/>
              <p:nvPr/>
            </p:nvSpPr>
            <p:spPr>
              <a:xfrm>
                <a:off x="8686800" y="904875"/>
                <a:ext cx="28500" cy="5715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5" name="Google Shape;875;p26"/>
              <p:cNvSpPr txBox="1"/>
              <p:nvPr/>
            </p:nvSpPr>
            <p:spPr>
              <a:xfrm>
                <a:off x="6810375" y="962025"/>
                <a:ext cx="1781100" cy="457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700" b="1">
                    <a:solidFill>
                      <a:srgbClr val="FFFFFF"/>
                    </a:solidFill>
                    <a:latin typeface="Poppins"/>
                    <a:ea typeface="Poppins"/>
                    <a:cs typeface="Poppins"/>
                    <a:sym typeface="Poppins"/>
                  </a:rPr>
                  <a:t>📚 Medical Education 🎓</a:t>
                </a:r>
                <a:endParaRPr sz="700" b="1">
                  <a:solidFill>
                    <a:srgbClr val="FFFFFF"/>
                  </a:solidFill>
                  <a:latin typeface="Poppins"/>
                  <a:ea typeface="Poppins"/>
                  <a:cs typeface="Poppins"/>
                  <a:sym typeface="Poppins"/>
                </a:endParaRPr>
              </a:p>
              <a:p>
                <a:pPr marL="0" lvl="0" indent="0" algn="r" rtl="0">
                  <a:spcBef>
                    <a:spcPts val="150"/>
                  </a:spcBef>
                  <a:spcAft>
                    <a:spcPts val="0"/>
                  </a:spcAft>
                  <a:buNone/>
                </a:pPr>
                <a:r>
                  <a:rPr lang="en-GB" sz="580" b="0">
                    <a:solidFill>
                      <a:srgbClr val="94A3B8"/>
                    </a:solidFill>
                    <a:latin typeface="Poppins"/>
                    <a:ea typeface="Poppins"/>
                    <a:cs typeface="Poppins"/>
                    <a:sym typeface="Poppins"/>
                  </a:rPr>
                  <a:t>Help students and trainee radiologists learn different brain tumor categories using AI examples.</a:t>
                </a:r>
                <a:endParaRPr sz="580" b="0">
                  <a:solidFill>
                    <a:srgbClr val="94A3B8"/>
                  </a:solidFill>
                  <a:latin typeface="Poppins"/>
                  <a:ea typeface="Poppins"/>
                  <a:cs typeface="Poppins"/>
                  <a:sym typeface="Poppins"/>
                </a:endParaRPr>
              </a:p>
            </p:txBody>
          </p:sp>
        </p:grpSp>
        <p:grpSp>
          <p:nvGrpSpPr>
            <p:cNvPr id="876" name="Google Shape;876;p26"/>
            <p:cNvGrpSpPr/>
            <p:nvPr/>
          </p:nvGrpSpPr>
          <p:grpSpPr>
            <a:xfrm>
              <a:off x="6715125" y="1714500"/>
              <a:ext cx="2000175" cy="571500"/>
              <a:chOff x="6715125" y="1714500"/>
              <a:chExt cx="2000175" cy="571500"/>
            </a:xfrm>
          </p:grpSpPr>
          <p:sp>
            <p:nvSpPr>
              <p:cNvPr id="877" name="Google Shape;877;p26"/>
              <p:cNvSpPr/>
              <p:nvPr/>
            </p:nvSpPr>
            <p:spPr>
              <a:xfrm>
                <a:off x="6715125" y="1714500"/>
                <a:ext cx="2000100" cy="571500"/>
              </a:xfrm>
              <a:prstGeom prst="roundRect">
                <a:avLst>
                  <a:gd name="adj" fmla="val 1333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8" name="Google Shape;878;p26"/>
              <p:cNvSpPr/>
              <p:nvPr/>
            </p:nvSpPr>
            <p:spPr>
              <a:xfrm>
                <a:off x="8686800" y="1714500"/>
                <a:ext cx="28500" cy="5715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79" name="Google Shape;879;p26"/>
              <p:cNvSpPr txBox="1"/>
              <p:nvPr/>
            </p:nvSpPr>
            <p:spPr>
              <a:xfrm>
                <a:off x="6810375" y="1771650"/>
                <a:ext cx="1781100" cy="457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700" b="1">
                    <a:solidFill>
                      <a:srgbClr val="FFFFFF"/>
                    </a:solidFill>
                    <a:latin typeface="Poppins"/>
                    <a:ea typeface="Poppins"/>
                    <a:cs typeface="Poppins"/>
                    <a:sym typeface="Poppins"/>
                  </a:rPr>
                  <a:t>🔬 Medical Research 🧪</a:t>
                </a:r>
                <a:endParaRPr sz="700" b="1">
                  <a:solidFill>
                    <a:srgbClr val="FFFFFF"/>
                  </a:solidFill>
                  <a:latin typeface="Poppins"/>
                  <a:ea typeface="Poppins"/>
                  <a:cs typeface="Poppins"/>
                  <a:sym typeface="Poppins"/>
                </a:endParaRPr>
              </a:p>
              <a:p>
                <a:pPr marL="0" lvl="0" indent="0" algn="r" rtl="0">
                  <a:spcBef>
                    <a:spcPts val="150"/>
                  </a:spcBef>
                  <a:spcAft>
                    <a:spcPts val="0"/>
                  </a:spcAft>
                  <a:buNone/>
                </a:pPr>
                <a:r>
                  <a:rPr lang="en-GB" sz="580" b="0">
                    <a:solidFill>
                      <a:srgbClr val="94A3B8"/>
                    </a:solidFill>
                    <a:latin typeface="Poppins"/>
                    <a:ea typeface="Poppins"/>
                    <a:cs typeface="Poppins"/>
                    <a:sym typeface="Poppins"/>
                  </a:rPr>
                  <a:t>Support researchers by analyzing large MRI datasets more efficiently for clinical cohort validation.</a:t>
                </a:r>
                <a:endParaRPr sz="580" b="0">
                  <a:solidFill>
                    <a:srgbClr val="94A3B8"/>
                  </a:solidFill>
                  <a:latin typeface="Poppins"/>
                  <a:ea typeface="Poppins"/>
                  <a:cs typeface="Poppins"/>
                  <a:sym typeface="Poppins"/>
                </a:endParaRPr>
              </a:p>
            </p:txBody>
          </p:sp>
        </p:grpSp>
        <p:grpSp>
          <p:nvGrpSpPr>
            <p:cNvPr id="880" name="Google Shape;880;p26"/>
            <p:cNvGrpSpPr/>
            <p:nvPr/>
          </p:nvGrpSpPr>
          <p:grpSpPr>
            <a:xfrm>
              <a:off x="6715125" y="2524125"/>
              <a:ext cx="2000175" cy="571500"/>
              <a:chOff x="6715125" y="2524125"/>
              <a:chExt cx="2000175" cy="571500"/>
            </a:xfrm>
          </p:grpSpPr>
          <p:sp>
            <p:nvSpPr>
              <p:cNvPr id="881" name="Google Shape;881;p26"/>
              <p:cNvSpPr/>
              <p:nvPr/>
            </p:nvSpPr>
            <p:spPr>
              <a:xfrm>
                <a:off x="6715125" y="2524125"/>
                <a:ext cx="2000100" cy="571500"/>
              </a:xfrm>
              <a:prstGeom prst="roundRect">
                <a:avLst>
                  <a:gd name="adj" fmla="val 13333"/>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82" name="Google Shape;882;p26"/>
              <p:cNvSpPr/>
              <p:nvPr/>
            </p:nvSpPr>
            <p:spPr>
              <a:xfrm>
                <a:off x="8686800" y="2524125"/>
                <a:ext cx="28500" cy="5715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83" name="Google Shape;883;p26"/>
              <p:cNvSpPr txBox="1"/>
              <p:nvPr/>
            </p:nvSpPr>
            <p:spPr>
              <a:xfrm>
                <a:off x="6810375" y="2581275"/>
                <a:ext cx="1781100" cy="4572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700" b="1">
                    <a:solidFill>
                      <a:srgbClr val="FFFFFF"/>
                    </a:solidFill>
                    <a:latin typeface="Poppins"/>
                    <a:ea typeface="Poppins"/>
                    <a:cs typeface="Poppins"/>
                    <a:sym typeface="Poppins"/>
                  </a:rPr>
                  <a:t>💻 AI Healthcare Platforms 🌐</a:t>
                </a:r>
                <a:endParaRPr sz="700" b="1">
                  <a:solidFill>
                    <a:srgbClr val="FFFFFF"/>
                  </a:solidFill>
                  <a:latin typeface="Poppins"/>
                  <a:ea typeface="Poppins"/>
                  <a:cs typeface="Poppins"/>
                  <a:sym typeface="Poppins"/>
                </a:endParaRPr>
              </a:p>
              <a:p>
                <a:pPr marL="0" lvl="0" indent="0" algn="r" rtl="0">
                  <a:spcBef>
                    <a:spcPts val="150"/>
                  </a:spcBef>
                  <a:spcAft>
                    <a:spcPts val="0"/>
                  </a:spcAft>
                  <a:buNone/>
                </a:pPr>
                <a:r>
                  <a:rPr lang="en-GB" sz="580" b="0">
                    <a:solidFill>
                      <a:srgbClr val="94A3B8"/>
                    </a:solidFill>
                    <a:latin typeface="Poppins"/>
                    <a:ea typeface="Poppins"/>
                    <a:cs typeface="Poppins"/>
                    <a:sym typeface="Poppins"/>
                  </a:rPr>
                  <a:t>Integrate with hospital software and PACS diagnostic systems to provide automated analysis.</a:t>
                </a:r>
                <a:endParaRPr sz="580" b="0">
                  <a:solidFill>
                    <a:srgbClr val="94A3B8"/>
                  </a:solidFill>
                  <a:latin typeface="Poppins"/>
                  <a:ea typeface="Poppins"/>
                  <a:cs typeface="Poppins"/>
                  <a:sym typeface="Poppins"/>
                </a:endParaRPr>
              </a:p>
            </p:txBody>
          </p:sp>
        </p:grpSp>
      </p:grpSp>
      <p:grpSp>
        <p:nvGrpSpPr>
          <p:cNvPr id="884" name="Google Shape;884;p26"/>
          <p:cNvGrpSpPr/>
          <p:nvPr/>
        </p:nvGrpSpPr>
        <p:grpSpPr>
          <a:xfrm>
            <a:off x="428625" y="3286125"/>
            <a:ext cx="8286825" cy="1047900"/>
            <a:chOff x="428625" y="3286125"/>
            <a:chExt cx="8286825" cy="1047900"/>
          </a:xfrm>
        </p:grpSpPr>
        <p:grpSp>
          <p:nvGrpSpPr>
            <p:cNvPr id="885" name="Google Shape;885;p26"/>
            <p:cNvGrpSpPr/>
            <p:nvPr/>
          </p:nvGrpSpPr>
          <p:grpSpPr>
            <a:xfrm>
              <a:off x="428625" y="3286125"/>
              <a:ext cx="4048200" cy="1047900"/>
              <a:chOff x="428625" y="3286125"/>
              <a:chExt cx="4048200" cy="1047900"/>
            </a:xfrm>
          </p:grpSpPr>
          <p:sp>
            <p:nvSpPr>
              <p:cNvPr id="886" name="Google Shape;886;p26"/>
              <p:cNvSpPr/>
              <p:nvPr/>
            </p:nvSpPr>
            <p:spPr>
              <a:xfrm>
                <a:off x="428625" y="3286125"/>
                <a:ext cx="4048200" cy="1047900"/>
              </a:xfrm>
              <a:prstGeom prst="roundRect">
                <a:avLst>
                  <a:gd name="adj" fmla="val 7272"/>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87" name="Google Shape;887;p26"/>
              <p:cNvSpPr/>
              <p:nvPr/>
            </p:nvSpPr>
            <p:spPr>
              <a:xfrm>
                <a:off x="428625" y="3286125"/>
                <a:ext cx="38100" cy="10479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88" name="Google Shape;888;p26"/>
              <p:cNvSpPr txBox="1"/>
              <p:nvPr/>
            </p:nvSpPr>
            <p:spPr>
              <a:xfrm>
                <a:off x="619125" y="3400425"/>
                <a:ext cx="3667200" cy="819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Premium Clinical Impact &amp; Benefits</a:t>
                </a:r>
                <a:endParaRPr sz="750" b="1">
                  <a:solidFill>
                    <a:srgbClr val="00F2FE"/>
                  </a:solidFill>
                  <a:latin typeface="Poppins"/>
                  <a:ea typeface="Poppins"/>
                  <a:cs typeface="Poppins"/>
                  <a:sym typeface="Poppins"/>
                </a:endParaRPr>
              </a:p>
              <a:p>
                <a:pPr marL="457200" lvl="0" indent="-269875" algn="l" rtl="0">
                  <a:spcBef>
                    <a:spcPts val="450"/>
                  </a:spcBef>
                  <a:spcAft>
                    <a:spcPts val="0"/>
                  </a:spcAft>
                  <a:buClr>
                    <a:srgbClr val="E2E8F0"/>
                  </a:buClr>
                  <a:buSzPts val="650"/>
                  <a:buFont typeface="Poppins"/>
                  <a:buChar char="●"/>
                </a:pPr>
                <a:r>
                  <a:rPr lang="en-GB" sz="650" b="0">
                    <a:solidFill>
                      <a:srgbClr val="E2E8F0"/>
                    </a:solidFill>
                    <a:latin typeface="Poppins Medium"/>
                    <a:ea typeface="Poppins Medium"/>
                    <a:cs typeface="Poppins Medium"/>
                    <a:sym typeface="Poppins Medium"/>
                  </a:rPr>
                  <a:t>Faster MRI analysis &amp; immediate processing</a:t>
                </a:r>
                <a:endParaRPr sz="650" b="0">
                  <a:solidFill>
                    <a:srgbClr val="E2E8F0"/>
                  </a:solidFill>
                  <a:latin typeface="Poppins Medium"/>
                  <a:ea typeface="Poppins Medium"/>
                  <a:cs typeface="Poppins Medium"/>
                  <a:sym typeface="Poppins Medium"/>
                </a:endParaRPr>
              </a:p>
              <a:p>
                <a:pPr marL="457200" lvl="0" indent="-269875" algn="l" rtl="0">
                  <a:spcBef>
                    <a:spcPts val="225"/>
                  </a:spcBef>
                  <a:spcAft>
                    <a:spcPts val="0"/>
                  </a:spcAft>
                  <a:buClr>
                    <a:srgbClr val="E2E8F0"/>
                  </a:buClr>
                  <a:buSzPts val="650"/>
                  <a:buFont typeface="Poppins"/>
                  <a:buChar char="●"/>
                </a:pPr>
                <a:r>
                  <a:rPr lang="en-GB" sz="650" b="0">
                    <a:solidFill>
                      <a:srgbClr val="E2E8F0"/>
                    </a:solidFill>
                    <a:latin typeface="Poppins Medium"/>
                    <a:ea typeface="Poppins Medium"/>
                    <a:cs typeface="Poppins Medium"/>
                    <a:sym typeface="Poppins Medium"/>
                  </a:rPr>
                  <a:t>Consistent preliminary clinical screening</a:t>
                </a:r>
                <a:endParaRPr sz="650" b="0">
                  <a:solidFill>
                    <a:srgbClr val="E2E8F0"/>
                  </a:solidFill>
                  <a:latin typeface="Poppins Medium"/>
                  <a:ea typeface="Poppins Medium"/>
                  <a:cs typeface="Poppins Medium"/>
                  <a:sym typeface="Poppins Medium"/>
                </a:endParaRPr>
              </a:p>
              <a:p>
                <a:pPr marL="457200" lvl="0" indent="-269875" algn="l" rtl="0">
                  <a:spcBef>
                    <a:spcPts val="225"/>
                  </a:spcBef>
                  <a:spcAft>
                    <a:spcPts val="0"/>
                  </a:spcAft>
                  <a:buClr>
                    <a:srgbClr val="E2E8F0"/>
                  </a:buClr>
                  <a:buSzPts val="650"/>
                  <a:buFont typeface="Poppins"/>
                  <a:buChar char="●"/>
                </a:pPr>
                <a:r>
                  <a:rPr lang="en-GB" sz="650" b="0">
                    <a:solidFill>
                      <a:srgbClr val="E2E8F0"/>
                    </a:solidFill>
                    <a:latin typeface="Poppins Medium"/>
                    <a:ea typeface="Poppins Medium"/>
                    <a:cs typeface="Poppins Medium"/>
                    <a:sym typeface="Poppins Medium"/>
                  </a:rPr>
                  <a:t>Reduced manual workload for diagnostic staff</a:t>
                </a:r>
                <a:endParaRPr sz="650" b="0">
                  <a:solidFill>
                    <a:srgbClr val="E2E8F0"/>
                  </a:solidFill>
                  <a:latin typeface="Poppins Medium"/>
                  <a:ea typeface="Poppins Medium"/>
                  <a:cs typeface="Poppins Medium"/>
                  <a:sym typeface="Poppins Medium"/>
                </a:endParaRPr>
              </a:p>
              <a:p>
                <a:pPr marL="457200" lvl="0" indent="-269875" algn="l" rtl="0">
                  <a:spcBef>
                    <a:spcPts val="225"/>
                  </a:spcBef>
                  <a:spcAft>
                    <a:spcPts val="0"/>
                  </a:spcAft>
                  <a:buClr>
                    <a:srgbClr val="E2E8F0"/>
                  </a:buClr>
                  <a:buSzPts val="650"/>
                  <a:buFont typeface="Poppins"/>
                  <a:buChar char="●"/>
                </a:pPr>
                <a:r>
                  <a:rPr lang="en-GB" sz="650" b="0">
                    <a:solidFill>
                      <a:srgbClr val="E2E8F0"/>
                    </a:solidFill>
                    <a:latin typeface="Poppins Medium"/>
                    <a:ea typeface="Poppins Medium"/>
                    <a:cs typeface="Poppins Medium"/>
                    <a:sym typeface="Poppins Medium"/>
                  </a:rPr>
                  <a:t>Improved overall healthcare clinical efficiency</a:t>
                </a:r>
                <a:endParaRPr sz="650" b="0">
                  <a:solidFill>
                    <a:srgbClr val="E2E8F0"/>
                  </a:solidFill>
                  <a:latin typeface="Poppins Medium"/>
                  <a:ea typeface="Poppins Medium"/>
                  <a:cs typeface="Poppins Medium"/>
                  <a:sym typeface="Poppins Medium"/>
                </a:endParaRPr>
              </a:p>
              <a:p>
                <a:pPr marL="457200" lvl="0" indent="-269875" algn="l" rtl="0">
                  <a:spcBef>
                    <a:spcPts val="225"/>
                  </a:spcBef>
                  <a:spcAft>
                    <a:spcPts val="225"/>
                  </a:spcAft>
                  <a:buClr>
                    <a:srgbClr val="E2E8F0"/>
                  </a:buClr>
                  <a:buSzPts val="650"/>
                  <a:buFont typeface="Poppins"/>
                  <a:buChar char="●"/>
                </a:pPr>
                <a:r>
                  <a:rPr lang="en-GB" sz="650" b="0">
                    <a:solidFill>
                      <a:srgbClr val="E2E8F0"/>
                    </a:solidFill>
                    <a:latin typeface="Poppins Medium"/>
                    <a:ea typeface="Poppins Medium"/>
                    <a:cs typeface="Poppins Medium"/>
                    <a:sym typeface="Poppins Medium"/>
                  </a:rPr>
                  <a:t>Empowered AI-assisted decision making loops</a:t>
                </a:r>
                <a:endParaRPr sz="650" b="0">
                  <a:solidFill>
                    <a:srgbClr val="E2E8F0"/>
                  </a:solidFill>
                  <a:latin typeface="Poppins Medium"/>
                  <a:ea typeface="Poppins Medium"/>
                  <a:cs typeface="Poppins Medium"/>
                  <a:sym typeface="Poppins Medium"/>
                </a:endParaRPr>
              </a:p>
            </p:txBody>
          </p:sp>
        </p:grpSp>
        <p:grpSp>
          <p:nvGrpSpPr>
            <p:cNvPr id="889" name="Google Shape;889;p26"/>
            <p:cNvGrpSpPr/>
            <p:nvPr/>
          </p:nvGrpSpPr>
          <p:grpSpPr>
            <a:xfrm>
              <a:off x="4667250" y="3286125"/>
              <a:ext cx="4048200" cy="1047900"/>
              <a:chOff x="4667250" y="3286125"/>
              <a:chExt cx="4048200" cy="1047900"/>
            </a:xfrm>
          </p:grpSpPr>
          <p:sp>
            <p:nvSpPr>
              <p:cNvPr id="890" name="Google Shape;890;p26"/>
              <p:cNvSpPr/>
              <p:nvPr/>
            </p:nvSpPr>
            <p:spPr>
              <a:xfrm>
                <a:off x="4667250" y="3286125"/>
                <a:ext cx="4048200" cy="1047900"/>
              </a:xfrm>
              <a:prstGeom prst="roundRect">
                <a:avLst>
                  <a:gd name="adj" fmla="val 7272"/>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91" name="Google Shape;891;p26"/>
              <p:cNvSpPr/>
              <p:nvPr/>
            </p:nvSpPr>
            <p:spPr>
              <a:xfrm>
                <a:off x="4667250" y="3286125"/>
                <a:ext cx="38100" cy="1047900"/>
              </a:xfrm>
              <a:prstGeom prst="roundRect">
                <a:avLst>
                  <a:gd name="adj" fmla="val 50000"/>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92" name="Google Shape;892;p26"/>
              <p:cNvSpPr txBox="1"/>
              <p:nvPr/>
            </p:nvSpPr>
            <p:spPr>
              <a:xfrm>
                <a:off x="4857750" y="3400425"/>
                <a:ext cx="3667200" cy="819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F59E0B"/>
                    </a:solidFill>
                    <a:latin typeface="Poppins"/>
                    <a:ea typeface="Poppins"/>
                    <a:cs typeface="Poppins"/>
                    <a:sym typeface="Poppins"/>
                  </a:rPr>
                  <a:t>⚠️ Important Diagnostic Note</a:t>
                </a:r>
                <a:endParaRPr sz="750" b="1">
                  <a:solidFill>
                    <a:srgbClr val="F59E0B"/>
                  </a:solidFill>
                  <a:latin typeface="Poppins"/>
                  <a:ea typeface="Poppins"/>
                  <a:cs typeface="Poppins"/>
                  <a:sym typeface="Poppins"/>
                </a:endParaRPr>
              </a:p>
              <a:p>
                <a:pPr marL="0" lvl="0" indent="0" algn="l" rtl="0">
                  <a:spcBef>
                    <a:spcPts val="450"/>
                  </a:spcBef>
                  <a:spcAft>
                    <a:spcPts val="0"/>
                  </a:spcAft>
                  <a:buNone/>
                </a:pPr>
                <a:r>
                  <a:rPr lang="en-GB" sz="700" b="0">
                    <a:solidFill>
                      <a:srgbClr val="E2E8F0"/>
                    </a:solidFill>
                    <a:latin typeface="Poppins Medium"/>
                    <a:ea typeface="Poppins Medium"/>
                    <a:cs typeface="Poppins Medium"/>
                    <a:sym typeface="Poppins Medium"/>
                  </a:rPr>
                  <a:t>This deep learning model is designed to assist healthcare professionals as a secondary support system, not to replace human experts.</a:t>
                </a:r>
                <a:br>
                  <a:rPr lang="en-GB" sz="700" b="0">
                    <a:solidFill>
                      <a:srgbClr val="E2E8F0"/>
                    </a:solidFill>
                    <a:latin typeface="Poppins Medium"/>
                    <a:ea typeface="Poppins Medium"/>
                    <a:cs typeface="Poppins Medium"/>
                    <a:sym typeface="Poppins Medium"/>
                  </a:rPr>
                </a:br>
                <a:br>
                  <a:rPr lang="en-GB" sz="700" b="0">
                    <a:solidFill>
                      <a:srgbClr val="E2E8F0"/>
                    </a:solidFill>
                    <a:latin typeface="Poppins Medium"/>
                    <a:ea typeface="Poppins Medium"/>
                    <a:cs typeface="Poppins Medium"/>
                    <a:sym typeface="Poppins Medium"/>
                  </a:rPr>
                </a:br>
                <a:r>
                  <a:rPr lang="en-GB" sz="700" b="0">
                    <a:solidFill>
                      <a:srgbClr val="FFFFFF"/>
                    </a:solidFill>
                    <a:latin typeface="Poppins SemiBold"/>
                    <a:ea typeface="Poppins SemiBold"/>
                    <a:cs typeface="Poppins SemiBold"/>
                    <a:sym typeface="Poppins SemiBold"/>
                  </a:rPr>
                  <a:t>Final diagnosis and clinical validation should always be made exclusively by qualified radiologists and medical experts.</a:t>
                </a:r>
                <a:endParaRPr sz="700" b="0">
                  <a:solidFill>
                    <a:srgbClr val="E2E8F0"/>
                  </a:solidFill>
                  <a:latin typeface="Poppins Medium"/>
                  <a:ea typeface="Poppins Medium"/>
                  <a:cs typeface="Poppins Medium"/>
                  <a:sym typeface="Poppins Medium"/>
                </a:endParaRPr>
              </a:p>
            </p:txBody>
          </p:sp>
        </p:grpSp>
      </p:grpSp>
      <p:grpSp>
        <p:nvGrpSpPr>
          <p:cNvPr id="893" name="Google Shape;893;p26"/>
          <p:cNvGrpSpPr/>
          <p:nvPr/>
        </p:nvGrpSpPr>
        <p:grpSpPr>
          <a:xfrm>
            <a:off x="428625" y="4457700"/>
            <a:ext cx="8286900" cy="400200"/>
            <a:chOff x="428625" y="4457700"/>
            <a:chExt cx="8286900" cy="400200"/>
          </a:xfrm>
        </p:grpSpPr>
        <p:sp>
          <p:nvSpPr>
            <p:cNvPr id="894" name="Google Shape;894;p26"/>
            <p:cNvSpPr/>
            <p:nvPr/>
          </p:nvSpPr>
          <p:spPr>
            <a:xfrm>
              <a:off x="428625" y="4457700"/>
              <a:ext cx="8286900" cy="400200"/>
            </a:xfrm>
            <a:prstGeom prst="roundRect">
              <a:avLst>
                <a:gd name="adj" fmla="val 14285"/>
              </a:avLst>
            </a:prstGeom>
            <a:solidFill>
              <a:srgbClr val="0F172A"/>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95" name="Google Shape;895;p26"/>
            <p:cNvSpPr/>
            <p:nvPr/>
          </p:nvSpPr>
          <p:spPr>
            <a:xfrm>
              <a:off x="428625" y="4457700"/>
              <a:ext cx="38100" cy="4002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896" name="Google Shape;896;p26"/>
            <p:cNvSpPr txBox="1"/>
            <p:nvPr/>
          </p:nvSpPr>
          <p:spPr>
            <a:xfrm>
              <a:off x="619125" y="4505325"/>
              <a:ext cx="7905900" cy="304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650" b="1">
                  <a:solidFill>
                    <a:srgbClr val="00F2FE"/>
                  </a:solidFill>
                  <a:latin typeface="Poppins"/>
                  <a:ea typeface="Poppins"/>
                  <a:cs typeface="Poppins"/>
                  <a:sym typeface="Poppins"/>
                </a:rPr>
                <a:t>Project Vision:</a:t>
              </a:r>
              <a:r>
                <a:rPr lang="en-GB" sz="600" b="0">
                  <a:solidFill>
                    <a:srgbClr val="94A3B8"/>
                  </a:solidFill>
                  <a:latin typeface="Poppins"/>
                  <a:ea typeface="Poppins"/>
                  <a:cs typeface="Poppins"/>
                  <a:sym typeface="Poppins"/>
                </a:rPr>
                <a:t> Artificial Intelligence has the potential to transform medical imaging by improving speed, consistency, and accessibility while supporting healthcare professionals in making informed, high-confidence clinical decisions.</a:t>
              </a:r>
              <a:endParaRPr sz="650" b="1">
                <a:solidFill>
                  <a:srgbClr val="00F2FE"/>
                </a:solidFill>
                <a:latin typeface="Poppins"/>
                <a:ea typeface="Poppins"/>
                <a:cs typeface="Poppins"/>
                <a:sym typeface="Poppi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00"/>
        <p:cNvGrpSpPr/>
        <p:nvPr/>
      </p:nvGrpSpPr>
      <p:grpSpPr>
        <a:xfrm>
          <a:off x="0" y="0"/>
          <a:ext cx="0" cy="0"/>
          <a:chOff x="0" y="0"/>
          <a:chExt cx="0" cy="0"/>
        </a:xfrm>
      </p:grpSpPr>
      <p:grpSp>
        <p:nvGrpSpPr>
          <p:cNvPr id="901" name="Google Shape;901;p27"/>
          <p:cNvGrpSpPr/>
          <p:nvPr/>
        </p:nvGrpSpPr>
        <p:grpSpPr>
          <a:xfrm>
            <a:off x="2476500" y="476250"/>
            <a:ext cx="4191000" cy="4191000"/>
            <a:chOff x="2476500" y="476250"/>
            <a:chExt cx="4191000" cy="4191000"/>
          </a:xfrm>
        </p:grpSpPr>
        <p:pic>
          <p:nvPicPr>
            <p:cNvPr id="902" name="Google Shape;902;p27"/>
            <p:cNvPicPr preferRelativeResize="0"/>
            <p:nvPr/>
          </p:nvPicPr>
          <p:blipFill rotWithShape="1">
            <a:blip r:embed="rId4">
              <a:alphaModFix/>
            </a:blip>
            <a:srcRect/>
            <a:stretch/>
          </p:blipFill>
          <p:spPr>
            <a:xfrm>
              <a:off x="2476500" y="476250"/>
              <a:ext cx="4191000" cy="4191000"/>
            </a:xfrm>
            <a:prstGeom prst="rect">
              <a:avLst/>
            </a:prstGeom>
            <a:noFill/>
            <a:ln>
              <a:noFill/>
            </a:ln>
          </p:spPr>
        </p:pic>
        <p:pic>
          <p:nvPicPr>
            <p:cNvPr id="903" name="Google Shape;903;p27"/>
            <p:cNvPicPr preferRelativeResize="0"/>
            <p:nvPr/>
          </p:nvPicPr>
          <p:blipFill rotWithShape="1">
            <a:blip r:embed="rId5">
              <a:alphaModFix/>
            </a:blip>
            <a:srcRect/>
            <a:stretch/>
          </p:blipFill>
          <p:spPr>
            <a:xfrm>
              <a:off x="3138488" y="1138238"/>
              <a:ext cx="2867100" cy="2867100"/>
            </a:xfrm>
            <a:prstGeom prst="rect">
              <a:avLst/>
            </a:prstGeom>
            <a:noFill/>
            <a:ln>
              <a:noFill/>
            </a:ln>
          </p:spPr>
        </p:pic>
        <p:pic>
          <p:nvPicPr>
            <p:cNvPr id="904" name="Google Shape;904;p27"/>
            <p:cNvPicPr preferRelativeResize="0"/>
            <p:nvPr/>
          </p:nvPicPr>
          <p:blipFill rotWithShape="1">
            <a:blip r:embed="rId6">
              <a:alphaModFix/>
            </a:blip>
            <a:srcRect/>
            <a:stretch/>
          </p:blipFill>
          <p:spPr>
            <a:xfrm>
              <a:off x="2476500" y="2566988"/>
              <a:ext cx="4191000" cy="9600"/>
            </a:xfrm>
            <a:prstGeom prst="rect">
              <a:avLst/>
            </a:prstGeom>
            <a:noFill/>
            <a:ln>
              <a:noFill/>
            </a:ln>
          </p:spPr>
        </p:pic>
        <p:pic>
          <p:nvPicPr>
            <p:cNvPr id="905" name="Google Shape;905;p27"/>
            <p:cNvPicPr preferRelativeResize="0"/>
            <p:nvPr/>
          </p:nvPicPr>
          <p:blipFill rotWithShape="1">
            <a:blip r:embed="rId7">
              <a:alphaModFix/>
            </a:blip>
            <a:srcRect/>
            <a:stretch/>
          </p:blipFill>
          <p:spPr>
            <a:xfrm>
              <a:off x="4567238" y="476250"/>
              <a:ext cx="9600" cy="4191000"/>
            </a:xfrm>
            <a:prstGeom prst="rect">
              <a:avLst/>
            </a:prstGeom>
            <a:noFill/>
            <a:ln>
              <a:noFill/>
            </a:ln>
          </p:spPr>
        </p:pic>
      </p:grpSp>
      <p:sp>
        <p:nvSpPr>
          <p:cNvPr id="906" name="Google Shape;906;p27"/>
          <p:cNvSpPr txBox="1"/>
          <p:nvPr/>
        </p:nvSpPr>
        <p:spPr>
          <a:xfrm>
            <a:off x="428625" y="238125"/>
            <a:ext cx="8286900" cy="476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End-to-End Project Workflow</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850" b="0">
                <a:solidFill>
                  <a:srgbClr val="A5F3FC"/>
                </a:solidFill>
                <a:latin typeface="Poppins"/>
                <a:ea typeface="Poppins"/>
                <a:cs typeface="Poppins"/>
                <a:sym typeface="Poppins"/>
              </a:rPr>
              <a:t>Complete journey from Brain MRI image to AI-powered prediction.</a:t>
            </a:r>
            <a:endParaRPr sz="850" b="0">
              <a:solidFill>
                <a:srgbClr val="A5F3FC"/>
              </a:solidFill>
              <a:latin typeface="Poppins"/>
              <a:ea typeface="Poppins"/>
              <a:cs typeface="Poppins"/>
              <a:sym typeface="Poppins"/>
            </a:endParaRPr>
          </a:p>
        </p:txBody>
      </p:sp>
      <p:grpSp>
        <p:nvGrpSpPr>
          <p:cNvPr id="907" name="Google Shape;907;p27"/>
          <p:cNvGrpSpPr/>
          <p:nvPr/>
        </p:nvGrpSpPr>
        <p:grpSpPr>
          <a:xfrm>
            <a:off x="1362075" y="1323975"/>
            <a:ext cx="6362700" cy="352500"/>
            <a:chOff x="1362075" y="1323975"/>
            <a:chExt cx="6362700" cy="352500"/>
          </a:xfrm>
        </p:grpSpPr>
        <p:pic>
          <p:nvPicPr>
            <p:cNvPr id="908" name="Google Shape;908;p27"/>
            <p:cNvPicPr preferRelativeResize="0"/>
            <p:nvPr/>
          </p:nvPicPr>
          <p:blipFill rotWithShape="1">
            <a:blip r:embed="rId8">
              <a:alphaModFix/>
            </a:blip>
            <a:srcRect/>
            <a:stretch/>
          </p:blipFill>
          <p:spPr>
            <a:xfrm>
              <a:off x="1362075" y="1323975"/>
              <a:ext cx="133500" cy="352500"/>
            </a:xfrm>
            <a:prstGeom prst="rect">
              <a:avLst/>
            </a:prstGeom>
            <a:noFill/>
            <a:ln>
              <a:noFill/>
            </a:ln>
          </p:spPr>
        </p:pic>
        <p:pic>
          <p:nvPicPr>
            <p:cNvPr id="909" name="Google Shape;909;p27"/>
            <p:cNvPicPr preferRelativeResize="0"/>
            <p:nvPr/>
          </p:nvPicPr>
          <p:blipFill rotWithShape="1">
            <a:blip r:embed="rId9">
              <a:alphaModFix/>
            </a:blip>
            <a:srcRect/>
            <a:stretch/>
          </p:blipFill>
          <p:spPr>
            <a:xfrm>
              <a:off x="4448175" y="1323975"/>
              <a:ext cx="171600" cy="352500"/>
            </a:xfrm>
            <a:prstGeom prst="rect">
              <a:avLst/>
            </a:prstGeom>
            <a:noFill/>
            <a:ln>
              <a:noFill/>
            </a:ln>
          </p:spPr>
        </p:pic>
        <p:pic>
          <p:nvPicPr>
            <p:cNvPr id="910" name="Google Shape;910;p27"/>
            <p:cNvPicPr preferRelativeResize="0"/>
            <p:nvPr/>
          </p:nvPicPr>
          <p:blipFill rotWithShape="1">
            <a:blip r:embed="rId10">
              <a:alphaModFix/>
            </a:blip>
            <a:srcRect/>
            <a:stretch/>
          </p:blipFill>
          <p:spPr>
            <a:xfrm>
              <a:off x="7572375" y="1323975"/>
              <a:ext cx="152400" cy="352500"/>
            </a:xfrm>
            <a:prstGeom prst="rect">
              <a:avLst/>
            </a:prstGeom>
            <a:noFill/>
            <a:ln>
              <a:noFill/>
            </a:ln>
          </p:spPr>
        </p:pic>
      </p:grpSp>
      <p:grpSp>
        <p:nvGrpSpPr>
          <p:cNvPr id="911" name="Google Shape;911;p27"/>
          <p:cNvGrpSpPr/>
          <p:nvPr/>
        </p:nvGrpSpPr>
        <p:grpSpPr>
          <a:xfrm>
            <a:off x="428625" y="1266825"/>
            <a:ext cx="933600" cy="800100"/>
            <a:chOff x="428625" y="1266825"/>
            <a:chExt cx="933600" cy="800100"/>
          </a:xfrm>
        </p:grpSpPr>
        <p:sp>
          <p:nvSpPr>
            <p:cNvPr id="912" name="Google Shape;912;p27"/>
            <p:cNvSpPr/>
            <p:nvPr/>
          </p:nvSpPr>
          <p:spPr>
            <a:xfrm>
              <a:off x="428625" y="1266825"/>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3" name="Google Shape;913;p27"/>
            <p:cNvSpPr txBox="1"/>
            <p:nvPr/>
          </p:nvSpPr>
          <p:spPr>
            <a:xfrm>
              <a:off x="504825" y="1323975"/>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01</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Problem ID</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Need for faster and more accurate brain tumor classification.</a:t>
              </a:r>
              <a:endParaRPr sz="500" b="0">
                <a:solidFill>
                  <a:srgbClr val="94A3B8"/>
                </a:solidFill>
                <a:latin typeface="Poppins"/>
                <a:ea typeface="Poppins"/>
                <a:cs typeface="Poppins"/>
                <a:sym typeface="Poppins"/>
              </a:endParaRPr>
            </a:p>
          </p:txBody>
        </p:sp>
      </p:grpSp>
      <p:grpSp>
        <p:nvGrpSpPr>
          <p:cNvPr id="914" name="Google Shape;914;p27"/>
          <p:cNvGrpSpPr/>
          <p:nvPr/>
        </p:nvGrpSpPr>
        <p:grpSpPr>
          <a:xfrm>
            <a:off x="1457325" y="933450"/>
            <a:ext cx="933600" cy="800100"/>
            <a:chOff x="1457325" y="933450"/>
            <a:chExt cx="933600" cy="800100"/>
          </a:xfrm>
        </p:grpSpPr>
        <p:sp>
          <p:nvSpPr>
            <p:cNvPr id="915" name="Google Shape;915;p27"/>
            <p:cNvSpPr/>
            <p:nvPr/>
          </p:nvSpPr>
          <p:spPr>
            <a:xfrm>
              <a:off x="1457325" y="933450"/>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6" name="Google Shape;916;p27"/>
            <p:cNvSpPr txBox="1"/>
            <p:nvPr/>
          </p:nvSpPr>
          <p:spPr>
            <a:xfrm>
              <a:off x="1533525" y="990600"/>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02</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Dataset</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Brain MRI Dataset for high confidence training and testing images.</a:t>
              </a:r>
              <a:endParaRPr sz="500" b="0">
                <a:solidFill>
                  <a:srgbClr val="94A3B8"/>
                </a:solidFill>
                <a:latin typeface="Poppins"/>
                <a:ea typeface="Poppins"/>
                <a:cs typeface="Poppins"/>
                <a:sym typeface="Poppins"/>
              </a:endParaRPr>
            </a:p>
          </p:txBody>
        </p:sp>
      </p:grpSp>
      <p:grpSp>
        <p:nvGrpSpPr>
          <p:cNvPr id="917" name="Google Shape;917;p27"/>
          <p:cNvGrpSpPr/>
          <p:nvPr/>
        </p:nvGrpSpPr>
        <p:grpSpPr>
          <a:xfrm>
            <a:off x="2486025" y="933450"/>
            <a:ext cx="933600" cy="800100"/>
            <a:chOff x="2486025" y="933450"/>
            <a:chExt cx="933600" cy="800100"/>
          </a:xfrm>
        </p:grpSpPr>
        <p:sp>
          <p:nvSpPr>
            <p:cNvPr id="918" name="Google Shape;918;p27"/>
            <p:cNvSpPr/>
            <p:nvPr/>
          </p:nvSpPr>
          <p:spPr>
            <a:xfrm>
              <a:off x="2486025" y="933450"/>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19" name="Google Shape;919;p27"/>
            <p:cNvSpPr txBox="1"/>
            <p:nvPr/>
          </p:nvSpPr>
          <p:spPr>
            <a:xfrm>
              <a:off x="2562225" y="990600"/>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03</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Preprocessing</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Resize (224×224), dynamic normalization, shuffle, prefetch.</a:t>
              </a:r>
              <a:endParaRPr sz="500" b="0">
                <a:solidFill>
                  <a:srgbClr val="94A3B8"/>
                </a:solidFill>
                <a:latin typeface="Poppins"/>
                <a:ea typeface="Poppins"/>
                <a:cs typeface="Poppins"/>
                <a:sym typeface="Poppins"/>
              </a:endParaRPr>
            </a:p>
          </p:txBody>
        </p:sp>
      </p:grpSp>
      <p:grpSp>
        <p:nvGrpSpPr>
          <p:cNvPr id="920" name="Google Shape;920;p27"/>
          <p:cNvGrpSpPr/>
          <p:nvPr/>
        </p:nvGrpSpPr>
        <p:grpSpPr>
          <a:xfrm>
            <a:off x="3514725" y="933450"/>
            <a:ext cx="933600" cy="800100"/>
            <a:chOff x="3514725" y="933450"/>
            <a:chExt cx="933600" cy="800100"/>
          </a:xfrm>
        </p:grpSpPr>
        <p:sp>
          <p:nvSpPr>
            <p:cNvPr id="921" name="Google Shape;921;p27"/>
            <p:cNvSpPr/>
            <p:nvPr/>
          </p:nvSpPr>
          <p:spPr>
            <a:xfrm>
              <a:off x="3514725" y="933450"/>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22" name="Google Shape;922;p27"/>
            <p:cNvSpPr txBox="1"/>
            <p:nvPr/>
          </p:nvSpPr>
          <p:spPr>
            <a:xfrm>
              <a:off x="3590925" y="990600"/>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04</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CNN Model</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Conv2D layers, MaxPooling, Flatten, Dense with Softmax.</a:t>
              </a:r>
              <a:endParaRPr sz="500" b="0">
                <a:solidFill>
                  <a:srgbClr val="94A3B8"/>
                </a:solidFill>
                <a:latin typeface="Poppins"/>
                <a:ea typeface="Poppins"/>
                <a:cs typeface="Poppins"/>
                <a:sym typeface="Poppins"/>
              </a:endParaRPr>
            </a:p>
          </p:txBody>
        </p:sp>
      </p:grpSp>
      <p:grpSp>
        <p:nvGrpSpPr>
          <p:cNvPr id="923" name="Google Shape;923;p27"/>
          <p:cNvGrpSpPr/>
          <p:nvPr/>
        </p:nvGrpSpPr>
        <p:grpSpPr>
          <a:xfrm>
            <a:off x="4543425" y="1266825"/>
            <a:ext cx="933600" cy="800100"/>
            <a:chOff x="4543425" y="1266825"/>
            <a:chExt cx="933600" cy="800100"/>
          </a:xfrm>
        </p:grpSpPr>
        <p:sp>
          <p:nvSpPr>
            <p:cNvPr id="924" name="Google Shape;924;p27"/>
            <p:cNvSpPr/>
            <p:nvPr/>
          </p:nvSpPr>
          <p:spPr>
            <a:xfrm>
              <a:off x="4543425" y="1266825"/>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25" name="Google Shape;925;p27"/>
            <p:cNvSpPr txBox="1"/>
            <p:nvPr/>
          </p:nvSpPr>
          <p:spPr>
            <a:xfrm>
              <a:off x="4619625" y="1323975"/>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05</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Model Training</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20 Epochs, Adam Optimizer, Sparse Categorical Crossentropy.</a:t>
              </a:r>
              <a:endParaRPr sz="500" b="0">
                <a:solidFill>
                  <a:srgbClr val="94A3B8"/>
                </a:solidFill>
                <a:latin typeface="Poppins"/>
                <a:ea typeface="Poppins"/>
                <a:cs typeface="Poppins"/>
                <a:sym typeface="Poppins"/>
              </a:endParaRPr>
            </a:p>
          </p:txBody>
        </p:sp>
      </p:grpSp>
      <p:grpSp>
        <p:nvGrpSpPr>
          <p:cNvPr id="926" name="Google Shape;926;p27"/>
          <p:cNvGrpSpPr/>
          <p:nvPr/>
        </p:nvGrpSpPr>
        <p:grpSpPr>
          <a:xfrm>
            <a:off x="5572125" y="1266825"/>
            <a:ext cx="933600" cy="800100"/>
            <a:chOff x="5572125" y="1266825"/>
            <a:chExt cx="933600" cy="800100"/>
          </a:xfrm>
        </p:grpSpPr>
        <p:sp>
          <p:nvSpPr>
            <p:cNvPr id="927" name="Google Shape;927;p27"/>
            <p:cNvSpPr/>
            <p:nvPr/>
          </p:nvSpPr>
          <p:spPr>
            <a:xfrm>
              <a:off x="5572125" y="1266825"/>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28" name="Google Shape;928;p27"/>
            <p:cNvSpPr txBox="1"/>
            <p:nvPr/>
          </p:nvSpPr>
          <p:spPr>
            <a:xfrm>
              <a:off x="5648325" y="1323975"/>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06</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Evaluation</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Accuracy &amp; Loss curves, Confusion Matrix, Classification Report.</a:t>
              </a:r>
              <a:endParaRPr sz="500" b="0">
                <a:solidFill>
                  <a:srgbClr val="94A3B8"/>
                </a:solidFill>
                <a:latin typeface="Poppins"/>
                <a:ea typeface="Poppins"/>
                <a:cs typeface="Poppins"/>
                <a:sym typeface="Poppins"/>
              </a:endParaRPr>
            </a:p>
          </p:txBody>
        </p:sp>
      </p:grpSp>
      <p:grpSp>
        <p:nvGrpSpPr>
          <p:cNvPr id="929" name="Google Shape;929;p27"/>
          <p:cNvGrpSpPr/>
          <p:nvPr/>
        </p:nvGrpSpPr>
        <p:grpSpPr>
          <a:xfrm>
            <a:off x="6600825" y="1266825"/>
            <a:ext cx="933600" cy="800100"/>
            <a:chOff x="6600825" y="1266825"/>
            <a:chExt cx="933600" cy="800100"/>
          </a:xfrm>
        </p:grpSpPr>
        <p:sp>
          <p:nvSpPr>
            <p:cNvPr id="930" name="Google Shape;930;p27"/>
            <p:cNvSpPr/>
            <p:nvPr/>
          </p:nvSpPr>
          <p:spPr>
            <a:xfrm>
              <a:off x="6600825" y="1266825"/>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31" name="Google Shape;931;p27"/>
            <p:cNvSpPr txBox="1"/>
            <p:nvPr/>
          </p:nvSpPr>
          <p:spPr>
            <a:xfrm>
              <a:off x="6677025" y="1323975"/>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07</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Prediction</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Real-time pipeline: Upload MRI → CNN Analysis → Final Diagnosis.</a:t>
              </a:r>
              <a:endParaRPr sz="500" b="0">
                <a:solidFill>
                  <a:srgbClr val="94A3B8"/>
                </a:solidFill>
                <a:latin typeface="Poppins"/>
                <a:ea typeface="Poppins"/>
                <a:cs typeface="Poppins"/>
                <a:sym typeface="Poppins"/>
              </a:endParaRPr>
            </a:p>
          </p:txBody>
        </p:sp>
      </p:grpSp>
      <p:grpSp>
        <p:nvGrpSpPr>
          <p:cNvPr id="932" name="Google Shape;932;p27"/>
          <p:cNvGrpSpPr/>
          <p:nvPr/>
        </p:nvGrpSpPr>
        <p:grpSpPr>
          <a:xfrm>
            <a:off x="7724775" y="933450"/>
            <a:ext cx="933600" cy="800100"/>
            <a:chOff x="7724775" y="933450"/>
            <a:chExt cx="933600" cy="800100"/>
          </a:xfrm>
        </p:grpSpPr>
        <p:sp>
          <p:nvSpPr>
            <p:cNvPr id="933" name="Google Shape;933;p27"/>
            <p:cNvSpPr/>
            <p:nvPr/>
          </p:nvSpPr>
          <p:spPr>
            <a:xfrm>
              <a:off x="7724775" y="933450"/>
              <a:ext cx="933600" cy="800100"/>
            </a:xfrm>
            <a:prstGeom prst="roundRect">
              <a:avLst>
                <a:gd name="adj" fmla="val 9523"/>
              </a:avLst>
            </a:prstGeom>
            <a:solidFill>
              <a:srgbClr val="0B1329">
                <a:alpha val="4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34" name="Google Shape;934;p27"/>
            <p:cNvSpPr txBox="1"/>
            <p:nvPr/>
          </p:nvSpPr>
          <p:spPr>
            <a:xfrm>
              <a:off x="7800975" y="990600"/>
              <a:ext cx="781200" cy="685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50" b="0">
                  <a:solidFill>
                    <a:srgbClr val="FFFFFF"/>
                  </a:solidFill>
                  <a:latin typeface="Poppins ExtraBold"/>
                  <a:ea typeface="Poppins ExtraBold"/>
                  <a:cs typeface="Poppins ExtraBold"/>
                  <a:sym typeface="Poppins ExtraBold"/>
                </a:rPr>
                <a:t>STEP 08</a:t>
              </a:r>
              <a:endParaRPr sz="450" b="0">
                <a:solidFill>
                  <a:srgbClr val="FFFFFF"/>
                </a:solidFill>
                <a:latin typeface="Poppins ExtraBold"/>
                <a:ea typeface="Poppins ExtraBold"/>
                <a:cs typeface="Poppins ExtraBold"/>
                <a:sym typeface="Poppins ExtraBold"/>
              </a:endParaRPr>
            </a:p>
            <a:p>
              <a:pPr marL="0" lvl="0" indent="0" algn="l" rtl="0">
                <a:spcBef>
                  <a:spcPts val="0"/>
                </a:spcBef>
                <a:spcAft>
                  <a:spcPts val="0"/>
                </a:spcAft>
                <a:buNone/>
              </a:pPr>
              <a:r>
                <a:rPr lang="en-GB" sz="650" b="1">
                  <a:solidFill>
                    <a:srgbClr val="00F2FE"/>
                  </a:solidFill>
                  <a:latin typeface="Poppins"/>
                  <a:ea typeface="Poppins"/>
                  <a:cs typeface="Poppins"/>
                  <a:sym typeface="Poppins"/>
                </a:rPr>
                <a:t>🏥 Impact</a:t>
              </a:r>
              <a:endParaRPr sz="650" b="1">
                <a:solidFill>
                  <a:srgbClr val="00F2FE"/>
                </a:solidFill>
                <a:latin typeface="Poppins"/>
                <a:ea typeface="Poppins"/>
                <a:cs typeface="Poppins"/>
                <a:sym typeface="Poppins"/>
              </a:endParaRPr>
            </a:p>
            <a:p>
              <a:pPr marL="0" lvl="0" indent="0" algn="l" rtl="0">
                <a:spcBef>
                  <a:spcPts val="150"/>
                </a:spcBef>
                <a:spcAft>
                  <a:spcPts val="0"/>
                </a:spcAft>
                <a:buNone/>
              </a:pPr>
              <a:r>
                <a:rPr lang="en-GB" sz="500" b="0">
                  <a:solidFill>
                    <a:srgbClr val="94A3B8"/>
                  </a:solidFill>
                  <a:latin typeface="Poppins"/>
                  <a:ea typeface="Poppins"/>
                  <a:cs typeface="Poppins"/>
                  <a:sym typeface="Poppins"/>
                </a:rPr>
                <a:t>AI-assisted diagnosis, clinical decision support, future clinical deployment.</a:t>
              </a:r>
              <a:endParaRPr sz="500" b="0">
                <a:solidFill>
                  <a:srgbClr val="94A3B8"/>
                </a:solidFill>
                <a:latin typeface="Poppins"/>
                <a:ea typeface="Poppins"/>
                <a:cs typeface="Poppins"/>
                <a:sym typeface="Poppins"/>
              </a:endParaRPr>
            </a:p>
          </p:txBody>
        </p:sp>
      </p:grpSp>
      <p:grpSp>
        <p:nvGrpSpPr>
          <p:cNvPr id="935" name="Google Shape;935;p27"/>
          <p:cNvGrpSpPr/>
          <p:nvPr/>
        </p:nvGrpSpPr>
        <p:grpSpPr>
          <a:xfrm>
            <a:off x="428625" y="4000500"/>
            <a:ext cx="8286900" cy="609600"/>
            <a:chOff x="428625" y="4000500"/>
            <a:chExt cx="8286900" cy="609600"/>
          </a:xfrm>
        </p:grpSpPr>
        <p:sp>
          <p:nvSpPr>
            <p:cNvPr id="936" name="Google Shape;936;p27"/>
            <p:cNvSpPr/>
            <p:nvPr/>
          </p:nvSpPr>
          <p:spPr>
            <a:xfrm>
              <a:off x="428625" y="4000500"/>
              <a:ext cx="8286900" cy="609600"/>
            </a:xfrm>
            <a:prstGeom prst="roundRect">
              <a:avLst>
                <a:gd name="adj" fmla="val 12500"/>
              </a:avLst>
            </a:prstGeom>
            <a:solidFill>
              <a:srgbClr val="091325">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37" name="Google Shape;937;p27"/>
            <p:cNvSpPr/>
            <p:nvPr/>
          </p:nvSpPr>
          <p:spPr>
            <a:xfrm>
              <a:off x="428625" y="4000500"/>
              <a:ext cx="38100" cy="6096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38" name="Google Shape;938;p27"/>
            <p:cNvSpPr txBox="1"/>
            <p:nvPr/>
          </p:nvSpPr>
          <p:spPr>
            <a:xfrm>
              <a:off x="619125" y="4076700"/>
              <a:ext cx="7905900" cy="4572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Project Outcome Summary</a:t>
              </a:r>
              <a:endParaRPr sz="750" b="1">
                <a:solidFill>
                  <a:srgbClr val="00F2FE"/>
                </a:solidFill>
                <a:latin typeface="Poppins"/>
                <a:ea typeface="Poppins"/>
                <a:cs typeface="Poppins"/>
                <a:sym typeface="Poppins"/>
              </a:endParaRPr>
            </a:p>
            <a:p>
              <a:pPr marL="0" lvl="0" indent="0" algn="l" rtl="0">
                <a:spcBef>
                  <a:spcPts val="150"/>
                </a:spcBef>
                <a:spcAft>
                  <a:spcPts val="0"/>
                </a:spcAft>
                <a:buNone/>
              </a:pPr>
              <a:r>
                <a:rPr lang="en-GB" sz="600" b="0">
                  <a:solidFill>
                    <a:srgbClr val="E2E8F0"/>
                  </a:solidFill>
                  <a:latin typeface="Poppins"/>
                  <a:ea typeface="Poppins"/>
                  <a:cs typeface="Poppins"/>
                  <a:sym typeface="Poppins"/>
                </a:rPr>
                <a:t>Successfully developed an end-to-end Deep Learning system capable of classifying Brain MRI images into four categories using a Convolutional Neural Network. The project covers the complete AI lifecycle from data preparation and model development to evaluation and prediction.</a:t>
              </a:r>
              <a:endParaRPr sz="600" b="0">
                <a:solidFill>
                  <a:srgbClr val="E2E8F0"/>
                </a:solidFill>
                <a:latin typeface="Poppins"/>
                <a:ea typeface="Poppins"/>
                <a:cs typeface="Poppins"/>
                <a:sym typeface="Poppins"/>
              </a:endParaRPr>
            </a:p>
          </p:txBody>
        </p:sp>
      </p:grpSp>
      <p:grpSp>
        <p:nvGrpSpPr>
          <p:cNvPr id="939" name="Google Shape;939;p27"/>
          <p:cNvGrpSpPr/>
          <p:nvPr/>
        </p:nvGrpSpPr>
        <p:grpSpPr>
          <a:xfrm>
            <a:off x="428625" y="4800600"/>
            <a:ext cx="8286900" cy="219000"/>
            <a:chOff x="428625" y="4800600"/>
            <a:chExt cx="8286900" cy="219000"/>
          </a:xfrm>
        </p:grpSpPr>
        <p:cxnSp>
          <p:nvCxnSpPr>
            <p:cNvPr id="940" name="Google Shape;940;p27"/>
            <p:cNvCxnSpPr/>
            <p:nvPr/>
          </p:nvCxnSpPr>
          <p:spPr>
            <a:xfrm>
              <a:off x="428625" y="480060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941" name="Google Shape;941;p27"/>
            <p:cNvSpPr txBox="1"/>
            <p:nvPr/>
          </p:nvSpPr>
          <p:spPr>
            <a:xfrm>
              <a:off x="428625" y="4876800"/>
              <a:ext cx="3810000" cy="142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465" b="0">
                  <a:solidFill>
                    <a:srgbClr val="475569"/>
                  </a:solidFill>
                  <a:latin typeface="Poppins"/>
                  <a:ea typeface="Poppins"/>
                  <a:cs typeface="Poppins"/>
                  <a:sym typeface="Poppins"/>
                </a:rPr>
                <a:t>Department of Data Science &amp; Artificial Intelligence | End-to-End AI Workflow</a:t>
              </a:r>
              <a:endParaRPr sz="465" b="0">
                <a:solidFill>
                  <a:srgbClr val="475569"/>
                </a:solidFill>
                <a:latin typeface="Poppins"/>
                <a:ea typeface="Poppins"/>
                <a:cs typeface="Poppins"/>
                <a:sym typeface="Poppins"/>
              </a:endParaRPr>
            </a:p>
          </p:txBody>
        </p:sp>
        <p:sp>
          <p:nvSpPr>
            <p:cNvPr id="942" name="Google Shape;942;p27"/>
            <p:cNvSpPr txBox="1"/>
            <p:nvPr/>
          </p:nvSpPr>
          <p:spPr>
            <a:xfrm>
              <a:off x="6810375" y="4876800"/>
              <a:ext cx="1905000" cy="142800"/>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r>
                <a:rPr lang="en-GB" sz="465" b="0">
                  <a:solidFill>
                    <a:srgbClr val="00F2FE"/>
                  </a:solidFill>
                  <a:latin typeface="Poppins"/>
                  <a:ea typeface="Poppins"/>
                  <a:cs typeface="Poppins"/>
                  <a:sym typeface="Poppins"/>
                </a:rPr>
                <a:t>Presenter: Steve Emmanuel</a:t>
              </a:r>
              <a:endParaRPr sz="465" b="0">
                <a:solidFill>
                  <a:srgbClr val="00F2FE"/>
                </a:solidFill>
                <a:latin typeface="Poppins"/>
                <a:ea typeface="Poppins"/>
                <a:cs typeface="Poppins"/>
                <a:sym typeface="Poppi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46"/>
        <p:cNvGrpSpPr/>
        <p:nvPr/>
      </p:nvGrpSpPr>
      <p:grpSpPr>
        <a:xfrm>
          <a:off x="0" y="0"/>
          <a:ext cx="0" cy="0"/>
          <a:chOff x="0" y="0"/>
          <a:chExt cx="0" cy="0"/>
        </a:xfrm>
      </p:grpSpPr>
      <p:grpSp>
        <p:nvGrpSpPr>
          <p:cNvPr id="947" name="Google Shape;947;p28"/>
          <p:cNvGrpSpPr/>
          <p:nvPr/>
        </p:nvGrpSpPr>
        <p:grpSpPr>
          <a:xfrm>
            <a:off x="1900238" y="-100012"/>
            <a:ext cx="5343600" cy="5243400"/>
            <a:chOff x="1900238" y="-100012"/>
            <a:chExt cx="5343600" cy="5243400"/>
          </a:xfrm>
        </p:grpSpPr>
        <p:pic>
          <p:nvPicPr>
            <p:cNvPr id="948" name="Google Shape;948;p28"/>
            <p:cNvPicPr preferRelativeResize="0"/>
            <p:nvPr/>
          </p:nvPicPr>
          <p:blipFill rotWithShape="1">
            <a:blip r:embed="rId4">
              <a:alphaModFix/>
            </a:blip>
            <a:srcRect/>
            <a:stretch/>
          </p:blipFill>
          <p:spPr>
            <a:xfrm>
              <a:off x="2852738" y="852488"/>
              <a:ext cx="3438600" cy="3438600"/>
            </a:xfrm>
            <a:prstGeom prst="rect">
              <a:avLst/>
            </a:prstGeom>
            <a:noFill/>
            <a:ln>
              <a:noFill/>
            </a:ln>
          </p:spPr>
        </p:pic>
        <p:pic>
          <p:nvPicPr>
            <p:cNvPr id="949" name="Google Shape;949;p28"/>
            <p:cNvPicPr preferRelativeResize="0"/>
            <p:nvPr/>
          </p:nvPicPr>
          <p:blipFill rotWithShape="1">
            <a:blip r:embed="rId5">
              <a:alphaModFix/>
            </a:blip>
            <a:srcRect/>
            <a:stretch/>
          </p:blipFill>
          <p:spPr>
            <a:xfrm>
              <a:off x="1900238" y="-100012"/>
              <a:ext cx="5343600" cy="5243400"/>
            </a:xfrm>
            <a:prstGeom prst="rect">
              <a:avLst/>
            </a:prstGeom>
            <a:noFill/>
            <a:ln>
              <a:noFill/>
            </a:ln>
          </p:spPr>
        </p:pic>
        <p:pic>
          <p:nvPicPr>
            <p:cNvPr id="950" name="Google Shape;950;p28"/>
            <p:cNvPicPr preferRelativeResize="0"/>
            <p:nvPr/>
          </p:nvPicPr>
          <p:blipFill rotWithShape="1">
            <a:blip r:embed="rId6">
              <a:alphaModFix/>
            </a:blip>
            <a:srcRect/>
            <a:stretch/>
          </p:blipFill>
          <p:spPr>
            <a:xfrm>
              <a:off x="1905000" y="2566988"/>
              <a:ext cx="5248200" cy="9600"/>
            </a:xfrm>
            <a:prstGeom prst="rect">
              <a:avLst/>
            </a:prstGeom>
            <a:noFill/>
            <a:ln>
              <a:noFill/>
            </a:ln>
          </p:spPr>
        </p:pic>
        <p:pic>
          <p:nvPicPr>
            <p:cNvPr id="951" name="Google Shape;951;p28"/>
            <p:cNvPicPr preferRelativeResize="0"/>
            <p:nvPr/>
          </p:nvPicPr>
          <p:blipFill rotWithShape="1">
            <a:blip r:embed="rId7">
              <a:alphaModFix/>
            </a:blip>
            <a:srcRect/>
            <a:stretch/>
          </p:blipFill>
          <p:spPr>
            <a:xfrm>
              <a:off x="4567238" y="857250"/>
              <a:ext cx="9600" cy="3343200"/>
            </a:xfrm>
            <a:prstGeom prst="rect">
              <a:avLst/>
            </a:prstGeom>
            <a:noFill/>
            <a:ln>
              <a:noFill/>
            </a:ln>
          </p:spPr>
        </p:pic>
      </p:grpSp>
      <p:sp>
        <p:nvSpPr>
          <p:cNvPr id="952" name="Google Shape;952;p28"/>
          <p:cNvSpPr txBox="1"/>
          <p:nvPr/>
        </p:nvSpPr>
        <p:spPr>
          <a:xfrm>
            <a:off x="428625" y="228600"/>
            <a:ext cx="8286900" cy="495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2035" b="1">
                <a:solidFill>
                  <a:srgbClr val="FFFFFF"/>
                </a:solidFill>
                <a:latin typeface="Poppins"/>
                <a:ea typeface="Poppins"/>
                <a:cs typeface="Poppins"/>
                <a:sym typeface="Poppins"/>
              </a:rPr>
              <a:t>Project Achievements &amp; Conclusion</a:t>
            </a:r>
            <a:endParaRPr sz="2035" b="1">
              <a:solidFill>
                <a:srgbClr val="FFFFFF"/>
              </a:solidFill>
              <a:latin typeface="Poppins"/>
              <a:ea typeface="Poppins"/>
              <a:cs typeface="Poppins"/>
              <a:sym typeface="Poppins"/>
            </a:endParaRPr>
          </a:p>
          <a:p>
            <a:pPr marL="0" lvl="0" indent="0" algn="l" rtl="0">
              <a:spcBef>
                <a:spcPts val="225"/>
              </a:spcBef>
              <a:spcAft>
                <a:spcPts val="0"/>
              </a:spcAft>
              <a:buNone/>
            </a:pPr>
            <a:r>
              <a:rPr lang="en-GB" sz="879" b="0">
                <a:solidFill>
                  <a:srgbClr val="A5F3FC"/>
                </a:solidFill>
                <a:latin typeface="Poppins"/>
                <a:ea typeface="Poppins"/>
                <a:cs typeface="Poppins"/>
                <a:sym typeface="Poppins"/>
              </a:rPr>
              <a:t>A successful end-to-end Deep Learning solution for Brain MRI Classification.</a:t>
            </a:r>
            <a:endParaRPr sz="879" b="0">
              <a:solidFill>
                <a:srgbClr val="A5F3FC"/>
              </a:solidFill>
              <a:latin typeface="Poppins"/>
              <a:ea typeface="Poppins"/>
              <a:cs typeface="Poppins"/>
              <a:sym typeface="Poppins"/>
            </a:endParaRPr>
          </a:p>
        </p:txBody>
      </p:sp>
      <p:grpSp>
        <p:nvGrpSpPr>
          <p:cNvPr id="953" name="Google Shape;953;p28"/>
          <p:cNvGrpSpPr/>
          <p:nvPr/>
        </p:nvGrpSpPr>
        <p:grpSpPr>
          <a:xfrm>
            <a:off x="428625" y="904875"/>
            <a:ext cx="2238300" cy="1762200"/>
            <a:chOff x="428625" y="904875"/>
            <a:chExt cx="2238300" cy="1762200"/>
          </a:xfrm>
        </p:grpSpPr>
        <p:sp>
          <p:nvSpPr>
            <p:cNvPr id="954" name="Google Shape;954;p28"/>
            <p:cNvSpPr/>
            <p:nvPr/>
          </p:nvSpPr>
          <p:spPr>
            <a:xfrm>
              <a:off x="428625" y="904875"/>
              <a:ext cx="2238300" cy="1762200"/>
            </a:xfrm>
            <a:prstGeom prst="roundRect">
              <a:avLst>
                <a:gd name="adj" fmla="val 4324"/>
              </a:avLst>
            </a:prstGeom>
            <a:solidFill>
              <a:srgbClr val="0B1329">
                <a:alpha val="5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55" name="Google Shape;955;p28"/>
            <p:cNvSpPr/>
            <p:nvPr/>
          </p:nvSpPr>
          <p:spPr>
            <a:xfrm>
              <a:off x="428625" y="904875"/>
              <a:ext cx="22383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56" name="Google Shape;956;p28"/>
            <p:cNvSpPr txBox="1"/>
            <p:nvPr/>
          </p:nvSpPr>
          <p:spPr>
            <a:xfrm>
              <a:off x="571500" y="1019175"/>
              <a:ext cx="19527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00" b="1">
                  <a:solidFill>
                    <a:srgbClr val="00F2FE"/>
                  </a:solidFill>
                  <a:latin typeface="Poppins"/>
                  <a:ea typeface="Poppins"/>
                  <a:cs typeface="Poppins"/>
                  <a:sym typeface="Poppins"/>
                </a:rPr>
                <a:t>🎯 Project Goal</a:t>
              </a:r>
              <a:endParaRPr sz="900" b="1">
                <a:solidFill>
                  <a:srgbClr val="00F2FE"/>
                </a:solidFill>
                <a:latin typeface="Poppins"/>
                <a:ea typeface="Poppins"/>
                <a:cs typeface="Poppins"/>
                <a:sym typeface="Poppins"/>
              </a:endParaRPr>
            </a:p>
            <a:p>
              <a:pPr marL="0" lvl="0" indent="0" algn="l" rtl="0">
                <a:spcBef>
                  <a:spcPts val="600"/>
                </a:spcBef>
                <a:spcAft>
                  <a:spcPts val="0"/>
                </a:spcAft>
                <a:buNone/>
              </a:pPr>
              <a:r>
                <a:rPr lang="en-GB" sz="750" b="0">
                  <a:solidFill>
                    <a:srgbClr val="E2E8F0"/>
                  </a:solidFill>
                  <a:latin typeface="Poppins"/>
                  <a:ea typeface="Poppins"/>
                  <a:cs typeface="Poppins"/>
                  <a:sym typeface="Poppins"/>
                </a:rPr>
                <a:t>Develop an AI-powered Convolutional Neural Network capable of automatically classifying Brain MRI images into four categories.</a:t>
              </a:r>
              <a:endParaRPr sz="750" b="0">
                <a:solidFill>
                  <a:srgbClr val="E2E8F0"/>
                </a:solidFill>
                <a:latin typeface="Poppins"/>
                <a:ea typeface="Poppins"/>
                <a:cs typeface="Poppins"/>
                <a:sym typeface="Poppins"/>
              </a:endParaRPr>
            </a:p>
            <a:p>
              <a:pPr marL="0" lvl="0" indent="0" algn="l" rtl="0">
                <a:spcBef>
                  <a:spcPts val="900"/>
                </a:spcBef>
                <a:spcAft>
                  <a:spcPts val="0"/>
                </a:spcAft>
                <a:buNone/>
              </a:pPr>
              <a:r>
                <a:rPr lang="en-GB" sz="750" b="1">
                  <a:solidFill>
                    <a:srgbClr val="00F2FE"/>
                  </a:solidFill>
                  <a:latin typeface="Poppins"/>
                  <a:ea typeface="Poppins"/>
                  <a:cs typeface="Poppins"/>
                  <a:sym typeface="Poppins"/>
                </a:rPr>
                <a:t>Target Classes:</a:t>
              </a:r>
              <a:endParaRPr sz="750" b="1">
                <a:solidFill>
                  <a:srgbClr val="00F2FE"/>
                </a:solidFill>
                <a:latin typeface="Poppins"/>
                <a:ea typeface="Poppins"/>
                <a:cs typeface="Poppins"/>
                <a:sym typeface="Poppins"/>
              </a:endParaRPr>
            </a:p>
            <a:p>
              <a:pPr marL="0" lvl="0" indent="0" algn="l" rtl="0">
                <a:spcBef>
                  <a:spcPts val="450"/>
                </a:spcBef>
                <a:spcAft>
                  <a:spcPts val="0"/>
                </a:spcAft>
                <a:buNone/>
              </a:pPr>
              <a:r>
                <a:rPr lang="en-GB" sz="750" b="1">
                  <a:solidFill>
                    <a:srgbClr val="10B981"/>
                  </a:solidFill>
                  <a:latin typeface="Poppins"/>
                  <a:ea typeface="Poppins"/>
                  <a:cs typeface="Poppins"/>
                  <a:sym typeface="Poppins"/>
                </a:rPr>
                <a:t>✓</a:t>
              </a:r>
              <a:r>
                <a:rPr lang="en-GB" sz="750" b="0">
                  <a:solidFill>
                    <a:srgbClr val="E2E8F0"/>
                  </a:solidFill>
                  <a:latin typeface="Poppins"/>
                  <a:ea typeface="Poppins"/>
                  <a:cs typeface="Poppins"/>
                  <a:sym typeface="Poppins"/>
                </a:rPr>
                <a:t> Glioma Tumor</a:t>
              </a:r>
              <a:endParaRPr sz="750" b="0">
                <a:solidFill>
                  <a:srgbClr val="E2E8F0"/>
                </a:solidFill>
                <a:latin typeface="Poppins"/>
                <a:ea typeface="Poppins"/>
                <a:cs typeface="Poppins"/>
                <a:sym typeface="Poppins"/>
              </a:endParaRPr>
            </a:p>
            <a:p>
              <a:pPr marL="0" lvl="0" indent="0" algn="l" rtl="0">
                <a:spcBef>
                  <a:spcPts val="0"/>
                </a:spcBef>
                <a:spcAft>
                  <a:spcPts val="0"/>
                </a:spcAft>
                <a:buNone/>
              </a:pPr>
              <a:r>
                <a:rPr lang="en-GB" sz="750" b="1">
                  <a:solidFill>
                    <a:srgbClr val="10B981"/>
                  </a:solidFill>
                  <a:latin typeface="Poppins"/>
                  <a:ea typeface="Poppins"/>
                  <a:cs typeface="Poppins"/>
                  <a:sym typeface="Poppins"/>
                </a:rPr>
                <a:t>✓</a:t>
              </a:r>
              <a:r>
                <a:rPr lang="en-GB" sz="750" b="0">
                  <a:solidFill>
                    <a:srgbClr val="E2E8F0"/>
                  </a:solidFill>
                  <a:latin typeface="Poppins"/>
                  <a:ea typeface="Poppins"/>
                  <a:cs typeface="Poppins"/>
                  <a:sym typeface="Poppins"/>
                </a:rPr>
                <a:t> Meningioma Tumor</a:t>
              </a:r>
              <a:endParaRPr sz="750" b="0">
                <a:solidFill>
                  <a:srgbClr val="E2E8F0"/>
                </a:solidFill>
                <a:latin typeface="Poppins"/>
                <a:ea typeface="Poppins"/>
                <a:cs typeface="Poppins"/>
                <a:sym typeface="Poppins"/>
              </a:endParaRPr>
            </a:p>
            <a:p>
              <a:pPr marL="0" lvl="0" indent="0" algn="l" rtl="0">
                <a:spcBef>
                  <a:spcPts val="0"/>
                </a:spcBef>
                <a:spcAft>
                  <a:spcPts val="0"/>
                </a:spcAft>
                <a:buNone/>
              </a:pPr>
              <a:r>
                <a:rPr lang="en-GB" sz="750" b="1">
                  <a:solidFill>
                    <a:srgbClr val="10B981"/>
                  </a:solidFill>
                  <a:latin typeface="Poppins"/>
                  <a:ea typeface="Poppins"/>
                  <a:cs typeface="Poppins"/>
                  <a:sym typeface="Poppins"/>
                </a:rPr>
                <a:t>✓</a:t>
              </a:r>
              <a:r>
                <a:rPr lang="en-GB" sz="750" b="0">
                  <a:solidFill>
                    <a:srgbClr val="E2E8F0"/>
                  </a:solidFill>
                  <a:latin typeface="Poppins"/>
                  <a:ea typeface="Poppins"/>
                  <a:cs typeface="Poppins"/>
                  <a:sym typeface="Poppins"/>
                </a:rPr>
                <a:t> Pituitary Tumor</a:t>
              </a:r>
              <a:endParaRPr sz="750" b="0">
                <a:solidFill>
                  <a:srgbClr val="E2E8F0"/>
                </a:solidFill>
                <a:latin typeface="Poppins"/>
                <a:ea typeface="Poppins"/>
                <a:cs typeface="Poppins"/>
                <a:sym typeface="Poppins"/>
              </a:endParaRPr>
            </a:p>
            <a:p>
              <a:pPr marL="0" lvl="0" indent="0" algn="l" rtl="0">
                <a:spcBef>
                  <a:spcPts val="0"/>
                </a:spcBef>
                <a:spcAft>
                  <a:spcPts val="0"/>
                </a:spcAft>
                <a:buNone/>
              </a:pPr>
              <a:r>
                <a:rPr lang="en-GB" sz="750" b="1">
                  <a:solidFill>
                    <a:srgbClr val="10B981"/>
                  </a:solidFill>
                  <a:latin typeface="Poppins"/>
                  <a:ea typeface="Poppins"/>
                  <a:cs typeface="Poppins"/>
                  <a:sym typeface="Poppins"/>
                </a:rPr>
                <a:t>✓</a:t>
              </a:r>
              <a:r>
                <a:rPr lang="en-GB" sz="750" b="0">
                  <a:solidFill>
                    <a:srgbClr val="E2E8F0"/>
                  </a:solidFill>
                  <a:latin typeface="Poppins"/>
                  <a:ea typeface="Poppins"/>
                  <a:cs typeface="Poppins"/>
                  <a:sym typeface="Poppins"/>
                </a:rPr>
                <a:t> No Tumor (Healthy)</a:t>
              </a:r>
              <a:endParaRPr sz="750" b="0">
                <a:solidFill>
                  <a:srgbClr val="E2E8F0"/>
                </a:solidFill>
                <a:latin typeface="Poppins"/>
                <a:ea typeface="Poppins"/>
                <a:cs typeface="Poppins"/>
                <a:sym typeface="Poppins"/>
              </a:endParaRPr>
            </a:p>
          </p:txBody>
        </p:sp>
      </p:grpSp>
      <p:grpSp>
        <p:nvGrpSpPr>
          <p:cNvPr id="957" name="Google Shape;957;p28"/>
          <p:cNvGrpSpPr/>
          <p:nvPr/>
        </p:nvGrpSpPr>
        <p:grpSpPr>
          <a:xfrm>
            <a:off x="2809875" y="904875"/>
            <a:ext cx="3476550" cy="1762200"/>
            <a:chOff x="2809875" y="904875"/>
            <a:chExt cx="3476550" cy="1762200"/>
          </a:xfrm>
        </p:grpSpPr>
        <p:grpSp>
          <p:nvGrpSpPr>
            <p:cNvPr id="958" name="Google Shape;958;p28"/>
            <p:cNvGrpSpPr/>
            <p:nvPr/>
          </p:nvGrpSpPr>
          <p:grpSpPr>
            <a:xfrm>
              <a:off x="2809875" y="904875"/>
              <a:ext cx="1666800" cy="809700"/>
              <a:chOff x="2809875" y="904875"/>
              <a:chExt cx="1666800" cy="809700"/>
            </a:xfrm>
          </p:grpSpPr>
          <p:sp>
            <p:nvSpPr>
              <p:cNvPr id="959" name="Google Shape;959;p28"/>
              <p:cNvSpPr/>
              <p:nvPr/>
            </p:nvSpPr>
            <p:spPr>
              <a:xfrm>
                <a:off x="2809875" y="904875"/>
                <a:ext cx="1666800" cy="809700"/>
              </a:xfrm>
              <a:prstGeom prst="roundRect">
                <a:avLst>
                  <a:gd name="adj" fmla="val 9411"/>
                </a:avLst>
              </a:prstGeom>
              <a:solidFill>
                <a:srgbClr val="0B1329">
                  <a:alpha val="5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60" name="Google Shape;960;p28"/>
              <p:cNvSpPr/>
              <p:nvPr/>
            </p:nvSpPr>
            <p:spPr>
              <a:xfrm>
                <a:off x="2809875" y="904875"/>
                <a:ext cx="28500" cy="8097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61" name="Google Shape;961;p28"/>
              <p:cNvSpPr txBox="1"/>
              <p:nvPr/>
            </p:nvSpPr>
            <p:spPr>
              <a:xfrm>
                <a:off x="2952750" y="1000125"/>
                <a:ext cx="14289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 Training Accuracy</a:t>
                </a:r>
                <a:endParaRPr sz="750" b="0">
                  <a:solidFill>
                    <a:srgbClr val="94A3B8"/>
                  </a:solidFill>
                  <a:latin typeface="Poppins Medium"/>
                  <a:ea typeface="Poppins Medium"/>
                  <a:cs typeface="Poppins Medium"/>
                  <a:sym typeface="Poppins Medium"/>
                </a:endParaRPr>
              </a:p>
              <a:p>
                <a:pPr marL="0" lvl="0" indent="0" algn="l" rtl="0">
                  <a:spcBef>
                    <a:spcPts val="0"/>
                  </a:spcBef>
                  <a:spcAft>
                    <a:spcPts val="0"/>
                  </a:spcAft>
                  <a:buNone/>
                </a:pPr>
                <a:r>
                  <a:rPr lang="en-GB" sz="1800" b="1">
                    <a:solidFill>
                      <a:srgbClr val="3B82F6"/>
                    </a:solidFill>
                    <a:latin typeface="Poppins"/>
                    <a:ea typeface="Poppins"/>
                    <a:cs typeface="Poppins"/>
                    <a:sym typeface="Poppins"/>
                  </a:rPr>
                  <a:t>100%</a:t>
                </a:r>
                <a:endParaRPr sz="1800" b="1">
                  <a:solidFill>
                    <a:srgbClr val="3B82F6"/>
                  </a:solidFill>
                  <a:latin typeface="Poppins"/>
                  <a:ea typeface="Poppins"/>
                  <a:cs typeface="Poppins"/>
                  <a:sym typeface="Poppins"/>
                </a:endParaRPr>
              </a:p>
            </p:txBody>
          </p:sp>
        </p:grpSp>
        <p:grpSp>
          <p:nvGrpSpPr>
            <p:cNvPr id="962" name="Google Shape;962;p28"/>
            <p:cNvGrpSpPr/>
            <p:nvPr/>
          </p:nvGrpSpPr>
          <p:grpSpPr>
            <a:xfrm>
              <a:off x="4619625" y="904875"/>
              <a:ext cx="1666800" cy="809700"/>
              <a:chOff x="4619625" y="904875"/>
              <a:chExt cx="1666800" cy="809700"/>
            </a:xfrm>
          </p:grpSpPr>
          <p:sp>
            <p:nvSpPr>
              <p:cNvPr id="963" name="Google Shape;963;p28"/>
              <p:cNvSpPr/>
              <p:nvPr/>
            </p:nvSpPr>
            <p:spPr>
              <a:xfrm>
                <a:off x="4619625" y="904875"/>
                <a:ext cx="1666800" cy="809700"/>
              </a:xfrm>
              <a:prstGeom prst="roundRect">
                <a:avLst>
                  <a:gd name="adj" fmla="val 9411"/>
                </a:avLst>
              </a:prstGeom>
              <a:solidFill>
                <a:srgbClr val="0B1329">
                  <a:alpha val="5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64" name="Google Shape;964;p28"/>
              <p:cNvSpPr/>
              <p:nvPr/>
            </p:nvSpPr>
            <p:spPr>
              <a:xfrm>
                <a:off x="4619625" y="904875"/>
                <a:ext cx="28500" cy="809700"/>
              </a:xfrm>
              <a:prstGeom prst="rect">
                <a:avLst/>
              </a:prstGeom>
              <a:solidFill>
                <a:srgbClr val="10B981"/>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65" name="Google Shape;965;p28"/>
              <p:cNvSpPr txBox="1"/>
              <p:nvPr/>
            </p:nvSpPr>
            <p:spPr>
              <a:xfrm>
                <a:off x="4762500" y="1000125"/>
                <a:ext cx="14289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 Validation Accuracy</a:t>
                </a:r>
                <a:endParaRPr sz="750" b="0">
                  <a:solidFill>
                    <a:srgbClr val="94A3B8"/>
                  </a:solidFill>
                  <a:latin typeface="Poppins Medium"/>
                  <a:ea typeface="Poppins Medium"/>
                  <a:cs typeface="Poppins Medium"/>
                  <a:sym typeface="Poppins Medium"/>
                </a:endParaRPr>
              </a:p>
              <a:p>
                <a:pPr marL="0" lvl="0" indent="0" algn="l" rtl="0">
                  <a:spcBef>
                    <a:spcPts val="0"/>
                  </a:spcBef>
                  <a:spcAft>
                    <a:spcPts val="0"/>
                  </a:spcAft>
                  <a:buNone/>
                </a:pPr>
                <a:r>
                  <a:rPr lang="en-GB" sz="1800" b="1">
                    <a:solidFill>
                      <a:srgbClr val="10B981"/>
                    </a:solidFill>
                    <a:latin typeface="Poppins"/>
                    <a:ea typeface="Poppins"/>
                    <a:cs typeface="Poppins"/>
                    <a:sym typeface="Poppins"/>
                  </a:rPr>
                  <a:t>93.84%</a:t>
                </a:r>
                <a:endParaRPr sz="1800" b="1">
                  <a:solidFill>
                    <a:srgbClr val="10B981"/>
                  </a:solidFill>
                  <a:latin typeface="Poppins"/>
                  <a:ea typeface="Poppins"/>
                  <a:cs typeface="Poppins"/>
                  <a:sym typeface="Poppins"/>
                </a:endParaRPr>
              </a:p>
            </p:txBody>
          </p:sp>
        </p:grpSp>
        <p:grpSp>
          <p:nvGrpSpPr>
            <p:cNvPr id="966" name="Google Shape;966;p28"/>
            <p:cNvGrpSpPr/>
            <p:nvPr/>
          </p:nvGrpSpPr>
          <p:grpSpPr>
            <a:xfrm>
              <a:off x="2809875" y="1857375"/>
              <a:ext cx="1666800" cy="809700"/>
              <a:chOff x="2809875" y="1857375"/>
              <a:chExt cx="1666800" cy="809700"/>
            </a:xfrm>
          </p:grpSpPr>
          <p:sp>
            <p:nvSpPr>
              <p:cNvPr id="967" name="Google Shape;967;p28"/>
              <p:cNvSpPr/>
              <p:nvPr/>
            </p:nvSpPr>
            <p:spPr>
              <a:xfrm>
                <a:off x="2809875" y="1857375"/>
                <a:ext cx="1666800" cy="809700"/>
              </a:xfrm>
              <a:prstGeom prst="roundRect">
                <a:avLst>
                  <a:gd name="adj" fmla="val 9411"/>
                </a:avLst>
              </a:prstGeom>
              <a:solidFill>
                <a:srgbClr val="0B1329">
                  <a:alpha val="5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68" name="Google Shape;968;p28"/>
              <p:cNvSpPr/>
              <p:nvPr/>
            </p:nvSpPr>
            <p:spPr>
              <a:xfrm>
                <a:off x="2809875" y="1857375"/>
                <a:ext cx="28500" cy="809700"/>
              </a:xfrm>
              <a:prstGeom prst="rect">
                <a:avLst/>
              </a:prstGeom>
              <a:solidFill>
                <a:srgbClr val="F59E0B"/>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69" name="Google Shape;969;p28"/>
              <p:cNvSpPr txBox="1"/>
              <p:nvPr/>
            </p:nvSpPr>
            <p:spPr>
              <a:xfrm>
                <a:off x="2952750" y="1952625"/>
                <a:ext cx="14289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 Test Accuracy</a:t>
                </a:r>
                <a:endParaRPr sz="750" b="0">
                  <a:solidFill>
                    <a:srgbClr val="94A3B8"/>
                  </a:solidFill>
                  <a:latin typeface="Poppins Medium"/>
                  <a:ea typeface="Poppins Medium"/>
                  <a:cs typeface="Poppins Medium"/>
                  <a:sym typeface="Poppins Medium"/>
                </a:endParaRPr>
              </a:p>
              <a:p>
                <a:pPr marL="0" lvl="0" indent="0" algn="l" rtl="0">
                  <a:spcBef>
                    <a:spcPts val="0"/>
                  </a:spcBef>
                  <a:spcAft>
                    <a:spcPts val="0"/>
                  </a:spcAft>
                  <a:buNone/>
                </a:pPr>
                <a:r>
                  <a:rPr lang="en-GB" sz="1800" b="1">
                    <a:solidFill>
                      <a:srgbClr val="F59E0B"/>
                    </a:solidFill>
                    <a:latin typeface="Poppins"/>
                    <a:ea typeface="Poppins"/>
                    <a:cs typeface="Poppins"/>
                    <a:sym typeface="Poppins"/>
                  </a:rPr>
                  <a:t>87.12%</a:t>
                </a:r>
                <a:endParaRPr sz="1800" b="1">
                  <a:solidFill>
                    <a:srgbClr val="F59E0B"/>
                  </a:solidFill>
                  <a:latin typeface="Poppins"/>
                  <a:ea typeface="Poppins"/>
                  <a:cs typeface="Poppins"/>
                  <a:sym typeface="Poppins"/>
                </a:endParaRPr>
              </a:p>
            </p:txBody>
          </p:sp>
        </p:grpSp>
        <p:grpSp>
          <p:nvGrpSpPr>
            <p:cNvPr id="970" name="Google Shape;970;p28"/>
            <p:cNvGrpSpPr/>
            <p:nvPr/>
          </p:nvGrpSpPr>
          <p:grpSpPr>
            <a:xfrm>
              <a:off x="4619625" y="1857375"/>
              <a:ext cx="1666800" cy="809700"/>
              <a:chOff x="4619625" y="1857375"/>
              <a:chExt cx="1666800" cy="809700"/>
            </a:xfrm>
          </p:grpSpPr>
          <p:sp>
            <p:nvSpPr>
              <p:cNvPr id="971" name="Google Shape;971;p28"/>
              <p:cNvSpPr/>
              <p:nvPr/>
            </p:nvSpPr>
            <p:spPr>
              <a:xfrm>
                <a:off x="4619625" y="1857375"/>
                <a:ext cx="1666800" cy="809700"/>
              </a:xfrm>
              <a:prstGeom prst="roundRect">
                <a:avLst>
                  <a:gd name="adj" fmla="val 9411"/>
                </a:avLst>
              </a:prstGeom>
              <a:solidFill>
                <a:srgbClr val="0B1329">
                  <a:alpha val="5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2" name="Google Shape;972;p28"/>
              <p:cNvSpPr/>
              <p:nvPr/>
            </p:nvSpPr>
            <p:spPr>
              <a:xfrm>
                <a:off x="4619625" y="1857375"/>
                <a:ext cx="28500" cy="8097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3" name="Google Shape;973;p28"/>
              <p:cNvSpPr txBox="1"/>
              <p:nvPr/>
            </p:nvSpPr>
            <p:spPr>
              <a:xfrm>
                <a:off x="4762500" y="1952625"/>
                <a:ext cx="1428900" cy="6192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0">
                    <a:solidFill>
                      <a:srgbClr val="94A3B8"/>
                    </a:solidFill>
                    <a:latin typeface="Poppins Medium"/>
                    <a:ea typeface="Poppins Medium"/>
                    <a:cs typeface="Poppins Medium"/>
                    <a:sym typeface="Poppins Medium"/>
                  </a:rPr>
                  <a:t>🧠 AI Data Pipeline</a:t>
                </a:r>
                <a:endParaRPr sz="750" b="0">
                  <a:solidFill>
                    <a:srgbClr val="94A3B8"/>
                  </a:solidFill>
                  <a:latin typeface="Poppins Medium"/>
                  <a:ea typeface="Poppins Medium"/>
                  <a:cs typeface="Poppins Medium"/>
                  <a:sym typeface="Poppins Medium"/>
                </a:endParaRPr>
              </a:p>
              <a:p>
                <a:pPr marL="0" lvl="0" indent="0" algn="l" rtl="0">
                  <a:spcBef>
                    <a:spcPts val="150"/>
                  </a:spcBef>
                  <a:spcAft>
                    <a:spcPts val="0"/>
                  </a:spcAft>
                  <a:buNone/>
                </a:pPr>
                <a:r>
                  <a:rPr lang="en-GB" sz="1100" b="1">
                    <a:solidFill>
                      <a:srgbClr val="00F2FE"/>
                    </a:solidFill>
                    <a:latin typeface="Poppins"/>
                    <a:ea typeface="Poppins"/>
                    <a:cs typeface="Poppins"/>
                    <a:sym typeface="Poppins"/>
                  </a:rPr>
                  <a:t>Successfully Developed</a:t>
                </a:r>
                <a:endParaRPr sz="1100" b="1">
                  <a:solidFill>
                    <a:srgbClr val="00F2FE"/>
                  </a:solidFill>
                  <a:latin typeface="Poppins"/>
                  <a:ea typeface="Poppins"/>
                  <a:cs typeface="Poppins"/>
                  <a:sym typeface="Poppins"/>
                </a:endParaRPr>
              </a:p>
            </p:txBody>
          </p:sp>
        </p:grpSp>
      </p:grpSp>
      <p:grpSp>
        <p:nvGrpSpPr>
          <p:cNvPr id="974" name="Google Shape;974;p28"/>
          <p:cNvGrpSpPr/>
          <p:nvPr/>
        </p:nvGrpSpPr>
        <p:grpSpPr>
          <a:xfrm>
            <a:off x="6429375" y="904875"/>
            <a:ext cx="2286000" cy="1762200"/>
            <a:chOff x="6429375" y="904875"/>
            <a:chExt cx="2286000" cy="1762200"/>
          </a:xfrm>
        </p:grpSpPr>
        <p:sp>
          <p:nvSpPr>
            <p:cNvPr id="975" name="Google Shape;975;p28"/>
            <p:cNvSpPr/>
            <p:nvPr/>
          </p:nvSpPr>
          <p:spPr>
            <a:xfrm>
              <a:off x="6429375" y="904875"/>
              <a:ext cx="2286000" cy="1762200"/>
            </a:xfrm>
            <a:prstGeom prst="roundRect">
              <a:avLst>
                <a:gd name="adj" fmla="val 4324"/>
              </a:avLst>
            </a:prstGeom>
            <a:solidFill>
              <a:srgbClr val="0B1329">
                <a:alpha val="5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6" name="Google Shape;976;p28"/>
            <p:cNvSpPr/>
            <p:nvPr/>
          </p:nvSpPr>
          <p:spPr>
            <a:xfrm>
              <a:off x="6429375" y="904875"/>
              <a:ext cx="22860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77" name="Google Shape;977;p28"/>
            <p:cNvSpPr txBox="1"/>
            <p:nvPr/>
          </p:nvSpPr>
          <p:spPr>
            <a:xfrm>
              <a:off x="6572250" y="1019175"/>
              <a:ext cx="2000100" cy="15240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None/>
              </a:pPr>
              <a:r>
                <a:rPr lang="en-GB" sz="900" b="1">
                  <a:solidFill>
                    <a:srgbClr val="00F2FE"/>
                  </a:solidFill>
                  <a:latin typeface="Poppins"/>
                  <a:ea typeface="Poppins"/>
                  <a:cs typeface="Poppins"/>
                  <a:sym typeface="Poppins"/>
                </a:rPr>
                <a:t>🏆 Major Achievements</a:t>
              </a:r>
              <a:endParaRPr sz="900" b="1">
                <a:solidFill>
                  <a:srgbClr val="00F2FE"/>
                </a:solidFill>
                <a:latin typeface="Poppins"/>
                <a:ea typeface="Poppins"/>
                <a:cs typeface="Poppins"/>
                <a:sym typeface="Poppins"/>
              </a:endParaRPr>
            </a:p>
            <a:p>
              <a:pPr marL="0" lvl="0" indent="0" algn="l" rtl="0">
                <a:spcBef>
                  <a:spcPts val="600"/>
                </a:spcBef>
                <a:spcAft>
                  <a:spcPts val="0"/>
                </a:spcAft>
                <a:buNone/>
              </a:pPr>
              <a:r>
                <a:rPr lang="en-GB" sz="720" b="1">
                  <a:solidFill>
                    <a:srgbClr val="00F2FE"/>
                  </a:solidFill>
                  <a:latin typeface="Poppins"/>
                  <a:ea typeface="Poppins"/>
                  <a:cs typeface="Poppins"/>
                  <a:sym typeface="Poppins"/>
                </a:rPr>
                <a:t>✓</a:t>
              </a:r>
              <a:r>
                <a:rPr lang="en-GB" sz="720" b="0">
                  <a:solidFill>
                    <a:srgbClr val="E2E8F0"/>
                  </a:solidFill>
                  <a:latin typeface="Poppins Medium"/>
                  <a:ea typeface="Poppins Medium"/>
                  <a:cs typeface="Poppins Medium"/>
                  <a:sym typeface="Poppins Medium"/>
                </a:rPr>
                <a:t>End-to-End DL Pipeline</a:t>
              </a:r>
              <a:endParaRPr sz="72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720" b="1">
                  <a:solidFill>
                    <a:srgbClr val="00F2FE"/>
                  </a:solidFill>
                  <a:latin typeface="Poppins"/>
                  <a:ea typeface="Poppins"/>
                  <a:cs typeface="Poppins"/>
                  <a:sym typeface="Poppins"/>
                </a:rPr>
                <a:t>✓</a:t>
              </a:r>
              <a:r>
                <a:rPr lang="en-GB" sz="720" b="0">
                  <a:solidFill>
                    <a:srgbClr val="E2E8F0"/>
                  </a:solidFill>
                  <a:latin typeface="Poppins Medium"/>
                  <a:ea typeface="Poppins Medium"/>
                  <a:cs typeface="Poppins Medium"/>
                  <a:sym typeface="Poppins Medium"/>
                </a:rPr>
                <a:t>Medical Image Classification</a:t>
              </a:r>
              <a:endParaRPr sz="72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720" b="1">
                  <a:solidFill>
                    <a:srgbClr val="00F2FE"/>
                  </a:solidFill>
                  <a:latin typeface="Poppins"/>
                  <a:ea typeface="Poppins"/>
                  <a:cs typeface="Poppins"/>
                  <a:sym typeface="Poppins"/>
                </a:rPr>
                <a:t>✓</a:t>
              </a:r>
              <a:r>
                <a:rPr lang="en-GB" sz="720" b="0">
                  <a:solidFill>
                    <a:srgbClr val="E2E8F0"/>
                  </a:solidFill>
                  <a:latin typeface="Poppins Medium"/>
                  <a:ea typeface="Poppins Medium"/>
                  <a:cs typeface="Poppins Medium"/>
                  <a:sym typeface="Poppins Medium"/>
                </a:rPr>
                <a:t>CNN Architecture Development</a:t>
              </a:r>
              <a:endParaRPr sz="72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720" b="1">
                  <a:solidFill>
                    <a:srgbClr val="00F2FE"/>
                  </a:solidFill>
                  <a:latin typeface="Poppins"/>
                  <a:ea typeface="Poppins"/>
                  <a:cs typeface="Poppins"/>
                  <a:sym typeface="Poppins"/>
                </a:rPr>
                <a:t>✓</a:t>
              </a:r>
              <a:r>
                <a:rPr lang="en-GB" sz="720" b="0">
                  <a:solidFill>
                    <a:srgbClr val="E2E8F0"/>
                  </a:solidFill>
                  <a:latin typeface="Poppins Medium"/>
                  <a:ea typeface="Poppins Medium"/>
                  <a:cs typeface="Poppins Medium"/>
                  <a:sym typeface="Poppins Medium"/>
                </a:rPr>
                <a:t>TensorFlow &amp; Keras Engine</a:t>
              </a:r>
              <a:endParaRPr sz="72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720" b="1">
                  <a:solidFill>
                    <a:srgbClr val="00F2FE"/>
                  </a:solidFill>
                  <a:latin typeface="Poppins"/>
                  <a:ea typeface="Poppins"/>
                  <a:cs typeface="Poppins"/>
                  <a:sym typeface="Poppins"/>
                </a:rPr>
                <a:t>✓</a:t>
              </a:r>
              <a:r>
                <a:rPr lang="en-GB" sz="720" b="0">
                  <a:solidFill>
                    <a:srgbClr val="E2E8F0"/>
                  </a:solidFill>
                  <a:latin typeface="Poppins Medium"/>
                  <a:ea typeface="Poppins Medium"/>
                  <a:cs typeface="Poppins Medium"/>
                  <a:sym typeface="Poppins Medium"/>
                </a:rPr>
                <a:t>Multi-Metric Model Evaluation</a:t>
              </a:r>
              <a:endParaRPr sz="72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720" b="1">
                  <a:solidFill>
                    <a:srgbClr val="00F2FE"/>
                  </a:solidFill>
                  <a:latin typeface="Poppins"/>
                  <a:ea typeface="Poppins"/>
                  <a:cs typeface="Poppins"/>
                  <a:sym typeface="Poppins"/>
                </a:rPr>
                <a:t>✓</a:t>
              </a:r>
              <a:r>
                <a:rPr lang="en-GB" sz="720" b="0">
                  <a:solidFill>
                    <a:srgbClr val="E2E8F0"/>
                  </a:solidFill>
                  <a:latin typeface="Poppins Medium"/>
                  <a:ea typeface="Poppins Medium"/>
                  <a:cs typeface="Poppins Medium"/>
                  <a:sym typeface="Poppins Medium"/>
                </a:rPr>
                <a:t>Real-Time MRI Prediction</a:t>
              </a:r>
              <a:endParaRPr sz="720" b="0">
                <a:solidFill>
                  <a:srgbClr val="E2E8F0"/>
                </a:solidFill>
                <a:latin typeface="Poppins Medium"/>
                <a:ea typeface="Poppins Medium"/>
                <a:cs typeface="Poppins Medium"/>
                <a:sym typeface="Poppins Medium"/>
              </a:endParaRPr>
            </a:p>
            <a:p>
              <a:pPr marL="0" lvl="0" indent="0" algn="l" rtl="0">
                <a:spcBef>
                  <a:spcPts val="0"/>
                </a:spcBef>
                <a:spcAft>
                  <a:spcPts val="0"/>
                </a:spcAft>
                <a:buNone/>
              </a:pPr>
              <a:r>
                <a:rPr lang="en-GB" sz="720" b="1">
                  <a:solidFill>
                    <a:srgbClr val="00F2FE"/>
                  </a:solidFill>
                  <a:latin typeface="Poppins"/>
                  <a:ea typeface="Poppins"/>
                  <a:cs typeface="Poppins"/>
                  <a:sym typeface="Poppins"/>
                </a:rPr>
                <a:t>✓</a:t>
              </a:r>
              <a:r>
                <a:rPr lang="en-GB" sz="720" b="0">
                  <a:solidFill>
                    <a:srgbClr val="E2E8F0"/>
                  </a:solidFill>
                  <a:latin typeface="Poppins Medium"/>
                  <a:ea typeface="Poppins Medium"/>
                  <a:cs typeface="Poppins Medium"/>
                  <a:sym typeface="Poppins Medium"/>
                </a:rPr>
                <a:t>Performance Optimization</a:t>
              </a:r>
              <a:endParaRPr sz="720" b="0">
                <a:solidFill>
                  <a:srgbClr val="E2E8F0"/>
                </a:solidFill>
                <a:latin typeface="Poppins Medium"/>
                <a:ea typeface="Poppins Medium"/>
                <a:cs typeface="Poppins Medium"/>
                <a:sym typeface="Poppins Medium"/>
              </a:endParaRPr>
            </a:p>
          </p:txBody>
        </p:sp>
      </p:grpSp>
      <p:grpSp>
        <p:nvGrpSpPr>
          <p:cNvPr id="978" name="Google Shape;978;p28"/>
          <p:cNvGrpSpPr/>
          <p:nvPr/>
        </p:nvGrpSpPr>
        <p:grpSpPr>
          <a:xfrm>
            <a:off x="428625" y="2809875"/>
            <a:ext cx="8286900" cy="1285800"/>
            <a:chOff x="428625" y="2809875"/>
            <a:chExt cx="8286900" cy="1285800"/>
          </a:xfrm>
        </p:grpSpPr>
        <p:sp>
          <p:nvSpPr>
            <p:cNvPr id="979" name="Google Shape;979;p28"/>
            <p:cNvSpPr/>
            <p:nvPr/>
          </p:nvSpPr>
          <p:spPr>
            <a:xfrm>
              <a:off x="428625" y="2809875"/>
              <a:ext cx="8286900" cy="1285800"/>
            </a:xfrm>
            <a:prstGeom prst="roundRect">
              <a:avLst>
                <a:gd name="adj" fmla="val 5925"/>
              </a:avLst>
            </a:prstGeom>
            <a:solidFill>
              <a:srgbClr val="0B1329">
                <a:alpha val="65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80" name="Google Shape;980;p28"/>
            <p:cNvSpPr/>
            <p:nvPr/>
          </p:nvSpPr>
          <p:spPr>
            <a:xfrm>
              <a:off x="428625" y="2809875"/>
              <a:ext cx="38100" cy="12858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81" name="Google Shape;981;p28"/>
            <p:cNvSpPr txBox="1"/>
            <p:nvPr/>
          </p:nvSpPr>
          <p:spPr>
            <a:xfrm>
              <a:off x="619125" y="2924175"/>
              <a:ext cx="7905900" cy="1047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000" b="1">
                  <a:solidFill>
                    <a:srgbClr val="00F2FE"/>
                  </a:solidFill>
                  <a:latin typeface="Poppins"/>
                  <a:ea typeface="Poppins"/>
                  <a:cs typeface="Poppins"/>
                  <a:sym typeface="Poppins"/>
                </a:rPr>
                <a:t>💡 Final Conclusion</a:t>
              </a:r>
              <a:endParaRPr sz="1000" b="1">
                <a:solidFill>
                  <a:srgbClr val="00F2FE"/>
                </a:solidFill>
                <a:latin typeface="Poppins"/>
                <a:ea typeface="Poppins"/>
                <a:cs typeface="Poppins"/>
                <a:sym typeface="Poppins"/>
              </a:endParaRPr>
            </a:p>
            <a:p>
              <a:pPr marL="0" lvl="0" indent="0" algn="l" rtl="0">
                <a:spcBef>
                  <a:spcPts val="450"/>
                </a:spcBef>
                <a:spcAft>
                  <a:spcPts val="0"/>
                </a:spcAft>
                <a:buNone/>
              </a:pPr>
              <a:r>
                <a:rPr lang="en-GB" sz="850" b="0">
                  <a:solidFill>
                    <a:srgbClr val="E2E8F0"/>
                  </a:solidFill>
                  <a:latin typeface="Poppins"/>
                  <a:ea typeface="Poppins"/>
                  <a:cs typeface="Poppins"/>
                  <a:sym typeface="Poppins"/>
                </a:rPr>
                <a:t>This project demonstrates how Deep Learning can effectively classify Brain MRI images and support healthcare professionals through faster, more consistent, and AI-assisted decision-making.</a:t>
              </a:r>
              <a:endParaRPr sz="850" b="0">
                <a:solidFill>
                  <a:srgbClr val="E2E8F0"/>
                </a:solidFill>
                <a:latin typeface="Poppins"/>
                <a:ea typeface="Poppins"/>
                <a:cs typeface="Poppins"/>
                <a:sym typeface="Poppins"/>
              </a:endParaRPr>
            </a:p>
            <a:p>
              <a:pPr marL="0" lvl="0" indent="0" algn="l" rtl="0">
                <a:spcBef>
                  <a:spcPts val="600"/>
                </a:spcBef>
                <a:spcAft>
                  <a:spcPts val="0"/>
                </a:spcAft>
                <a:buNone/>
              </a:pPr>
              <a:r>
                <a:rPr lang="en-GB" sz="750" b="0">
                  <a:solidFill>
                    <a:srgbClr val="F59E0B"/>
                  </a:solidFill>
                  <a:latin typeface="Poppins SemiBold"/>
                  <a:ea typeface="Poppins SemiBold"/>
                  <a:cs typeface="Poppins SemiBold"/>
                  <a:sym typeface="Poppins SemiBold"/>
                </a:rPr>
                <a:t>⚠️ Clinical Warning:</a:t>
              </a:r>
              <a:r>
                <a:rPr lang="en-GB" sz="750" b="0">
                  <a:solidFill>
                    <a:srgbClr val="FBCFE8"/>
                  </a:solidFill>
                  <a:latin typeface="Poppins SemiBold"/>
                  <a:ea typeface="Poppins SemiBold"/>
                  <a:cs typeface="Poppins SemiBold"/>
                  <a:sym typeface="Poppins SemiBold"/>
                </a:rPr>
                <a:t> This system is engineered as secondary clinical support to assist qualified radiologists and specialists, not to replace vital human diagnostic expertise.</a:t>
              </a:r>
              <a:endParaRPr sz="750" b="0">
                <a:solidFill>
                  <a:srgbClr val="FBCFE8"/>
                </a:solidFill>
                <a:latin typeface="Poppins SemiBold"/>
                <a:ea typeface="Poppins SemiBold"/>
                <a:cs typeface="Poppins SemiBold"/>
                <a:sym typeface="Poppins SemiBold"/>
              </a:endParaRPr>
            </a:p>
          </p:txBody>
        </p:sp>
      </p:grpSp>
      <p:grpSp>
        <p:nvGrpSpPr>
          <p:cNvPr id="982" name="Google Shape;982;p28"/>
          <p:cNvGrpSpPr/>
          <p:nvPr/>
        </p:nvGrpSpPr>
        <p:grpSpPr>
          <a:xfrm>
            <a:off x="428625" y="4267200"/>
            <a:ext cx="8286900" cy="219000"/>
            <a:chOff x="428625" y="4267200"/>
            <a:chExt cx="8286900" cy="219000"/>
          </a:xfrm>
        </p:grpSpPr>
        <p:cxnSp>
          <p:nvCxnSpPr>
            <p:cNvPr id="983" name="Google Shape;983;p28"/>
            <p:cNvCxnSpPr/>
            <p:nvPr/>
          </p:nvCxnSpPr>
          <p:spPr>
            <a:xfrm>
              <a:off x="428625" y="426720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984" name="Google Shape;984;p28"/>
            <p:cNvSpPr txBox="1"/>
            <p:nvPr/>
          </p:nvSpPr>
          <p:spPr>
            <a:xfrm>
              <a:off x="428625" y="4343400"/>
              <a:ext cx="42864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550" b="0">
                  <a:solidFill>
                    <a:srgbClr val="475569"/>
                  </a:solidFill>
                  <a:latin typeface="Poppins"/>
                  <a:ea typeface="Poppins"/>
                  <a:cs typeface="Poppins"/>
                  <a:sym typeface="Poppins"/>
                </a:rPr>
                <a:t>Department of Data Science &amp; Artificial Intelligence | Clinical AI Evaluation</a:t>
              </a:r>
              <a:endParaRPr sz="550" b="0">
                <a:solidFill>
                  <a:srgbClr val="475569"/>
                </a:solidFill>
                <a:latin typeface="Poppins"/>
                <a:ea typeface="Poppins"/>
                <a:cs typeface="Poppins"/>
                <a:sym typeface="Poppins"/>
              </a:endParaRPr>
            </a:p>
          </p:txBody>
        </p:sp>
        <p:sp>
          <p:nvSpPr>
            <p:cNvPr id="985" name="Google Shape;985;p28"/>
            <p:cNvSpPr txBox="1"/>
            <p:nvPr/>
          </p:nvSpPr>
          <p:spPr>
            <a:xfrm>
              <a:off x="6810375" y="4343400"/>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550" b="0">
                  <a:solidFill>
                    <a:srgbClr val="00F2FE"/>
                  </a:solidFill>
                  <a:latin typeface="Poppins"/>
                  <a:ea typeface="Poppins"/>
                  <a:cs typeface="Poppins"/>
                  <a:sym typeface="Poppins"/>
                </a:rPr>
                <a:t>Presenter: Steve Emmanuel</a:t>
              </a:r>
              <a:endParaRPr sz="550" b="0">
                <a:solidFill>
                  <a:srgbClr val="00F2FE"/>
                </a:solidFill>
                <a:latin typeface="Poppins"/>
                <a:ea typeface="Poppins"/>
                <a:cs typeface="Poppins"/>
                <a:sym typeface="Poppi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89"/>
        <p:cNvGrpSpPr/>
        <p:nvPr/>
      </p:nvGrpSpPr>
      <p:grpSpPr>
        <a:xfrm>
          <a:off x="0" y="0"/>
          <a:ext cx="0" cy="0"/>
          <a:chOff x="0" y="0"/>
          <a:chExt cx="0" cy="0"/>
        </a:xfrm>
      </p:grpSpPr>
      <p:grpSp>
        <p:nvGrpSpPr>
          <p:cNvPr id="990" name="Google Shape;990;p29"/>
          <p:cNvGrpSpPr/>
          <p:nvPr/>
        </p:nvGrpSpPr>
        <p:grpSpPr>
          <a:xfrm>
            <a:off x="2471738" y="471488"/>
            <a:ext cx="4200600" cy="4200600"/>
            <a:chOff x="2471738" y="471488"/>
            <a:chExt cx="4200600" cy="4200600"/>
          </a:xfrm>
        </p:grpSpPr>
        <p:pic>
          <p:nvPicPr>
            <p:cNvPr id="991" name="Google Shape;991;p29"/>
            <p:cNvPicPr preferRelativeResize="0"/>
            <p:nvPr/>
          </p:nvPicPr>
          <p:blipFill rotWithShape="1">
            <a:blip r:embed="rId4">
              <a:alphaModFix/>
            </a:blip>
            <a:srcRect/>
            <a:stretch/>
          </p:blipFill>
          <p:spPr>
            <a:xfrm>
              <a:off x="2471738" y="471488"/>
              <a:ext cx="4200600" cy="4200600"/>
            </a:xfrm>
            <a:prstGeom prst="rect">
              <a:avLst/>
            </a:prstGeom>
            <a:noFill/>
            <a:ln>
              <a:noFill/>
            </a:ln>
          </p:spPr>
        </p:pic>
        <p:pic>
          <p:nvPicPr>
            <p:cNvPr id="992" name="Google Shape;992;p29"/>
            <p:cNvPicPr preferRelativeResize="0"/>
            <p:nvPr/>
          </p:nvPicPr>
          <p:blipFill rotWithShape="1">
            <a:blip r:embed="rId5">
              <a:alphaModFix/>
            </a:blip>
            <a:srcRect/>
            <a:stretch/>
          </p:blipFill>
          <p:spPr>
            <a:xfrm>
              <a:off x="3233738" y="1233488"/>
              <a:ext cx="2676600" cy="2676600"/>
            </a:xfrm>
            <a:prstGeom prst="rect">
              <a:avLst/>
            </a:prstGeom>
            <a:noFill/>
            <a:ln>
              <a:noFill/>
            </a:ln>
          </p:spPr>
        </p:pic>
        <p:pic>
          <p:nvPicPr>
            <p:cNvPr id="993" name="Google Shape;993;p29"/>
            <p:cNvPicPr preferRelativeResize="0"/>
            <p:nvPr/>
          </p:nvPicPr>
          <p:blipFill rotWithShape="1">
            <a:blip r:embed="rId6">
              <a:alphaModFix/>
            </a:blip>
            <a:srcRect/>
            <a:stretch/>
          </p:blipFill>
          <p:spPr>
            <a:xfrm>
              <a:off x="2476500" y="476250"/>
              <a:ext cx="4191000" cy="4191000"/>
            </a:xfrm>
            <a:prstGeom prst="rect">
              <a:avLst/>
            </a:prstGeom>
            <a:noFill/>
            <a:ln>
              <a:noFill/>
            </a:ln>
          </p:spPr>
        </p:pic>
      </p:grpSp>
      <p:sp>
        <p:nvSpPr>
          <p:cNvPr id="994" name="Google Shape;994;p29"/>
          <p:cNvSpPr txBox="1"/>
          <p:nvPr/>
        </p:nvSpPr>
        <p:spPr>
          <a:xfrm>
            <a:off x="428625" y="228600"/>
            <a:ext cx="8286900" cy="4764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1800" b="1">
                <a:solidFill>
                  <a:srgbClr val="FFFFFF"/>
                </a:solidFill>
                <a:latin typeface="Poppins"/>
                <a:ea typeface="Poppins"/>
                <a:cs typeface="Poppins"/>
                <a:sym typeface="Poppins"/>
              </a:rPr>
              <a:t>Technology Stack &amp; References</a:t>
            </a:r>
            <a:endParaRPr sz="1800" b="1">
              <a:solidFill>
                <a:srgbClr val="FFFFFF"/>
              </a:solidFill>
              <a:latin typeface="Poppins"/>
              <a:ea typeface="Poppins"/>
              <a:cs typeface="Poppins"/>
              <a:sym typeface="Poppins"/>
            </a:endParaRPr>
          </a:p>
          <a:p>
            <a:pPr marL="0" lvl="0" indent="0" algn="l" rtl="0">
              <a:spcBef>
                <a:spcPts val="0"/>
              </a:spcBef>
              <a:spcAft>
                <a:spcPts val="0"/>
              </a:spcAft>
              <a:buNone/>
            </a:pPr>
            <a:r>
              <a:rPr lang="en-GB" sz="850" b="0">
                <a:solidFill>
                  <a:srgbClr val="A5F3FC"/>
                </a:solidFill>
                <a:latin typeface="Poppins"/>
                <a:ea typeface="Poppins"/>
                <a:cs typeface="Poppins"/>
                <a:sym typeface="Poppins"/>
              </a:rPr>
              <a:t>Tools, frameworks, libraries and resources used to build the Deep Learning solution.</a:t>
            </a:r>
            <a:endParaRPr sz="850" b="0">
              <a:solidFill>
                <a:srgbClr val="A5F3FC"/>
              </a:solidFill>
              <a:latin typeface="Poppins"/>
              <a:ea typeface="Poppins"/>
              <a:cs typeface="Poppins"/>
              <a:sym typeface="Poppins"/>
            </a:endParaRPr>
          </a:p>
        </p:txBody>
      </p:sp>
      <p:grpSp>
        <p:nvGrpSpPr>
          <p:cNvPr id="995" name="Google Shape;995;p29"/>
          <p:cNvGrpSpPr/>
          <p:nvPr/>
        </p:nvGrpSpPr>
        <p:grpSpPr>
          <a:xfrm>
            <a:off x="428625" y="904875"/>
            <a:ext cx="2000100" cy="2952900"/>
            <a:chOff x="428625" y="904875"/>
            <a:chExt cx="2000100" cy="2952900"/>
          </a:xfrm>
        </p:grpSpPr>
        <p:sp>
          <p:nvSpPr>
            <p:cNvPr id="996" name="Google Shape;996;p29"/>
            <p:cNvSpPr/>
            <p:nvPr/>
          </p:nvSpPr>
          <p:spPr>
            <a:xfrm>
              <a:off x="428625" y="904875"/>
              <a:ext cx="2000100" cy="2952900"/>
            </a:xfrm>
            <a:prstGeom prst="roundRect">
              <a:avLst>
                <a:gd name="adj" fmla="val 3809"/>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7" name="Google Shape;997;p29"/>
            <p:cNvSpPr/>
            <p:nvPr/>
          </p:nvSpPr>
          <p:spPr>
            <a:xfrm>
              <a:off x="428625" y="904875"/>
              <a:ext cx="27600" cy="2952900"/>
            </a:xfrm>
            <a:prstGeom prst="roundRect">
              <a:avLst>
                <a:gd name="adj" fmla="val 49999"/>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998" name="Google Shape;998;p29"/>
            <p:cNvSpPr txBox="1"/>
            <p:nvPr/>
          </p:nvSpPr>
          <p:spPr>
            <a:xfrm>
              <a:off x="552450" y="1019175"/>
              <a:ext cx="1752600" cy="272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00F2FE"/>
                  </a:solidFill>
                  <a:latin typeface="Poppins"/>
                  <a:ea typeface="Poppins"/>
                  <a:cs typeface="Poppins"/>
                  <a:sym typeface="Poppins"/>
                </a:rPr>
                <a:t>Development Environment</a:t>
              </a:r>
              <a:endParaRPr sz="850" b="1">
                <a:solidFill>
                  <a:srgbClr val="00F2FE"/>
                </a:solidFill>
                <a:latin typeface="Poppins"/>
                <a:ea typeface="Poppins"/>
                <a:cs typeface="Poppins"/>
                <a:sym typeface="Poppins"/>
              </a:endParaRPr>
            </a:p>
            <a:p>
              <a:pPr marL="0" lvl="0" indent="0" algn="l" rtl="0">
                <a:spcBef>
                  <a:spcPts val="900"/>
                </a:spcBef>
                <a:spcAft>
                  <a:spcPts val="0"/>
                </a:spcAft>
                <a:buNone/>
              </a:pPr>
              <a:r>
                <a:rPr lang="en-GB" sz="700" b="0">
                  <a:solidFill>
                    <a:srgbClr val="FFFFFF"/>
                  </a:solidFill>
                  <a:latin typeface="Poppins SemiBold"/>
                  <a:ea typeface="Poppins SemiBold"/>
                  <a:cs typeface="Poppins SemiBold"/>
                  <a:sym typeface="Poppins SemiBold"/>
                </a:rPr>
                <a:t>💻 Google Colab</a:t>
              </a:r>
              <a:endParaRPr sz="700" b="0">
                <a:solidFill>
                  <a:srgbClr val="FFFFFF"/>
                </a:solidFill>
                <a:latin typeface="Poppins SemiBold"/>
                <a:ea typeface="Poppins SemiBold"/>
                <a:cs typeface="Poppins SemiBold"/>
                <a:sym typeface="Poppins SemiBold"/>
              </a:endParaRPr>
            </a:p>
            <a:p>
              <a:pPr marL="0" lvl="0" indent="0" algn="l" rtl="0">
                <a:spcBef>
                  <a:spcPts val="0"/>
                </a:spcBef>
                <a:spcAft>
                  <a:spcPts val="0"/>
                </a:spcAft>
                <a:buNone/>
              </a:pPr>
              <a:r>
                <a:rPr lang="en-GB" sz="580" b="0">
                  <a:solidFill>
                    <a:srgbClr val="94A3B8"/>
                  </a:solidFill>
                  <a:latin typeface="Poppins"/>
                  <a:ea typeface="Poppins"/>
                  <a:cs typeface="Poppins"/>
                  <a:sym typeface="Poppins"/>
                </a:rPr>
                <a:t>Interactive, cloud-based GPU accelerated development space.</a:t>
              </a:r>
              <a:endParaRPr sz="580" b="0">
                <a:solidFill>
                  <a:srgbClr val="94A3B8"/>
                </a:solidFill>
                <a:latin typeface="Poppins"/>
                <a:ea typeface="Poppins"/>
                <a:cs typeface="Poppins"/>
                <a:sym typeface="Poppins"/>
              </a:endParaRPr>
            </a:p>
            <a:p>
              <a:pPr marL="0" lvl="0" indent="0" algn="l" rtl="0">
                <a:spcBef>
                  <a:spcPts val="900"/>
                </a:spcBef>
                <a:spcAft>
                  <a:spcPts val="0"/>
                </a:spcAft>
                <a:buNone/>
              </a:pPr>
              <a:r>
                <a:rPr lang="en-GB" sz="700" b="0">
                  <a:solidFill>
                    <a:srgbClr val="FFFFFF"/>
                  </a:solidFill>
                  <a:latin typeface="Poppins SemiBold"/>
                  <a:ea typeface="Poppins SemiBold"/>
                  <a:cs typeface="Poppins SemiBold"/>
                  <a:sym typeface="Poppins SemiBold"/>
                </a:rPr>
                <a:t>🐍 Python</a:t>
              </a:r>
              <a:endParaRPr sz="700" b="0">
                <a:solidFill>
                  <a:srgbClr val="FFFFFF"/>
                </a:solidFill>
                <a:latin typeface="Poppins SemiBold"/>
                <a:ea typeface="Poppins SemiBold"/>
                <a:cs typeface="Poppins SemiBold"/>
                <a:sym typeface="Poppins SemiBold"/>
              </a:endParaRPr>
            </a:p>
            <a:p>
              <a:pPr marL="0" lvl="0" indent="0" algn="l" rtl="0">
                <a:spcBef>
                  <a:spcPts val="0"/>
                </a:spcBef>
                <a:spcAft>
                  <a:spcPts val="0"/>
                </a:spcAft>
                <a:buNone/>
              </a:pPr>
              <a:r>
                <a:rPr lang="en-GB" sz="580" b="0">
                  <a:solidFill>
                    <a:srgbClr val="94A3B8"/>
                  </a:solidFill>
                  <a:latin typeface="Poppins"/>
                  <a:ea typeface="Poppins"/>
                  <a:cs typeface="Poppins"/>
                  <a:sym typeface="Poppins"/>
                </a:rPr>
                <a:t>Primary programming language for AI architecture &amp; workflows.</a:t>
              </a:r>
              <a:endParaRPr sz="580" b="0">
                <a:solidFill>
                  <a:srgbClr val="94A3B8"/>
                </a:solidFill>
                <a:latin typeface="Poppins"/>
                <a:ea typeface="Poppins"/>
                <a:cs typeface="Poppins"/>
                <a:sym typeface="Poppins"/>
              </a:endParaRPr>
            </a:p>
            <a:p>
              <a:pPr marL="0" lvl="0" indent="0" algn="l" rtl="0">
                <a:spcBef>
                  <a:spcPts val="900"/>
                </a:spcBef>
                <a:spcAft>
                  <a:spcPts val="0"/>
                </a:spcAft>
                <a:buNone/>
              </a:pPr>
              <a:r>
                <a:rPr lang="en-GB" sz="700" b="0">
                  <a:solidFill>
                    <a:srgbClr val="FFFFFF"/>
                  </a:solidFill>
                  <a:latin typeface="Poppins SemiBold"/>
                  <a:ea typeface="Poppins SemiBold"/>
                  <a:cs typeface="Poppins SemiBold"/>
                  <a:sym typeface="Poppins SemiBold"/>
                </a:rPr>
                <a:t>📝 Jupyter Notebooks</a:t>
              </a:r>
              <a:endParaRPr sz="700" b="0">
                <a:solidFill>
                  <a:srgbClr val="FFFFFF"/>
                </a:solidFill>
                <a:latin typeface="Poppins SemiBold"/>
                <a:ea typeface="Poppins SemiBold"/>
                <a:cs typeface="Poppins SemiBold"/>
                <a:sym typeface="Poppins SemiBold"/>
              </a:endParaRPr>
            </a:p>
            <a:p>
              <a:pPr marL="0" lvl="0" indent="0" algn="l" rtl="0">
                <a:spcBef>
                  <a:spcPts val="0"/>
                </a:spcBef>
                <a:spcAft>
                  <a:spcPts val="300"/>
                </a:spcAft>
                <a:buNone/>
              </a:pPr>
              <a:r>
                <a:rPr lang="en-GB" sz="580" b="0">
                  <a:solidFill>
                    <a:srgbClr val="94A3B8"/>
                  </a:solidFill>
                  <a:latin typeface="Poppins"/>
                  <a:ea typeface="Poppins"/>
                  <a:cs typeface="Poppins"/>
                  <a:sym typeface="Poppins"/>
                </a:rPr>
                <a:t>Prototype execution, visualization, and validation framework.</a:t>
              </a:r>
              <a:endParaRPr sz="580" b="0">
                <a:solidFill>
                  <a:srgbClr val="94A3B8"/>
                </a:solidFill>
                <a:latin typeface="Poppins"/>
                <a:ea typeface="Poppins"/>
                <a:cs typeface="Poppins"/>
                <a:sym typeface="Poppins"/>
              </a:endParaRPr>
            </a:p>
          </p:txBody>
        </p:sp>
      </p:grpSp>
      <p:grpSp>
        <p:nvGrpSpPr>
          <p:cNvPr id="999" name="Google Shape;999;p29"/>
          <p:cNvGrpSpPr/>
          <p:nvPr/>
        </p:nvGrpSpPr>
        <p:grpSpPr>
          <a:xfrm>
            <a:off x="2571750" y="904875"/>
            <a:ext cx="2609850" cy="2952900"/>
            <a:chOff x="2571750" y="904875"/>
            <a:chExt cx="2609850" cy="2952900"/>
          </a:xfrm>
        </p:grpSpPr>
        <p:grpSp>
          <p:nvGrpSpPr>
            <p:cNvPr id="1000" name="Google Shape;1000;p29"/>
            <p:cNvGrpSpPr/>
            <p:nvPr/>
          </p:nvGrpSpPr>
          <p:grpSpPr>
            <a:xfrm>
              <a:off x="2571750" y="904875"/>
              <a:ext cx="1257300" cy="933600"/>
              <a:chOff x="2571750" y="904875"/>
              <a:chExt cx="1257300" cy="933600"/>
            </a:xfrm>
          </p:grpSpPr>
          <p:sp>
            <p:nvSpPr>
              <p:cNvPr id="1001" name="Google Shape;1001;p29"/>
              <p:cNvSpPr/>
              <p:nvPr/>
            </p:nvSpPr>
            <p:spPr>
              <a:xfrm>
                <a:off x="2571750" y="904875"/>
                <a:ext cx="1257300" cy="933600"/>
              </a:xfrm>
              <a:prstGeom prst="roundRect">
                <a:avLst>
                  <a:gd name="adj" fmla="val 6122"/>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2" name="Google Shape;1002;p29"/>
              <p:cNvSpPr/>
              <p:nvPr/>
            </p:nvSpPr>
            <p:spPr>
              <a:xfrm>
                <a:off x="2571750" y="904875"/>
                <a:ext cx="12573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3" name="Google Shape;1003;p29"/>
              <p:cNvSpPr txBox="1"/>
              <p:nvPr/>
            </p:nvSpPr>
            <p:spPr>
              <a:xfrm>
                <a:off x="2667000" y="1000125"/>
                <a:ext cx="10668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a:solidFill>
                      <a:srgbClr val="00F2FE"/>
                    </a:solidFill>
                    <a:latin typeface="Poppins"/>
                    <a:ea typeface="Poppins"/>
                    <a:cs typeface="Poppins"/>
                    <a:sym typeface="Poppins"/>
                  </a:rPr>
                  <a:t>TensorFlow</a:t>
                </a:r>
                <a:endParaRPr sz="700" b="1">
                  <a:solidFill>
                    <a:srgbClr val="00F2FE"/>
                  </a:solidFill>
                  <a:latin typeface="Poppins"/>
                  <a:ea typeface="Poppins"/>
                  <a:cs typeface="Poppins"/>
                  <a:sym typeface="Poppins"/>
                </a:endParaRPr>
              </a:p>
              <a:p>
                <a:pPr marL="0" lvl="0" indent="0" algn="l" rtl="0">
                  <a:spcBef>
                    <a:spcPts val="300"/>
                  </a:spcBef>
                  <a:spcAft>
                    <a:spcPts val="0"/>
                  </a:spcAft>
                  <a:buNone/>
                </a:pPr>
                <a:r>
                  <a:rPr lang="en-GB" sz="520" b="0">
                    <a:solidFill>
                      <a:srgbClr val="E2E8F0"/>
                    </a:solidFill>
                    <a:latin typeface="Poppins"/>
                    <a:ea typeface="Poppins"/>
                    <a:cs typeface="Poppins"/>
                    <a:sym typeface="Poppins"/>
                  </a:rPr>
                  <a:t>Used for building and training the CNN model with GPU hardware acceleration.</a:t>
                </a:r>
                <a:endParaRPr sz="520" b="0">
                  <a:solidFill>
                    <a:srgbClr val="E2E8F0"/>
                  </a:solidFill>
                  <a:latin typeface="Poppins"/>
                  <a:ea typeface="Poppins"/>
                  <a:cs typeface="Poppins"/>
                  <a:sym typeface="Poppins"/>
                </a:endParaRPr>
              </a:p>
            </p:txBody>
          </p:sp>
        </p:grpSp>
        <p:grpSp>
          <p:nvGrpSpPr>
            <p:cNvPr id="1004" name="Google Shape;1004;p29"/>
            <p:cNvGrpSpPr/>
            <p:nvPr/>
          </p:nvGrpSpPr>
          <p:grpSpPr>
            <a:xfrm>
              <a:off x="3924300" y="904875"/>
              <a:ext cx="1257300" cy="933600"/>
              <a:chOff x="3924300" y="904875"/>
              <a:chExt cx="1257300" cy="933600"/>
            </a:xfrm>
          </p:grpSpPr>
          <p:sp>
            <p:nvSpPr>
              <p:cNvPr id="1005" name="Google Shape;1005;p29"/>
              <p:cNvSpPr/>
              <p:nvPr/>
            </p:nvSpPr>
            <p:spPr>
              <a:xfrm>
                <a:off x="3924300" y="904875"/>
                <a:ext cx="1257300" cy="933600"/>
              </a:xfrm>
              <a:prstGeom prst="roundRect">
                <a:avLst>
                  <a:gd name="adj" fmla="val 6122"/>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6" name="Google Shape;1006;p29"/>
              <p:cNvSpPr/>
              <p:nvPr/>
            </p:nvSpPr>
            <p:spPr>
              <a:xfrm>
                <a:off x="3924300" y="904875"/>
                <a:ext cx="1257300" cy="192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07" name="Google Shape;1007;p29"/>
              <p:cNvSpPr txBox="1"/>
              <p:nvPr/>
            </p:nvSpPr>
            <p:spPr>
              <a:xfrm>
                <a:off x="4019550" y="1000125"/>
                <a:ext cx="10668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a:solidFill>
                      <a:srgbClr val="00F2FE"/>
                    </a:solidFill>
                    <a:latin typeface="Poppins"/>
                    <a:ea typeface="Poppins"/>
                    <a:cs typeface="Poppins"/>
                    <a:sym typeface="Poppins"/>
                  </a:rPr>
                  <a:t>Keras</a:t>
                </a:r>
                <a:endParaRPr sz="700" b="1">
                  <a:solidFill>
                    <a:srgbClr val="00F2FE"/>
                  </a:solidFill>
                  <a:latin typeface="Poppins"/>
                  <a:ea typeface="Poppins"/>
                  <a:cs typeface="Poppins"/>
                  <a:sym typeface="Poppins"/>
                </a:endParaRPr>
              </a:p>
              <a:p>
                <a:pPr marL="0" lvl="0" indent="0" algn="l" rtl="0">
                  <a:spcBef>
                    <a:spcPts val="300"/>
                  </a:spcBef>
                  <a:spcAft>
                    <a:spcPts val="0"/>
                  </a:spcAft>
                  <a:buNone/>
                </a:pPr>
                <a:r>
                  <a:rPr lang="en-GB" sz="520" b="0">
                    <a:solidFill>
                      <a:srgbClr val="E2E8F0"/>
                    </a:solidFill>
                    <a:latin typeface="Poppins"/>
                    <a:ea typeface="Poppins"/>
                    <a:cs typeface="Poppins"/>
                    <a:sym typeface="Poppins"/>
                  </a:rPr>
                  <a:t>High-level API used for designing and assembling neural network layers smoothly.</a:t>
                </a:r>
                <a:endParaRPr sz="520" b="0">
                  <a:solidFill>
                    <a:srgbClr val="E2E8F0"/>
                  </a:solidFill>
                  <a:latin typeface="Poppins"/>
                  <a:ea typeface="Poppins"/>
                  <a:cs typeface="Poppins"/>
                  <a:sym typeface="Poppins"/>
                </a:endParaRPr>
              </a:p>
            </p:txBody>
          </p:sp>
        </p:grpSp>
        <p:grpSp>
          <p:nvGrpSpPr>
            <p:cNvPr id="1008" name="Google Shape;1008;p29"/>
            <p:cNvGrpSpPr/>
            <p:nvPr/>
          </p:nvGrpSpPr>
          <p:grpSpPr>
            <a:xfrm>
              <a:off x="2571750" y="1914525"/>
              <a:ext cx="1257300" cy="933600"/>
              <a:chOff x="2571750" y="1914525"/>
              <a:chExt cx="1257300" cy="933600"/>
            </a:xfrm>
          </p:grpSpPr>
          <p:sp>
            <p:nvSpPr>
              <p:cNvPr id="1009" name="Google Shape;1009;p29"/>
              <p:cNvSpPr/>
              <p:nvPr/>
            </p:nvSpPr>
            <p:spPr>
              <a:xfrm>
                <a:off x="2571750" y="1914525"/>
                <a:ext cx="1257300" cy="933600"/>
              </a:xfrm>
              <a:prstGeom prst="roundRect">
                <a:avLst>
                  <a:gd name="adj" fmla="val 6122"/>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0" name="Google Shape;1010;p29"/>
              <p:cNvSpPr/>
              <p:nvPr/>
            </p:nvSpPr>
            <p:spPr>
              <a:xfrm>
                <a:off x="2571750" y="1914525"/>
                <a:ext cx="12573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1" name="Google Shape;1011;p29"/>
              <p:cNvSpPr txBox="1"/>
              <p:nvPr/>
            </p:nvSpPr>
            <p:spPr>
              <a:xfrm>
                <a:off x="2667000" y="2009775"/>
                <a:ext cx="10668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dirty="0">
                    <a:solidFill>
                      <a:srgbClr val="00F2FE"/>
                    </a:solidFill>
                    <a:latin typeface="Poppins"/>
                    <a:ea typeface="Poppins"/>
                    <a:cs typeface="Poppins"/>
                    <a:sym typeface="Poppins"/>
                  </a:rPr>
                  <a:t>NumPy</a:t>
                </a:r>
                <a:endParaRPr sz="700" b="1" dirty="0">
                  <a:solidFill>
                    <a:srgbClr val="00F2FE"/>
                  </a:solidFill>
                  <a:latin typeface="Poppins"/>
                  <a:ea typeface="Poppins"/>
                  <a:cs typeface="Poppins"/>
                  <a:sym typeface="Poppins"/>
                </a:endParaRPr>
              </a:p>
              <a:p>
                <a:pPr marL="0" lvl="0" indent="0" algn="l" rtl="0">
                  <a:spcBef>
                    <a:spcPts val="300"/>
                  </a:spcBef>
                  <a:spcAft>
                    <a:spcPts val="0"/>
                  </a:spcAft>
                  <a:buNone/>
                </a:pPr>
                <a:r>
                  <a:rPr lang="en-GB" sz="520" b="0" dirty="0">
                    <a:solidFill>
                      <a:srgbClr val="E2E8F0"/>
                    </a:solidFill>
                    <a:latin typeface="Poppins"/>
                    <a:ea typeface="Poppins"/>
                    <a:cs typeface="Poppins"/>
                    <a:sym typeface="Poppins"/>
                  </a:rPr>
                  <a:t>Provides advanced numerical computations, matrix structures, and linear algebra math.</a:t>
                </a:r>
                <a:endParaRPr sz="520" b="0" dirty="0">
                  <a:solidFill>
                    <a:srgbClr val="E2E8F0"/>
                  </a:solidFill>
                  <a:latin typeface="Poppins"/>
                  <a:ea typeface="Poppins"/>
                  <a:cs typeface="Poppins"/>
                  <a:sym typeface="Poppins"/>
                </a:endParaRPr>
              </a:p>
            </p:txBody>
          </p:sp>
        </p:grpSp>
        <p:grpSp>
          <p:nvGrpSpPr>
            <p:cNvPr id="1012" name="Google Shape;1012;p29"/>
            <p:cNvGrpSpPr/>
            <p:nvPr/>
          </p:nvGrpSpPr>
          <p:grpSpPr>
            <a:xfrm>
              <a:off x="3924300" y="1914525"/>
              <a:ext cx="1257300" cy="933600"/>
              <a:chOff x="3924300" y="1914525"/>
              <a:chExt cx="1257300" cy="933600"/>
            </a:xfrm>
          </p:grpSpPr>
          <p:sp>
            <p:nvSpPr>
              <p:cNvPr id="1013" name="Google Shape;1013;p29"/>
              <p:cNvSpPr/>
              <p:nvPr/>
            </p:nvSpPr>
            <p:spPr>
              <a:xfrm>
                <a:off x="3924300" y="1914525"/>
                <a:ext cx="1257300" cy="933600"/>
              </a:xfrm>
              <a:prstGeom prst="roundRect">
                <a:avLst>
                  <a:gd name="adj" fmla="val 6122"/>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4" name="Google Shape;1014;p29"/>
              <p:cNvSpPr/>
              <p:nvPr/>
            </p:nvSpPr>
            <p:spPr>
              <a:xfrm>
                <a:off x="3924300" y="1914525"/>
                <a:ext cx="1257300" cy="192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5" name="Google Shape;1015;p29"/>
              <p:cNvSpPr txBox="1"/>
              <p:nvPr/>
            </p:nvSpPr>
            <p:spPr>
              <a:xfrm>
                <a:off x="4019550" y="2009775"/>
                <a:ext cx="10668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dirty="0">
                    <a:solidFill>
                      <a:srgbClr val="00F2FE"/>
                    </a:solidFill>
                    <a:latin typeface="Poppins"/>
                    <a:ea typeface="Poppins"/>
                    <a:cs typeface="Poppins"/>
                    <a:sym typeface="Poppins"/>
                  </a:rPr>
                  <a:t>Matplotlib</a:t>
                </a:r>
                <a:endParaRPr sz="700" b="1" dirty="0">
                  <a:solidFill>
                    <a:srgbClr val="00F2FE"/>
                  </a:solidFill>
                  <a:latin typeface="Poppins"/>
                  <a:ea typeface="Poppins"/>
                  <a:cs typeface="Poppins"/>
                  <a:sym typeface="Poppins"/>
                </a:endParaRPr>
              </a:p>
              <a:p>
                <a:pPr marL="0" lvl="0" indent="0" algn="l" rtl="0">
                  <a:spcBef>
                    <a:spcPts val="300"/>
                  </a:spcBef>
                  <a:spcAft>
                    <a:spcPts val="0"/>
                  </a:spcAft>
                  <a:buNone/>
                </a:pPr>
                <a:r>
                  <a:rPr lang="en-GB" sz="520" b="0" dirty="0">
                    <a:solidFill>
                      <a:srgbClr val="E2E8F0"/>
                    </a:solidFill>
                    <a:latin typeface="Poppins"/>
                    <a:ea typeface="Poppins"/>
                    <a:cs typeface="Poppins"/>
                    <a:sym typeface="Poppins"/>
                  </a:rPr>
                  <a:t>Used for dynamic data visualization and plotting training performance curves.</a:t>
                </a:r>
                <a:endParaRPr sz="520" b="0" dirty="0">
                  <a:solidFill>
                    <a:srgbClr val="E2E8F0"/>
                  </a:solidFill>
                  <a:latin typeface="Poppins"/>
                  <a:ea typeface="Poppins"/>
                  <a:cs typeface="Poppins"/>
                  <a:sym typeface="Poppins"/>
                </a:endParaRPr>
              </a:p>
            </p:txBody>
          </p:sp>
        </p:grpSp>
        <p:grpSp>
          <p:nvGrpSpPr>
            <p:cNvPr id="1016" name="Google Shape;1016;p29"/>
            <p:cNvGrpSpPr/>
            <p:nvPr/>
          </p:nvGrpSpPr>
          <p:grpSpPr>
            <a:xfrm>
              <a:off x="2571750" y="2924175"/>
              <a:ext cx="1257300" cy="933600"/>
              <a:chOff x="2571750" y="2924175"/>
              <a:chExt cx="1257300" cy="933600"/>
            </a:xfrm>
          </p:grpSpPr>
          <p:sp>
            <p:nvSpPr>
              <p:cNvPr id="1017" name="Google Shape;1017;p29"/>
              <p:cNvSpPr/>
              <p:nvPr/>
            </p:nvSpPr>
            <p:spPr>
              <a:xfrm>
                <a:off x="2571750" y="2924175"/>
                <a:ext cx="1257300" cy="933600"/>
              </a:xfrm>
              <a:prstGeom prst="roundRect">
                <a:avLst>
                  <a:gd name="adj" fmla="val 6122"/>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8" name="Google Shape;1018;p29"/>
              <p:cNvSpPr/>
              <p:nvPr/>
            </p:nvSpPr>
            <p:spPr>
              <a:xfrm>
                <a:off x="2571750" y="2924175"/>
                <a:ext cx="1257300" cy="19200"/>
              </a:xfrm>
              <a:prstGeom prst="rect">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19" name="Google Shape;1019;p29"/>
              <p:cNvSpPr txBox="1"/>
              <p:nvPr/>
            </p:nvSpPr>
            <p:spPr>
              <a:xfrm>
                <a:off x="2667000" y="3019425"/>
                <a:ext cx="10668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a:solidFill>
                      <a:srgbClr val="00F2FE"/>
                    </a:solidFill>
                    <a:latin typeface="Poppins"/>
                    <a:ea typeface="Poppins"/>
                    <a:cs typeface="Poppins"/>
                    <a:sym typeface="Poppins"/>
                  </a:rPr>
                  <a:t>Scikit-Learn</a:t>
                </a:r>
                <a:endParaRPr sz="700" b="1">
                  <a:solidFill>
                    <a:srgbClr val="00F2FE"/>
                  </a:solidFill>
                  <a:latin typeface="Poppins"/>
                  <a:ea typeface="Poppins"/>
                  <a:cs typeface="Poppins"/>
                  <a:sym typeface="Poppins"/>
                </a:endParaRPr>
              </a:p>
              <a:p>
                <a:pPr marL="0" lvl="0" indent="0" algn="l" rtl="0">
                  <a:spcBef>
                    <a:spcPts val="300"/>
                  </a:spcBef>
                  <a:spcAft>
                    <a:spcPts val="0"/>
                  </a:spcAft>
                  <a:buNone/>
                </a:pPr>
                <a:r>
                  <a:rPr lang="en-GB" sz="520" b="0">
                    <a:solidFill>
                      <a:srgbClr val="E2E8F0"/>
                    </a:solidFill>
                    <a:latin typeface="Poppins"/>
                    <a:ea typeface="Poppins"/>
                    <a:cs typeface="Poppins"/>
                    <a:sym typeface="Poppins"/>
                  </a:rPr>
                  <a:t>Generates robust metric matrices like Confusion Matrix and Classification Reports.</a:t>
                </a:r>
                <a:endParaRPr sz="520" b="0">
                  <a:solidFill>
                    <a:srgbClr val="E2E8F0"/>
                  </a:solidFill>
                  <a:latin typeface="Poppins"/>
                  <a:ea typeface="Poppins"/>
                  <a:cs typeface="Poppins"/>
                  <a:sym typeface="Poppins"/>
                </a:endParaRPr>
              </a:p>
            </p:txBody>
          </p:sp>
        </p:grpSp>
        <p:grpSp>
          <p:nvGrpSpPr>
            <p:cNvPr id="1020" name="Google Shape;1020;p29"/>
            <p:cNvGrpSpPr/>
            <p:nvPr/>
          </p:nvGrpSpPr>
          <p:grpSpPr>
            <a:xfrm>
              <a:off x="3924300" y="2924175"/>
              <a:ext cx="1257300" cy="933600"/>
              <a:chOff x="3924300" y="2924175"/>
              <a:chExt cx="1257300" cy="933600"/>
            </a:xfrm>
          </p:grpSpPr>
          <p:sp>
            <p:nvSpPr>
              <p:cNvPr id="1021" name="Google Shape;1021;p29"/>
              <p:cNvSpPr/>
              <p:nvPr/>
            </p:nvSpPr>
            <p:spPr>
              <a:xfrm>
                <a:off x="3924300" y="2924175"/>
                <a:ext cx="1257300" cy="933600"/>
              </a:xfrm>
              <a:prstGeom prst="roundRect">
                <a:avLst>
                  <a:gd name="adj" fmla="val 6122"/>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2" name="Google Shape;1022;p29"/>
              <p:cNvSpPr/>
              <p:nvPr/>
            </p:nvSpPr>
            <p:spPr>
              <a:xfrm>
                <a:off x="3924300" y="2924175"/>
                <a:ext cx="1257300" cy="19200"/>
              </a:xfrm>
              <a:prstGeom prst="rect">
                <a:avLst/>
              </a:prstGeom>
              <a:solidFill>
                <a:srgbClr val="3B82F6"/>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3" name="Google Shape;1023;p29"/>
              <p:cNvSpPr txBox="1"/>
              <p:nvPr/>
            </p:nvSpPr>
            <p:spPr>
              <a:xfrm>
                <a:off x="4019550" y="3019425"/>
                <a:ext cx="1066800" cy="743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00" b="1">
                    <a:solidFill>
                      <a:srgbClr val="00F2FE"/>
                    </a:solidFill>
                    <a:latin typeface="Poppins"/>
                    <a:ea typeface="Poppins"/>
                    <a:cs typeface="Poppins"/>
                    <a:sym typeface="Poppins"/>
                  </a:rPr>
                  <a:t>Google Colab</a:t>
                </a:r>
                <a:endParaRPr sz="700" b="1">
                  <a:solidFill>
                    <a:srgbClr val="00F2FE"/>
                  </a:solidFill>
                  <a:latin typeface="Poppins"/>
                  <a:ea typeface="Poppins"/>
                  <a:cs typeface="Poppins"/>
                  <a:sym typeface="Poppins"/>
                </a:endParaRPr>
              </a:p>
              <a:p>
                <a:pPr marL="0" lvl="0" indent="0" algn="l" rtl="0">
                  <a:spcBef>
                    <a:spcPts val="300"/>
                  </a:spcBef>
                  <a:spcAft>
                    <a:spcPts val="0"/>
                  </a:spcAft>
                  <a:buNone/>
                </a:pPr>
                <a:r>
                  <a:rPr lang="en-GB" sz="520" b="0">
                    <a:solidFill>
                      <a:srgbClr val="E2E8F0"/>
                    </a:solidFill>
                    <a:latin typeface="Poppins"/>
                    <a:ea typeface="Poppins"/>
                    <a:cs typeface="Poppins"/>
                    <a:sym typeface="Poppins"/>
                  </a:rPr>
                  <a:t>Provides immediate cloud notebook resources and dedicated virtual environment runtimes.</a:t>
                </a:r>
                <a:endParaRPr sz="520" b="0">
                  <a:solidFill>
                    <a:srgbClr val="E2E8F0"/>
                  </a:solidFill>
                  <a:latin typeface="Poppins"/>
                  <a:ea typeface="Poppins"/>
                  <a:cs typeface="Poppins"/>
                  <a:sym typeface="Poppins"/>
                </a:endParaRPr>
              </a:p>
            </p:txBody>
          </p:sp>
        </p:grpSp>
      </p:grpSp>
      <p:grpSp>
        <p:nvGrpSpPr>
          <p:cNvPr id="1024" name="Google Shape;1024;p29"/>
          <p:cNvGrpSpPr/>
          <p:nvPr/>
        </p:nvGrpSpPr>
        <p:grpSpPr>
          <a:xfrm>
            <a:off x="5276850" y="904875"/>
            <a:ext cx="3438600" cy="2952900"/>
            <a:chOff x="5276850" y="904875"/>
            <a:chExt cx="3438600" cy="2952900"/>
          </a:xfrm>
        </p:grpSpPr>
        <p:sp>
          <p:nvSpPr>
            <p:cNvPr id="1025" name="Google Shape;1025;p29"/>
            <p:cNvSpPr/>
            <p:nvPr/>
          </p:nvSpPr>
          <p:spPr>
            <a:xfrm>
              <a:off x="5276850" y="904875"/>
              <a:ext cx="3438600" cy="2952900"/>
            </a:xfrm>
            <a:prstGeom prst="roundRect">
              <a:avLst>
                <a:gd name="adj" fmla="val 2580"/>
              </a:avLst>
            </a:prstGeom>
            <a:solidFill>
              <a:srgbClr val="0B1329">
                <a:alpha val="6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6" name="Google Shape;1026;p29"/>
            <p:cNvSpPr/>
            <p:nvPr/>
          </p:nvSpPr>
          <p:spPr>
            <a:xfrm>
              <a:off x="8686800" y="904875"/>
              <a:ext cx="28500" cy="2952900"/>
            </a:xfrm>
            <a:prstGeom prst="roundRect">
              <a:avLst>
                <a:gd name="adj" fmla="val 50000"/>
              </a:avLst>
            </a:prstGeom>
            <a:solidFill>
              <a:srgbClr val="00F2FE"/>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sp>
          <p:nvSpPr>
            <p:cNvPr id="1027" name="Google Shape;1027;p29"/>
            <p:cNvSpPr txBox="1"/>
            <p:nvPr/>
          </p:nvSpPr>
          <p:spPr>
            <a:xfrm>
              <a:off x="5419725" y="1019175"/>
              <a:ext cx="3152700" cy="27243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850" b="1">
                  <a:solidFill>
                    <a:srgbClr val="00F2FE"/>
                  </a:solidFill>
                  <a:latin typeface="Poppins"/>
                  <a:ea typeface="Poppins"/>
                  <a:cs typeface="Poppins"/>
                  <a:sym typeface="Poppins"/>
                </a:rPr>
                <a:t>Dataset &amp; Learning Resources</a:t>
              </a:r>
              <a:endParaRPr sz="850" b="1">
                <a:solidFill>
                  <a:srgbClr val="00F2FE"/>
                </a:solidFill>
                <a:latin typeface="Poppins"/>
                <a:ea typeface="Poppins"/>
                <a:cs typeface="Poppins"/>
                <a:sym typeface="Poppins"/>
              </a:endParaRPr>
            </a:p>
            <a:p>
              <a:pPr marL="0" lvl="0" indent="0" algn="l" rtl="0">
                <a:spcBef>
                  <a:spcPts val="600"/>
                </a:spcBef>
                <a:spcAft>
                  <a:spcPts val="0"/>
                </a:spcAft>
                <a:buNone/>
              </a:pPr>
              <a:r>
                <a:rPr lang="en-GB" sz="700" b="0">
                  <a:solidFill>
                    <a:srgbClr val="A5F3FC"/>
                  </a:solidFill>
                  <a:latin typeface="Poppins SemiBold"/>
                  <a:ea typeface="Poppins SemiBold"/>
                  <a:cs typeface="Poppins SemiBold"/>
                  <a:sym typeface="Poppins SemiBold"/>
                </a:rPr>
                <a:t>📂 Dataset &amp; Open Source Sources</a:t>
              </a:r>
              <a:endParaRPr sz="700" b="0">
                <a:solidFill>
                  <a:srgbClr val="A5F3FC"/>
                </a:solidFill>
                <a:latin typeface="Poppins SemiBold"/>
                <a:ea typeface="Poppins SemiBold"/>
                <a:cs typeface="Poppins SemiBold"/>
                <a:sym typeface="Poppins SemiBold"/>
              </a:endParaRPr>
            </a:p>
            <a:p>
              <a:pPr marL="457200" lvl="0" indent="-269875" algn="l" rtl="0">
                <a:spcBef>
                  <a:spcPts val="300"/>
                </a:spcBef>
                <a:spcAft>
                  <a:spcPts val="0"/>
                </a:spcAft>
                <a:buClr>
                  <a:srgbClr val="94A3B8"/>
                </a:buClr>
                <a:buSzPts val="650"/>
                <a:buFont typeface="Poppins"/>
                <a:buChar char="●"/>
              </a:pPr>
              <a:r>
                <a:rPr lang="en-GB" sz="650" b="0">
                  <a:solidFill>
                    <a:srgbClr val="FFFFFF"/>
                  </a:solidFill>
                  <a:latin typeface="Poppins SemiBold"/>
                  <a:ea typeface="Poppins SemiBold"/>
                  <a:cs typeface="Poppins SemiBold"/>
                  <a:sym typeface="Poppins SemiBold"/>
                </a:rPr>
                <a:t>Brain Tumor MRI Dataset:</a:t>
              </a:r>
              <a:r>
                <a:rPr lang="en-GB" sz="650" b="0">
                  <a:solidFill>
                    <a:srgbClr val="94A3B8"/>
                  </a:solidFill>
                  <a:latin typeface="Poppins"/>
                  <a:ea typeface="Poppins"/>
                  <a:cs typeface="Poppins"/>
                  <a:sym typeface="Poppins"/>
                </a:rPr>
                <a:t> Sourced from Kaggle for medical imaging analytics.</a:t>
              </a:r>
              <a:endParaRPr sz="650" b="0">
                <a:solidFill>
                  <a:srgbClr val="94A3B8"/>
                </a:solidFill>
                <a:latin typeface="Poppins"/>
                <a:ea typeface="Poppins"/>
                <a:cs typeface="Poppins"/>
                <a:sym typeface="Poppins"/>
              </a:endParaRPr>
            </a:p>
            <a:p>
              <a:pPr marL="0" lvl="0" indent="0" algn="l" rtl="0">
                <a:spcBef>
                  <a:spcPts val="900"/>
                </a:spcBef>
                <a:spcAft>
                  <a:spcPts val="0"/>
                </a:spcAft>
                <a:buNone/>
              </a:pPr>
              <a:r>
                <a:rPr lang="en-GB" sz="700" b="0">
                  <a:solidFill>
                    <a:srgbClr val="A5F3FC"/>
                  </a:solidFill>
                  <a:latin typeface="Poppins SemiBold"/>
                  <a:ea typeface="Poppins SemiBold"/>
                  <a:cs typeface="Poppins SemiBold"/>
                  <a:sym typeface="Poppins SemiBold"/>
                </a:rPr>
                <a:t>📚 Framework Documentation</a:t>
              </a:r>
              <a:endParaRPr sz="700" b="0">
                <a:solidFill>
                  <a:srgbClr val="A5F3FC"/>
                </a:solidFill>
                <a:latin typeface="Poppins SemiBold"/>
                <a:ea typeface="Poppins SemiBold"/>
                <a:cs typeface="Poppins SemiBold"/>
                <a:sym typeface="Poppins SemiBold"/>
              </a:endParaRPr>
            </a:p>
            <a:p>
              <a:pPr marL="457200" lvl="0" indent="-269875" algn="l" rtl="0">
                <a:spcBef>
                  <a:spcPts val="300"/>
                </a:spcBef>
                <a:spcAft>
                  <a:spcPts val="0"/>
                </a:spcAft>
                <a:buClr>
                  <a:srgbClr val="94A3B8"/>
                </a:buClr>
                <a:buSzPts val="650"/>
                <a:buFont typeface="Poppins"/>
                <a:buChar char="●"/>
              </a:pPr>
              <a:r>
                <a:rPr lang="en-GB" sz="650" b="0">
                  <a:solidFill>
                    <a:srgbClr val="94A3B8"/>
                  </a:solidFill>
                  <a:latin typeface="Poppins"/>
                  <a:ea typeface="Poppins"/>
                  <a:cs typeface="Poppins"/>
                  <a:sym typeface="Poppins"/>
                </a:rPr>
                <a:t>TensorFlow official ecosystem setup guides</a:t>
              </a:r>
              <a:endParaRPr sz="650" b="0">
                <a:solidFill>
                  <a:srgbClr val="94A3B8"/>
                </a:solidFill>
                <a:latin typeface="Poppins"/>
                <a:ea typeface="Poppins"/>
                <a:cs typeface="Poppins"/>
                <a:sym typeface="Poppins"/>
              </a:endParaRPr>
            </a:p>
            <a:p>
              <a:pPr marL="457200" lvl="0" indent="-269875" algn="l" rtl="0">
                <a:spcBef>
                  <a:spcPts val="225"/>
                </a:spcBef>
                <a:spcAft>
                  <a:spcPts val="0"/>
                </a:spcAft>
                <a:buClr>
                  <a:srgbClr val="94A3B8"/>
                </a:buClr>
                <a:buSzPts val="650"/>
                <a:buFont typeface="Poppins"/>
                <a:buChar char="●"/>
              </a:pPr>
              <a:r>
                <a:rPr lang="en-GB" sz="650" b="0">
                  <a:solidFill>
                    <a:srgbClr val="94A3B8"/>
                  </a:solidFill>
                  <a:latin typeface="Poppins"/>
                  <a:ea typeface="Poppins"/>
                  <a:cs typeface="Poppins"/>
                  <a:sym typeface="Poppins"/>
                </a:rPr>
                <a:t>Keras API reference for deep neural network designs</a:t>
              </a:r>
              <a:endParaRPr sz="650" b="0">
                <a:solidFill>
                  <a:srgbClr val="94A3B8"/>
                </a:solidFill>
                <a:latin typeface="Poppins"/>
                <a:ea typeface="Poppins"/>
                <a:cs typeface="Poppins"/>
                <a:sym typeface="Poppins"/>
              </a:endParaRPr>
            </a:p>
            <a:p>
              <a:pPr marL="457200" lvl="0" indent="-269875" algn="l" rtl="0">
                <a:spcBef>
                  <a:spcPts val="225"/>
                </a:spcBef>
                <a:spcAft>
                  <a:spcPts val="0"/>
                </a:spcAft>
                <a:buClr>
                  <a:srgbClr val="94A3B8"/>
                </a:buClr>
                <a:buSzPts val="650"/>
                <a:buFont typeface="Poppins"/>
                <a:buChar char="●"/>
              </a:pPr>
              <a:r>
                <a:rPr lang="en-GB" sz="650" b="0">
                  <a:solidFill>
                    <a:srgbClr val="94A3B8"/>
                  </a:solidFill>
                  <a:latin typeface="Poppins"/>
                  <a:ea typeface="Poppins"/>
                  <a:cs typeface="Poppins"/>
                  <a:sym typeface="Poppins"/>
                </a:rPr>
                <a:t>Scikit-Learn model analysis tools</a:t>
              </a:r>
              <a:endParaRPr sz="650" b="0">
                <a:solidFill>
                  <a:srgbClr val="94A3B8"/>
                </a:solidFill>
                <a:latin typeface="Poppins"/>
                <a:ea typeface="Poppins"/>
                <a:cs typeface="Poppins"/>
                <a:sym typeface="Poppins"/>
              </a:endParaRPr>
            </a:p>
            <a:p>
              <a:pPr marL="0" lvl="0" indent="0" algn="l" rtl="0">
                <a:spcBef>
                  <a:spcPts val="900"/>
                </a:spcBef>
                <a:spcAft>
                  <a:spcPts val="0"/>
                </a:spcAft>
                <a:buNone/>
              </a:pPr>
              <a:r>
                <a:rPr lang="en-GB" sz="700" b="0">
                  <a:solidFill>
                    <a:srgbClr val="A5F3FC"/>
                  </a:solidFill>
                  <a:latin typeface="Poppins SemiBold"/>
                  <a:ea typeface="Poppins SemiBold"/>
                  <a:cs typeface="Poppins SemiBold"/>
                  <a:sym typeface="Poppins SemiBold"/>
                </a:rPr>
                <a:t>📖 Core Concepts Implemented</a:t>
              </a:r>
              <a:endParaRPr sz="700" b="0">
                <a:solidFill>
                  <a:srgbClr val="A5F3FC"/>
                </a:solidFill>
                <a:latin typeface="Poppins SemiBold"/>
                <a:ea typeface="Poppins SemiBold"/>
                <a:cs typeface="Poppins SemiBold"/>
                <a:sym typeface="Poppins SemiBold"/>
              </a:endParaRPr>
            </a:p>
            <a:p>
              <a:pPr marL="457200" lvl="0" indent="-269875" algn="l" rtl="0">
                <a:spcBef>
                  <a:spcPts val="300"/>
                </a:spcBef>
                <a:spcAft>
                  <a:spcPts val="0"/>
                </a:spcAft>
                <a:buClr>
                  <a:srgbClr val="94A3B8"/>
                </a:buClr>
                <a:buSzPts val="650"/>
                <a:buFont typeface="Poppins"/>
                <a:buChar char="●"/>
              </a:pPr>
              <a:r>
                <a:rPr lang="en-GB" sz="650" b="0">
                  <a:solidFill>
                    <a:srgbClr val="94A3B8"/>
                  </a:solidFill>
                  <a:latin typeface="Poppins"/>
                  <a:ea typeface="Poppins"/>
                  <a:cs typeface="Poppins"/>
                  <a:sym typeface="Poppins"/>
                </a:rPr>
                <a:t>Convolutional Neural Networks &amp; medical image processing</a:t>
              </a:r>
              <a:endParaRPr sz="650" b="0">
                <a:solidFill>
                  <a:srgbClr val="94A3B8"/>
                </a:solidFill>
                <a:latin typeface="Poppins"/>
                <a:ea typeface="Poppins"/>
                <a:cs typeface="Poppins"/>
                <a:sym typeface="Poppins"/>
              </a:endParaRPr>
            </a:p>
            <a:p>
              <a:pPr marL="457200" lvl="0" indent="-269875" algn="l" rtl="0">
                <a:spcBef>
                  <a:spcPts val="225"/>
                </a:spcBef>
                <a:spcAft>
                  <a:spcPts val="225"/>
                </a:spcAft>
                <a:buClr>
                  <a:srgbClr val="94A3B8"/>
                </a:buClr>
                <a:buSzPts val="650"/>
                <a:buFont typeface="Poppins"/>
                <a:buChar char="●"/>
              </a:pPr>
              <a:r>
                <a:rPr lang="en-GB" sz="650" b="0">
                  <a:solidFill>
                    <a:srgbClr val="94A3B8"/>
                  </a:solidFill>
                  <a:latin typeface="Poppins"/>
                  <a:ea typeface="Poppins"/>
                  <a:cs typeface="Poppins"/>
                  <a:sym typeface="Poppins"/>
                </a:rPr>
                <a:t>Advanced model evaluations, parameter tuning, metric diagnostics</a:t>
              </a:r>
              <a:endParaRPr sz="650" b="0">
                <a:solidFill>
                  <a:srgbClr val="94A3B8"/>
                </a:solidFill>
                <a:latin typeface="Poppins"/>
                <a:ea typeface="Poppins"/>
                <a:cs typeface="Poppins"/>
                <a:sym typeface="Poppins"/>
              </a:endParaRPr>
            </a:p>
          </p:txBody>
        </p:sp>
      </p:grpSp>
      <p:grpSp>
        <p:nvGrpSpPr>
          <p:cNvPr id="1028" name="Google Shape;1028;p29"/>
          <p:cNvGrpSpPr/>
          <p:nvPr/>
        </p:nvGrpSpPr>
        <p:grpSpPr>
          <a:xfrm>
            <a:off x="428625" y="3952875"/>
            <a:ext cx="8286900" cy="457200"/>
            <a:chOff x="428625" y="3952875"/>
            <a:chExt cx="8286900" cy="457200"/>
          </a:xfrm>
        </p:grpSpPr>
        <p:sp>
          <p:nvSpPr>
            <p:cNvPr id="1029" name="Google Shape;1029;p29"/>
            <p:cNvSpPr/>
            <p:nvPr/>
          </p:nvSpPr>
          <p:spPr>
            <a:xfrm>
              <a:off x="428625" y="3952875"/>
              <a:ext cx="8286900" cy="457200"/>
            </a:xfrm>
            <a:prstGeom prst="roundRect">
              <a:avLst>
                <a:gd name="adj" fmla="val 12500"/>
              </a:avLst>
            </a:prstGeom>
            <a:solidFill>
              <a:srgbClr val="091325">
                <a:alpha val="80000"/>
              </a:srgbClr>
            </a:solidFill>
            <a:ln w="9525" cap="flat" cmpd="sng">
              <a:solidFill>
                <a:srgbClr val="1E293B"/>
              </a:solidFill>
              <a:prstDash val="solid"/>
              <a:round/>
              <a:headEnd type="none" w="sm" len="sm"/>
              <a:tailEnd type="none" w="sm" len="sm"/>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30" name="Google Shape;1030;p29"/>
            <p:cNvPicPr preferRelativeResize="0"/>
            <p:nvPr/>
          </p:nvPicPr>
          <p:blipFill rotWithShape="1">
            <a:blip r:embed="rId7">
              <a:alphaModFix/>
            </a:blip>
            <a:srcRect/>
            <a:stretch/>
          </p:blipFill>
          <p:spPr>
            <a:xfrm>
              <a:off x="428625" y="3952875"/>
              <a:ext cx="38100" cy="457200"/>
            </a:xfrm>
            <a:prstGeom prst="rect">
              <a:avLst/>
            </a:prstGeom>
            <a:noFill/>
            <a:ln>
              <a:noFill/>
            </a:ln>
          </p:spPr>
        </p:pic>
        <p:sp>
          <p:nvSpPr>
            <p:cNvPr id="1031" name="Google Shape;1031;p29"/>
            <p:cNvSpPr txBox="1"/>
            <p:nvPr/>
          </p:nvSpPr>
          <p:spPr>
            <a:xfrm>
              <a:off x="619125" y="4010025"/>
              <a:ext cx="7905900" cy="3429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50" b="1">
                  <a:solidFill>
                    <a:srgbClr val="00F2FE"/>
                  </a:solidFill>
                  <a:latin typeface="Poppins"/>
                  <a:ea typeface="Poppins"/>
                  <a:cs typeface="Poppins"/>
                  <a:sym typeface="Poppins"/>
                </a:rPr>
                <a:t>⚡ Engineering Summary</a:t>
              </a:r>
              <a:endParaRPr sz="750" b="1">
                <a:solidFill>
                  <a:srgbClr val="00F2FE"/>
                </a:solidFill>
                <a:latin typeface="Poppins"/>
                <a:ea typeface="Poppins"/>
                <a:cs typeface="Poppins"/>
                <a:sym typeface="Poppins"/>
              </a:endParaRPr>
            </a:p>
            <a:p>
              <a:pPr marL="0" lvl="0" indent="0" algn="l" rtl="0">
                <a:spcBef>
                  <a:spcPts val="150"/>
                </a:spcBef>
                <a:spcAft>
                  <a:spcPts val="0"/>
                </a:spcAft>
                <a:buNone/>
              </a:pPr>
              <a:r>
                <a:rPr lang="en-GB" sz="600" b="0">
                  <a:solidFill>
                    <a:srgbClr val="E2E8F0"/>
                  </a:solidFill>
                  <a:latin typeface="Poppins"/>
                  <a:ea typeface="Poppins"/>
                  <a:cs typeface="Poppins"/>
                  <a:sym typeface="Poppins"/>
                </a:rPr>
                <a:t>This project was developed using open-source Deep Learning frameworks and industry-standard Python libraries, ensuring reproducibility, scalability, and practical applicability.</a:t>
              </a:r>
              <a:endParaRPr sz="600" b="0">
                <a:solidFill>
                  <a:srgbClr val="E2E8F0"/>
                </a:solidFill>
                <a:latin typeface="Poppins"/>
                <a:ea typeface="Poppins"/>
                <a:cs typeface="Poppins"/>
                <a:sym typeface="Poppins"/>
              </a:endParaRPr>
            </a:p>
          </p:txBody>
        </p:sp>
      </p:grpSp>
      <p:grpSp>
        <p:nvGrpSpPr>
          <p:cNvPr id="1032" name="Google Shape;1032;p29"/>
          <p:cNvGrpSpPr/>
          <p:nvPr/>
        </p:nvGrpSpPr>
        <p:grpSpPr>
          <a:xfrm>
            <a:off x="428625" y="4857750"/>
            <a:ext cx="8286900" cy="190425"/>
            <a:chOff x="428625" y="4857750"/>
            <a:chExt cx="8286900" cy="190425"/>
          </a:xfrm>
        </p:grpSpPr>
        <p:cxnSp>
          <p:nvCxnSpPr>
            <p:cNvPr id="1033" name="Google Shape;1033;p29"/>
            <p:cNvCxnSpPr/>
            <p:nvPr/>
          </p:nvCxnSpPr>
          <p:spPr>
            <a:xfrm>
              <a:off x="428625" y="4857750"/>
              <a:ext cx="8286900" cy="0"/>
            </a:xfrm>
            <a:prstGeom prst="straightConnector1">
              <a:avLst/>
            </a:prstGeom>
            <a:solidFill>
              <a:srgbClr val="FFFFFF"/>
            </a:solidFill>
            <a:ln w="9525" cap="flat" cmpd="sng">
              <a:solidFill>
                <a:srgbClr val="1E293B"/>
              </a:solidFill>
              <a:prstDash val="solid"/>
              <a:round/>
              <a:headEnd type="none" w="sm" len="sm"/>
              <a:tailEnd type="none" w="sm" len="sm"/>
            </a:ln>
          </p:spPr>
        </p:cxnSp>
        <p:sp>
          <p:nvSpPr>
            <p:cNvPr id="1034" name="Google Shape;1034;p29"/>
            <p:cNvSpPr txBox="1"/>
            <p:nvPr/>
          </p:nvSpPr>
          <p:spPr>
            <a:xfrm>
              <a:off x="428625" y="4905375"/>
              <a:ext cx="4286400" cy="1428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550" b="0">
                  <a:solidFill>
                    <a:srgbClr val="475569"/>
                  </a:solidFill>
                  <a:latin typeface="Poppins"/>
                  <a:ea typeface="Poppins"/>
                  <a:cs typeface="Poppins"/>
                  <a:sym typeface="Poppins"/>
                </a:rPr>
                <a:t>Department of Data Science &amp; Artificial Intelligence | Tech Stack &amp; Reference Guide</a:t>
              </a:r>
              <a:endParaRPr sz="550" b="0">
                <a:solidFill>
                  <a:srgbClr val="475569"/>
                </a:solidFill>
                <a:latin typeface="Poppins"/>
                <a:ea typeface="Poppins"/>
                <a:cs typeface="Poppins"/>
                <a:sym typeface="Poppins"/>
              </a:endParaRPr>
            </a:p>
          </p:txBody>
        </p:sp>
        <p:sp>
          <p:nvSpPr>
            <p:cNvPr id="1035" name="Google Shape;1035;p29"/>
            <p:cNvSpPr txBox="1"/>
            <p:nvPr/>
          </p:nvSpPr>
          <p:spPr>
            <a:xfrm>
              <a:off x="6810375" y="4905375"/>
              <a:ext cx="1905000" cy="1428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550" b="0">
                  <a:solidFill>
                    <a:srgbClr val="00F2FE"/>
                  </a:solidFill>
                  <a:latin typeface="Poppins"/>
                  <a:ea typeface="Poppins"/>
                  <a:cs typeface="Poppins"/>
                  <a:sym typeface="Poppins"/>
                </a:rPr>
                <a:t>Presenter: Steve Emmanuel</a:t>
              </a:r>
              <a:endParaRPr sz="550" b="0">
                <a:solidFill>
                  <a:srgbClr val="00F2FE"/>
                </a:solidFill>
                <a:latin typeface="Poppins"/>
                <a:ea typeface="Poppins"/>
                <a:cs typeface="Poppins"/>
                <a:sym typeface="Poppi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pic>
        <p:nvPicPr>
          <p:cNvPr id="1040" name="Google Shape;1040;p30"/>
          <p:cNvPicPr preferRelativeResize="0"/>
          <p:nvPr/>
        </p:nvPicPr>
        <p:blipFill rotWithShape="1">
          <a:blip r:embed="rId3">
            <a:alphaModFix/>
          </a:blip>
          <a:srcRect/>
          <a:stretch/>
        </p:blipFill>
        <p:spPr>
          <a:xfrm>
            <a:off x="0" y="0"/>
            <a:ext cx="9144000" cy="5143500"/>
          </a:xfrm>
          <a:prstGeom prst="rect">
            <a:avLst/>
          </a:prstGeom>
          <a:noFill/>
          <a:ln>
            <a:noFill/>
          </a:ln>
        </p:spPr>
      </p:pic>
      <p:pic>
        <p:nvPicPr>
          <p:cNvPr id="1041" name="Google Shape;1041;p30" descr="A cinematic, futuristic dark premium background featuring a glowing digital human brain and neural network connections subtly blended with a clinical MRI brain scan. Dark navy blue tones with soft glowing cyan particles, delicate circuit tracks, and elegant healthcare user interface data lines. The composition is highly minimalistic, leaving ample empty space in the center, and serves as a sophisticated backdrop for a technology presentation."/>
          <p:cNvPicPr preferRelativeResize="0"/>
          <p:nvPr/>
        </p:nvPicPr>
        <p:blipFill rotWithShape="1">
          <a:blip r:embed="rId4">
            <a:alphaModFix/>
          </a:blip>
          <a:srcRect/>
          <a:stretch/>
        </p:blipFill>
        <p:spPr>
          <a:xfrm>
            <a:off x="0" y="0"/>
            <a:ext cx="9144000" cy="5143500"/>
          </a:xfrm>
          <a:prstGeom prst="rect">
            <a:avLst/>
          </a:prstGeom>
          <a:noFill/>
          <a:ln>
            <a:noFill/>
          </a:ln>
        </p:spPr>
      </p:pic>
      <p:sp>
        <p:nvSpPr>
          <p:cNvPr id="1042" name="Google Shape;1042;p30"/>
          <p:cNvSpPr/>
          <p:nvPr/>
        </p:nvSpPr>
        <p:spPr>
          <a:xfrm>
            <a:off x="0" y="0"/>
            <a:ext cx="9144000" cy="5143500"/>
          </a:xfrm>
          <a:prstGeom prst="rect">
            <a:avLst/>
          </a:prstGeom>
          <a:solidFill>
            <a:srgbClr val="000000">
              <a:alpha val="4500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a:p>
        </p:txBody>
      </p:sp>
      <p:pic>
        <p:nvPicPr>
          <p:cNvPr id="1043" name="Google Shape;1043;p30"/>
          <p:cNvPicPr preferRelativeResize="0"/>
          <p:nvPr/>
        </p:nvPicPr>
        <p:blipFill rotWithShape="1">
          <a:blip r:embed="rId5">
            <a:alphaModFix/>
          </a:blip>
          <a:srcRect/>
          <a:stretch/>
        </p:blipFill>
        <p:spPr>
          <a:xfrm>
            <a:off x="1095375" y="-1390650"/>
            <a:ext cx="6953400" cy="6534300"/>
          </a:xfrm>
          <a:prstGeom prst="rect">
            <a:avLst/>
          </a:prstGeom>
          <a:noFill/>
          <a:ln>
            <a:noFill/>
          </a:ln>
        </p:spPr>
      </p:pic>
      <p:sp>
        <p:nvSpPr>
          <p:cNvPr id="1044" name="Google Shape;1044;p30"/>
          <p:cNvSpPr txBox="1"/>
          <p:nvPr/>
        </p:nvSpPr>
        <p:spPr>
          <a:xfrm>
            <a:off x="762000" y="1428750"/>
            <a:ext cx="7620000" cy="1428900"/>
          </a:xfrm>
          <a:prstGeom prst="rect">
            <a:avLst/>
          </a:prstGeom>
          <a:noFill/>
          <a:ln>
            <a:noFill/>
          </a:ln>
        </p:spPr>
        <p:txBody>
          <a:bodyPr spcFirstLastPara="1" wrap="square" lIns="0" tIns="0" rIns="0" bIns="0" anchor="ctr" anchorCtr="0">
            <a:noAutofit/>
          </a:bodyPr>
          <a:lstStyle/>
          <a:p>
            <a:pPr marL="0" lvl="0" indent="0" algn="ctr" rtl="0">
              <a:spcBef>
                <a:spcPts val="0"/>
              </a:spcBef>
              <a:spcAft>
                <a:spcPts val="0"/>
              </a:spcAft>
              <a:buNone/>
            </a:pPr>
            <a:r>
              <a:rPr lang="en-GB" sz="4400" b="0">
                <a:solidFill>
                  <a:srgbClr val="FFFFFF"/>
                </a:solidFill>
                <a:latin typeface="Poppins ExtraBold"/>
                <a:ea typeface="Poppins ExtraBold"/>
                <a:cs typeface="Poppins ExtraBold"/>
                <a:sym typeface="Poppins ExtraBold"/>
              </a:rPr>
              <a:t>Thank You</a:t>
            </a:r>
            <a:endParaRPr sz="4400" b="0">
              <a:solidFill>
                <a:srgbClr val="FFFFFF"/>
              </a:solidFill>
              <a:latin typeface="Poppins ExtraBold"/>
              <a:ea typeface="Poppins ExtraBold"/>
              <a:cs typeface="Poppins ExtraBold"/>
              <a:sym typeface="Poppins ExtraBold"/>
            </a:endParaRPr>
          </a:p>
          <a:p>
            <a:pPr marL="0" lvl="0" indent="0" algn="ctr" rtl="0">
              <a:spcBef>
                <a:spcPts val="750"/>
              </a:spcBef>
              <a:spcAft>
                <a:spcPts val="0"/>
              </a:spcAft>
              <a:buNone/>
            </a:pPr>
            <a:endParaRPr sz="1600" b="0">
              <a:solidFill>
                <a:srgbClr val="00F2FE"/>
              </a:solidFill>
              <a:latin typeface="Poppins"/>
              <a:ea typeface="Poppins"/>
              <a:cs typeface="Poppins"/>
              <a:sym typeface="Poppins"/>
            </a:endParaRPr>
          </a:p>
        </p:txBody>
      </p:sp>
      <p:grpSp>
        <p:nvGrpSpPr>
          <p:cNvPr id="1045" name="Google Shape;1045;p30"/>
          <p:cNvGrpSpPr/>
          <p:nvPr/>
        </p:nvGrpSpPr>
        <p:grpSpPr>
          <a:xfrm>
            <a:off x="566738" y="3614738"/>
            <a:ext cx="3629100" cy="819300"/>
            <a:chOff x="566738" y="3614738"/>
            <a:chExt cx="3629100" cy="819300"/>
          </a:xfrm>
        </p:grpSpPr>
        <p:pic>
          <p:nvPicPr>
            <p:cNvPr id="1046" name="Google Shape;1046;p30"/>
            <p:cNvPicPr preferRelativeResize="0"/>
            <p:nvPr/>
          </p:nvPicPr>
          <p:blipFill rotWithShape="1">
            <a:blip r:embed="rId6">
              <a:alphaModFix/>
            </a:blip>
            <a:srcRect/>
            <a:stretch/>
          </p:blipFill>
          <p:spPr>
            <a:xfrm>
              <a:off x="566738" y="3614738"/>
              <a:ext cx="3629100" cy="819300"/>
            </a:xfrm>
            <a:prstGeom prst="rect">
              <a:avLst/>
            </a:prstGeom>
            <a:noFill/>
            <a:ln>
              <a:noFill/>
            </a:ln>
          </p:spPr>
        </p:pic>
        <p:sp>
          <p:nvSpPr>
            <p:cNvPr id="1047" name="Google Shape;1047;p30"/>
            <p:cNvSpPr txBox="1"/>
            <p:nvPr/>
          </p:nvSpPr>
          <p:spPr>
            <a:xfrm>
              <a:off x="762000" y="3733800"/>
              <a:ext cx="3238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00F2FE"/>
                  </a:solidFill>
                  <a:latin typeface="Poppins SemiBold"/>
                  <a:ea typeface="Poppins SemiBold"/>
                  <a:cs typeface="Poppins SemiBold"/>
                  <a:sym typeface="Poppins SemiBold"/>
                </a:rPr>
                <a:t>Presented By</a:t>
              </a:r>
              <a:endParaRPr sz="740" b="0">
                <a:solidFill>
                  <a:srgbClr val="00F2FE"/>
                </a:solidFill>
                <a:latin typeface="Poppins SemiBold"/>
                <a:ea typeface="Poppins SemiBold"/>
                <a:cs typeface="Poppins SemiBold"/>
                <a:sym typeface="Poppins SemiBold"/>
              </a:endParaRPr>
            </a:p>
            <a:p>
              <a:pPr marL="0" lvl="0" indent="0" algn="l" rtl="0">
                <a:spcBef>
                  <a:spcPts val="300"/>
                </a:spcBef>
                <a:spcAft>
                  <a:spcPts val="0"/>
                </a:spcAft>
                <a:buNone/>
              </a:pPr>
              <a:r>
                <a:rPr lang="en-GB" sz="1200" b="1">
                  <a:solidFill>
                    <a:srgbClr val="FFFFFF"/>
                  </a:solidFill>
                  <a:latin typeface="Poppins"/>
                  <a:ea typeface="Poppins"/>
                  <a:cs typeface="Poppins"/>
                  <a:sym typeface="Poppins"/>
                </a:rPr>
                <a:t>Steve Emmanuel</a:t>
              </a:r>
              <a:endParaRPr sz="1200" b="1">
                <a:solidFill>
                  <a:srgbClr val="FFFFFF"/>
                </a:solidFill>
                <a:latin typeface="Poppins"/>
                <a:ea typeface="Poppins"/>
                <a:cs typeface="Poppins"/>
                <a:sym typeface="Poppins"/>
              </a:endParaRPr>
            </a:p>
            <a:p>
              <a:pPr marL="0" lvl="0" indent="0" algn="l" rtl="0">
                <a:spcBef>
                  <a:spcPts val="150"/>
                </a:spcBef>
                <a:spcAft>
                  <a:spcPts val="0"/>
                </a:spcAft>
                <a:buNone/>
              </a:pPr>
              <a:r>
                <a:rPr lang="en-GB" sz="833" b="0">
                  <a:solidFill>
                    <a:srgbClr val="94A3B8"/>
                  </a:solidFill>
                  <a:latin typeface="Poppins Light"/>
                  <a:ea typeface="Poppins Light"/>
                  <a:cs typeface="Poppins Light"/>
                  <a:sym typeface="Poppins Light"/>
                </a:rPr>
                <a:t>Deep Learning Project: Brain Tumor Detection using CNN</a:t>
              </a:r>
              <a:endParaRPr sz="833" b="0">
                <a:solidFill>
                  <a:srgbClr val="94A3B8"/>
                </a:solidFill>
                <a:latin typeface="Poppins Light"/>
                <a:ea typeface="Poppins Light"/>
                <a:cs typeface="Poppins Light"/>
                <a:sym typeface="Poppins Light"/>
              </a:endParaRPr>
            </a:p>
          </p:txBody>
        </p:sp>
      </p:grpSp>
      <p:grpSp>
        <p:nvGrpSpPr>
          <p:cNvPr id="1048" name="Google Shape;1048;p30"/>
          <p:cNvGrpSpPr/>
          <p:nvPr/>
        </p:nvGrpSpPr>
        <p:grpSpPr>
          <a:xfrm>
            <a:off x="4948238" y="3614738"/>
            <a:ext cx="3629100" cy="819300"/>
            <a:chOff x="4948238" y="3614738"/>
            <a:chExt cx="3629100" cy="819300"/>
          </a:xfrm>
        </p:grpSpPr>
        <p:pic>
          <p:nvPicPr>
            <p:cNvPr id="1049" name="Google Shape;1049;p30"/>
            <p:cNvPicPr preferRelativeResize="0"/>
            <p:nvPr/>
          </p:nvPicPr>
          <p:blipFill rotWithShape="1">
            <a:blip r:embed="rId6">
              <a:alphaModFix/>
            </a:blip>
            <a:srcRect/>
            <a:stretch/>
          </p:blipFill>
          <p:spPr>
            <a:xfrm>
              <a:off x="4948238" y="3614738"/>
              <a:ext cx="3629100" cy="819300"/>
            </a:xfrm>
            <a:prstGeom prst="rect">
              <a:avLst/>
            </a:prstGeom>
            <a:noFill/>
            <a:ln>
              <a:noFill/>
            </a:ln>
          </p:spPr>
        </p:pic>
        <p:sp>
          <p:nvSpPr>
            <p:cNvPr id="1050" name="Google Shape;1050;p30"/>
            <p:cNvSpPr txBox="1"/>
            <p:nvPr/>
          </p:nvSpPr>
          <p:spPr>
            <a:xfrm>
              <a:off x="5143500" y="3733800"/>
              <a:ext cx="3238500" cy="571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00F2FE"/>
                  </a:solidFill>
                  <a:latin typeface="Poppins SemiBold"/>
                  <a:ea typeface="Poppins SemiBold"/>
                  <a:cs typeface="Poppins SemiBold"/>
                  <a:sym typeface="Poppins SemiBold"/>
                </a:rPr>
                <a:t>Technologies</a:t>
              </a:r>
              <a:endParaRPr sz="740" b="0">
                <a:solidFill>
                  <a:srgbClr val="00F2FE"/>
                </a:solidFill>
                <a:latin typeface="Poppins SemiBold"/>
                <a:ea typeface="Poppins SemiBold"/>
                <a:cs typeface="Poppins SemiBold"/>
                <a:sym typeface="Poppins SemiBold"/>
              </a:endParaRPr>
            </a:p>
            <a:p>
              <a:pPr marL="0" lvl="0" indent="0" algn="l" rtl="0">
                <a:spcBef>
                  <a:spcPts val="300"/>
                </a:spcBef>
                <a:spcAft>
                  <a:spcPts val="0"/>
                </a:spcAft>
                <a:buNone/>
              </a:pPr>
              <a:r>
                <a:rPr lang="en-GB" sz="1018" b="1">
                  <a:solidFill>
                    <a:srgbClr val="00F2FE"/>
                  </a:solidFill>
                  <a:latin typeface="Poppins"/>
                  <a:ea typeface="Poppins"/>
                  <a:cs typeface="Poppins"/>
                  <a:sym typeface="Poppins"/>
                </a:rPr>
                <a:t>Python  •  TensorFlow  •  Keras  •  Google Colab</a:t>
              </a:r>
              <a:endParaRPr sz="1018" b="1">
                <a:solidFill>
                  <a:srgbClr val="00F2FE"/>
                </a:solidFill>
                <a:latin typeface="Poppins"/>
                <a:ea typeface="Poppins"/>
                <a:cs typeface="Poppins"/>
                <a:sym typeface="Poppins"/>
              </a:endParaRPr>
            </a:p>
            <a:p>
              <a:pPr marL="0" lvl="0" indent="0" algn="l" rtl="0">
                <a:spcBef>
                  <a:spcPts val="300"/>
                </a:spcBef>
                <a:spcAft>
                  <a:spcPts val="0"/>
                </a:spcAft>
                <a:buNone/>
              </a:pPr>
              <a:r>
                <a:rPr lang="en-GB" sz="833" b="0">
                  <a:solidFill>
                    <a:srgbClr val="94A3B8"/>
                  </a:solidFill>
                  <a:latin typeface="Poppins Light"/>
                  <a:ea typeface="Poppins Light"/>
                  <a:cs typeface="Poppins Light"/>
                  <a:sym typeface="Poppins Light"/>
                </a:rPr>
                <a:t>Developed using industry-standard open source frameworks</a:t>
              </a:r>
              <a:endParaRPr sz="833" b="0">
                <a:solidFill>
                  <a:srgbClr val="94A3B8"/>
                </a:solidFill>
                <a:latin typeface="Poppins Light"/>
                <a:ea typeface="Poppins Light"/>
                <a:cs typeface="Poppins Light"/>
                <a:sym typeface="Poppins Light"/>
              </a:endParaRPr>
            </a:p>
          </p:txBody>
        </p:sp>
      </p:grpSp>
      <p:pic>
        <p:nvPicPr>
          <p:cNvPr id="1051" name="Google Shape;1051;p30"/>
          <p:cNvPicPr preferRelativeResize="0"/>
          <p:nvPr/>
        </p:nvPicPr>
        <p:blipFill rotWithShape="1">
          <a:blip r:embed="rId7">
            <a:alphaModFix/>
          </a:blip>
          <a:srcRect/>
          <a:stretch/>
        </p:blipFill>
        <p:spPr>
          <a:xfrm>
            <a:off x="571500" y="4710113"/>
            <a:ext cx="8001000" cy="9600"/>
          </a:xfrm>
          <a:prstGeom prst="rect">
            <a:avLst/>
          </a:prstGeom>
          <a:noFill/>
          <a:ln>
            <a:noFill/>
          </a:ln>
        </p:spPr>
      </p:pic>
      <p:sp>
        <p:nvSpPr>
          <p:cNvPr id="1052" name="Google Shape;1052;p30"/>
          <p:cNvSpPr txBox="1"/>
          <p:nvPr/>
        </p:nvSpPr>
        <p:spPr>
          <a:xfrm>
            <a:off x="571500" y="4800600"/>
            <a:ext cx="4762500" cy="1905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r>
              <a:rPr lang="en-GB" sz="740" b="0">
                <a:solidFill>
                  <a:srgbClr val="475569"/>
                </a:solidFill>
                <a:latin typeface="Poppins"/>
                <a:ea typeface="Poppins"/>
                <a:cs typeface="Poppins"/>
                <a:sym typeface="Poppins"/>
              </a:rPr>
              <a:t>Department of Data Science &amp; Artificial Intelligence</a:t>
            </a:r>
            <a:endParaRPr sz="740" b="0">
              <a:solidFill>
                <a:srgbClr val="475569"/>
              </a:solidFill>
              <a:latin typeface="Poppins"/>
              <a:ea typeface="Poppins"/>
              <a:cs typeface="Poppins"/>
              <a:sym typeface="Poppins"/>
            </a:endParaRPr>
          </a:p>
        </p:txBody>
      </p:sp>
      <p:sp>
        <p:nvSpPr>
          <p:cNvPr id="1053" name="Google Shape;1053;p30"/>
          <p:cNvSpPr txBox="1"/>
          <p:nvPr/>
        </p:nvSpPr>
        <p:spPr>
          <a:xfrm>
            <a:off x="5334000" y="4800600"/>
            <a:ext cx="3238500" cy="190500"/>
          </a:xfrm>
          <a:prstGeom prst="rect">
            <a:avLst/>
          </a:prstGeom>
          <a:noFill/>
          <a:ln>
            <a:noFill/>
          </a:ln>
        </p:spPr>
        <p:txBody>
          <a:bodyPr spcFirstLastPara="1" wrap="square" lIns="0" tIns="0" rIns="0" bIns="0" anchor="ctr" anchorCtr="0">
            <a:noAutofit/>
          </a:bodyPr>
          <a:lstStyle/>
          <a:p>
            <a:pPr marL="0" lvl="0" indent="0" algn="r" rtl="0">
              <a:spcBef>
                <a:spcPts val="0"/>
              </a:spcBef>
              <a:spcAft>
                <a:spcPts val="0"/>
              </a:spcAft>
              <a:buNone/>
            </a:pPr>
            <a:r>
              <a:rPr lang="en-GB" sz="740" b="0">
                <a:solidFill>
                  <a:srgbClr val="00F2FE"/>
                </a:solidFill>
                <a:latin typeface="Poppins"/>
                <a:ea typeface="Poppins"/>
                <a:cs typeface="Poppins"/>
                <a:sym typeface="Poppins"/>
              </a:rPr>
              <a:t>Artificial Intelligence for Better Healthcare</a:t>
            </a:r>
            <a:endParaRPr sz="740" b="0">
              <a:solidFill>
                <a:srgbClr val="00F2FE"/>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903</TotalTime>
  <Words>3147</Words>
  <Application>Microsoft Office PowerPoint</Application>
  <PresentationFormat>On-screen Show (16:9)</PresentationFormat>
  <Paragraphs>559</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Poppins ExtraBold</vt:lpstr>
      <vt:lpstr>Poppins Medium</vt:lpstr>
      <vt:lpstr>Courier New</vt:lpstr>
      <vt:lpstr>Poppins</vt:lpstr>
      <vt:lpstr>Material Icons</vt:lpstr>
      <vt:lpstr>Poppins SemiBold</vt:lpstr>
      <vt:lpstr>Arial</vt:lpstr>
      <vt:lpstr>Poppins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Steve Emmanuel</cp:lastModifiedBy>
  <cp:revision>2</cp:revision>
  <dcterms:modified xsi:type="dcterms:W3CDTF">2026-08-01T17:44:47Z</dcterms:modified>
</cp:coreProperties>
</file>